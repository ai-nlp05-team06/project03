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7d74bc2df4458e" /><Relationship Type="http://schemas.openxmlformats.org/officeDocument/2006/relationships/extended-properties" Target="/docProps/app.xml" Id="Re6c457d1b0524c18" /><Relationship Type="http://schemas.openxmlformats.org/officeDocument/2006/relationships/officeDocument" Target="/ppt/presentation.xml" Id="R7f5f96840a94448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42a4f4a56e3b41cc"/>
  </p:sldMasterIdLst>
  <p:notesMasterIdLst>
    <p:notesMasterId xmlns:r="http://schemas.openxmlformats.org/officeDocument/2006/relationships" r:id="R55272070c3944fa8"/>
  </p:notesMasterIdLst>
  <p:sldIdLst>
    <p:sldId xmlns:r="http://schemas.openxmlformats.org/officeDocument/2006/relationships" id="256" r:id="Rcf33e1705a85464c"/>
    <p:sldId xmlns:r="http://schemas.openxmlformats.org/officeDocument/2006/relationships" id="257" r:id="R9420ae892aee4421"/>
    <p:sldId xmlns:r="http://schemas.openxmlformats.org/officeDocument/2006/relationships" id="258" r:id="R78169c53a65e4b42"/>
    <p:sldId xmlns:r="http://schemas.openxmlformats.org/officeDocument/2006/relationships" id="259" r:id="Rfec96952c4994199"/>
    <p:sldId xmlns:r="http://schemas.openxmlformats.org/officeDocument/2006/relationships" id="260" r:id="R819835f6e5534416"/>
    <p:sldId xmlns:r="http://schemas.openxmlformats.org/officeDocument/2006/relationships" id="261" r:id="R41d180287e564984"/>
    <p:sldId xmlns:r="http://schemas.openxmlformats.org/officeDocument/2006/relationships" id="262" r:id="R223a2c21f1c44238"/>
    <p:sldId xmlns:r="http://schemas.openxmlformats.org/officeDocument/2006/relationships" id="263" r:id="Rb85219b894304830"/>
    <p:sldId xmlns:r="http://schemas.openxmlformats.org/officeDocument/2006/relationships" id="264" r:id="R27a1d89d231f4ca2"/>
    <p:sldId xmlns:r="http://schemas.openxmlformats.org/officeDocument/2006/relationships" id="265" r:id="R9ecfb8e58e4a490e"/>
    <p:sldId xmlns:r="http://schemas.openxmlformats.org/officeDocument/2006/relationships" id="266" r:id="R91db0f2d7d1a4c1b"/>
    <p:sldId xmlns:r="http://schemas.openxmlformats.org/officeDocument/2006/relationships" id="267" r:id="R1d1e30f167c34f69"/>
    <p:sldId xmlns:r="http://schemas.openxmlformats.org/officeDocument/2006/relationships" id="268" r:id="Raa473d44e69c4394"/>
    <p:sldId xmlns:r="http://schemas.openxmlformats.org/officeDocument/2006/relationships" id="269" r:id="R417cb088bbb84685"/>
    <p:sldId xmlns:r="http://schemas.openxmlformats.org/officeDocument/2006/relationships" id="270" r:id="R9db1d15d6e344067"/>
    <p:sldId xmlns:r="http://schemas.openxmlformats.org/officeDocument/2006/relationships" id="271" r:id="Re93c7904fa19441c"/>
    <p:sldId xmlns:r="http://schemas.openxmlformats.org/officeDocument/2006/relationships" id="272" r:id="R308ee375d30849fa"/>
    <p:sldId xmlns:r="http://schemas.openxmlformats.org/officeDocument/2006/relationships" id="273" r:id="R11cc489ab7474297"/>
  </p:sldIdLst>
  <p:sldSz cx="18288000" cy="10287000"/>
  <p:notesSz cx="6858000" cy="9144000"/>
  <p:embeddedFontLst>
    <p:embeddedFont>
      <p:font typeface="Calibri (MS)"/>
      <p:regular xmlns:r="http://schemas.openxmlformats.org/officeDocument/2006/relationships" r:id="R6ed8abe99c7b4b67"/>
    </p:embeddedFont>
    <p:embeddedFont>
      <p:font typeface="Calibri (MS) Bold"/>
      <p:regular xmlns:r="http://schemas.openxmlformats.org/officeDocument/2006/relationships" r:id="Rf4473df0696f43e4"/>
    </p:embeddedFont>
    <p:embeddedFont>
      <p:font typeface="JASO Sans"/>
      <p:regular xmlns:r="http://schemas.openxmlformats.org/officeDocument/2006/relationships" r:id="R565855f5021e4547"/>
    </p:embeddedFont>
    <p:embeddedFont>
      <p:font typeface="JASO Sans Bold"/>
      <p:regular xmlns:r="http://schemas.openxmlformats.org/officeDocument/2006/relationships" r:id="R49de7536e976414a"/>
    </p:embeddedFont>
    <p:embeddedFont>
      <p:font typeface="Tlab 돋움 미디움"/>
      <p:regular xmlns:r="http://schemas.openxmlformats.org/officeDocument/2006/relationships" r:id="R26affb854339493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e539afd98a4f5f" /><Relationship Type="http://schemas.openxmlformats.org/officeDocument/2006/relationships/slideMaster" Target="/ppt/slideMasters/slideMaster1.xml" Id="R42a4f4a56e3b41cc" /><Relationship Type="http://schemas.openxmlformats.org/officeDocument/2006/relationships/notesMaster" Target="/ppt/notesMasters/notesMaster1.xml" Id="R55272070c3944fa8" /><Relationship Type="http://schemas.openxmlformats.org/officeDocument/2006/relationships/presProps" Target="/ppt/presProps.xml" Id="Ra749538d2b124d71" /><Relationship Type="http://schemas.openxmlformats.org/officeDocument/2006/relationships/viewProps" Target="/ppt/viewProps.xml" Id="R3ee301eb73f04edf" /><Relationship Type="http://schemas.openxmlformats.org/officeDocument/2006/relationships/tableStyles" Target="/ppt/tableStyles.xml" Id="R09394c9fc93044fa" /><Relationship Type="http://schemas.openxmlformats.org/officeDocument/2006/relationships/font" Target="/ppt/fonts/font.dat" Id="R6ed8abe99c7b4b67" /><Relationship Type="http://schemas.openxmlformats.org/officeDocument/2006/relationships/font" Target="/ppt/fonts/font2.dat" Id="Rf4473df0696f43e4" /><Relationship Type="http://schemas.openxmlformats.org/officeDocument/2006/relationships/font" Target="/ppt/fonts/font3.dat" Id="R565855f5021e4547" /><Relationship Type="http://schemas.openxmlformats.org/officeDocument/2006/relationships/font" Target="/ppt/fonts/font4.dat" Id="R49de7536e976414a" /><Relationship Type="http://schemas.openxmlformats.org/officeDocument/2006/relationships/font" Target="/ppt/fonts/font5.dat" Id="R26affb854339493e" /><Relationship Type="http://schemas.openxmlformats.org/officeDocument/2006/relationships/slide" Target="/ppt/slides/slide1.xml" Id="Rcf33e1705a85464c" /><Relationship Type="http://schemas.openxmlformats.org/officeDocument/2006/relationships/slide" Target="/ppt/slides/slide2.xml" Id="R9420ae892aee4421" /><Relationship Type="http://schemas.openxmlformats.org/officeDocument/2006/relationships/slide" Target="/ppt/slides/slide3.xml" Id="R78169c53a65e4b42" /><Relationship Type="http://schemas.openxmlformats.org/officeDocument/2006/relationships/slide" Target="/ppt/slides/slide4.xml" Id="Rfec96952c4994199" /><Relationship Type="http://schemas.openxmlformats.org/officeDocument/2006/relationships/slide" Target="/ppt/slides/slide5.xml" Id="R819835f6e5534416" /><Relationship Type="http://schemas.openxmlformats.org/officeDocument/2006/relationships/slide" Target="/ppt/slides/slide6.xml" Id="R41d180287e564984" /><Relationship Type="http://schemas.openxmlformats.org/officeDocument/2006/relationships/slide" Target="/ppt/slides/slide7.xml" Id="R223a2c21f1c44238" /><Relationship Type="http://schemas.openxmlformats.org/officeDocument/2006/relationships/slide" Target="/ppt/slides/slide8.xml" Id="Rb85219b894304830" /><Relationship Type="http://schemas.openxmlformats.org/officeDocument/2006/relationships/slide" Target="/ppt/slides/slide9.xml" Id="R27a1d89d231f4ca2" /><Relationship Type="http://schemas.openxmlformats.org/officeDocument/2006/relationships/slide" Target="/ppt/slides/slide10.xml" Id="R9ecfb8e58e4a490e" /><Relationship Type="http://schemas.openxmlformats.org/officeDocument/2006/relationships/slide" Target="/ppt/slides/slide11.xml" Id="R91db0f2d7d1a4c1b" /><Relationship Type="http://schemas.openxmlformats.org/officeDocument/2006/relationships/slide" Target="/ppt/slides/slide12.xml" Id="R1d1e30f167c34f69" /><Relationship Type="http://schemas.openxmlformats.org/officeDocument/2006/relationships/slide" Target="/ppt/slides/slide13.xml" Id="Raa473d44e69c4394" /><Relationship Type="http://schemas.openxmlformats.org/officeDocument/2006/relationships/slide" Target="/ppt/slides/slide14.xml" Id="R417cb088bbb84685" /><Relationship Type="http://schemas.openxmlformats.org/officeDocument/2006/relationships/slide" Target="/ppt/slides/slide15.xml" Id="R9db1d15d6e344067" /><Relationship Type="http://schemas.openxmlformats.org/officeDocument/2006/relationships/slide" Target="/ppt/slides/slide16.xml" Id="Re93c7904fa19441c" /><Relationship Type="http://schemas.openxmlformats.org/officeDocument/2006/relationships/slide" Target="/ppt/slides/slide17.xml" Id="R308ee375d30849fa" /><Relationship Type="http://schemas.openxmlformats.org/officeDocument/2006/relationships/slide" Target="/ppt/slides/slide18.xml" Id="R11cc489ab74742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7b43631ec14b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88c482fa3844cb" /><Relationship Type="http://schemas.openxmlformats.org/officeDocument/2006/relationships/notesMaster" Target="/ppt/notesMasters/notesMaster1.xml" Id="R2d48084d6c244d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642b57a5464b90" /><Relationship Type="http://schemas.openxmlformats.org/officeDocument/2006/relationships/notesMaster" Target="/ppt/notesMasters/notesMaster1.xml" Id="Rd3bf2325b94349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ce18bd3ad74224" /><Relationship Type="http://schemas.openxmlformats.org/officeDocument/2006/relationships/notesMaster" Target="/ppt/notesMasters/notesMaster1.xml" Id="R3b93e15564f046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8bbd1c0a9c42bd" /><Relationship Type="http://schemas.openxmlformats.org/officeDocument/2006/relationships/notesMaster" Target="/ppt/notesMasters/notesMaster1.xml" Id="Ra35825ae8ac247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e04551de9b49bc" /><Relationship Type="http://schemas.openxmlformats.org/officeDocument/2006/relationships/notesMaster" Target="/ppt/notesMasters/notesMaster1.xml" Id="R08a54f2ddc5643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c15f4efdc74378" /><Relationship Type="http://schemas.openxmlformats.org/officeDocument/2006/relationships/notesMaster" Target="/ppt/notesMasters/notesMaster1.xml" Id="R50592330ee2445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33c62d4f704d28" /><Relationship Type="http://schemas.openxmlformats.org/officeDocument/2006/relationships/notesMaster" Target="/ppt/notesMasters/notesMaster1.xml" Id="R086d4ffcc67648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d16588e907436d" /><Relationship Type="http://schemas.openxmlformats.org/officeDocument/2006/relationships/notesMaster" Target="/ppt/notesMasters/notesMaster1.xml" Id="R7add215e87084c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95e3f5508143e6" /><Relationship Type="http://schemas.openxmlformats.org/officeDocument/2006/relationships/notesMaster" Target="/ppt/notesMasters/notesMaster1.xml" Id="Rfeccb5707f3e47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9a81b3fed9449e" /><Relationship Type="http://schemas.openxmlformats.org/officeDocument/2006/relationships/notesMaster" Target="/ppt/notesMasters/notesMaster1.xml" Id="R41be4bb350dd44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780965918444e2" /><Relationship Type="http://schemas.openxmlformats.org/officeDocument/2006/relationships/notesMaster" Target="/ppt/notesMasters/notesMaster1.xml" Id="Rbeba9e47813b43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43fb71fc0843ce" /><Relationship Type="http://schemas.openxmlformats.org/officeDocument/2006/relationships/notesMaster" Target="/ppt/notesMasters/notesMaster1.xml" Id="Rb93e9928623e4ba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c4d13c64014fea" /><Relationship Type="http://schemas.openxmlformats.org/officeDocument/2006/relationships/notesMaster" Target="/ppt/notesMasters/notesMaster1.xml" Id="R1735d5cb8ef34d7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a835dc1b964add" /><Relationship Type="http://schemas.openxmlformats.org/officeDocument/2006/relationships/notesMaster" Target="/ppt/notesMasters/notesMaster1.xml" Id="Reb070c160f9d4b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9c238392da4bb9" /><Relationship Type="http://schemas.openxmlformats.org/officeDocument/2006/relationships/notesMaster" Target="/ppt/notesMasters/notesMaster1.xml" Id="R3de6d15e24784e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87e697ef8b4350" /><Relationship Type="http://schemas.openxmlformats.org/officeDocument/2006/relationships/notesMaster" Target="/ppt/notesMasters/notesMaster1.xml" Id="R7b1dbd68f49e460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a8493e060a4ea8" /><Relationship Type="http://schemas.openxmlformats.org/officeDocument/2006/relationships/notesMaster" Target="/ppt/notesMasters/notesMaster1.xml" Id="Re3abd28d64eb483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9c15a8b45ea471e" /><Relationship Type="http://schemas.openxmlformats.org/officeDocument/2006/relationships/notesMaster" Target="/ppt/notesMasters/notesMaster1.xml" Id="R5a022b30746f45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 말씀드릴 내용은 챗봇 화면 자체보다, 공식 데이터를 근거로 답하고 그 품질을 검증할 수 있는 구조를 어떻게 만들었는지입니다. 프로젝트 1의 데이터 산출물을 서비스와 평가 체계까지 연결했습니다.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가이드] 20초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심화 프로젝트01 보고서.pdf</a:t>
            </a:r>
          </a:p>
          <a:p xmlns:a="http://schemas.openxmlformats.org/drawingml/2006/main">
            <a:r>
              <a:t>- 평가 데이터셋 초안.xlsx</a:t>
            </a:r>
          </a:p>
          <a:p xmlns:a="http://schemas.openxmlformats.org/drawingml/2006/main">
            <a:r>
              <a:t>- KDIC_Gold_검수도구_팀공유.html</a:t>
            </a:r>
          </a:p>
          <a:p xmlns:a="http://schemas.openxmlformats.org/drawingml/2006/main">
            <a:r>
              <a:t>- 사용자 제공 챗봇 Prototype V1 화면 캡처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챗봇은 미리 정의된 키워드와 카드에는 강하지만, 사용자가 표현을 조금만 바꾸면 대응하기 어렵습니다. 특히 예금보험 업무는 금액과 기간, 신청 대상처럼 조건이 많기 때문에 근거 없는 답변이 바로 민원 위험으로 이어집니다.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가이드] 45초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심화 프로젝트01 보고서.pdf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해결 구조는 네 단계입니다. 질문을 받고, 업무와 의도를 분류하고, 해당 업무 안에서 근거를 검색한 뒤, 정해진 응답 정책에 따라 답변과 출처를 제공합니다. 사용자는 자동 분류를 그대로 쓰거나 버튼으로 직접 수정할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가이드] 45초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심화 프로젝트01 보고서.pdf</a:t>
            </a:r>
          </a:p>
          <a:p xmlns:a="http://schemas.openxmlformats.org/drawingml/2006/main">
            <a:r>
              <a:t>- 사용자 제공 챗봇 Prototype V1 화면 캡처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1에서 6개 업무의 공식 페이지를 수집하고 Markdown으로 정제한 뒤, 427개 청크와 1,024차원 임베딩을 만들었습니다. 업무·상위 문서·원문 URL 메타데이터까지 있어 이번 프로젝트에서는 이 데이터를 검색과 답변에 바로 연결할 수 있었습니다.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가이드] 55초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심화 프로젝트01 보고서.pdf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역할은 조율, 정책, 데이터 품질, UI와 평가로 나눴습니다. 다만 한 사람이 만든 결과를 그대로 넘기지 않고, 다음 단계 담당자가 직접 확인하는 교차 검수 방식을 사용했습니다.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가이드] 35초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심화 프로젝트01 보고서.pdf</a:t>
            </a:r>
          </a:p>
          <a:p xmlns:a="http://schemas.openxmlformats.org/drawingml/2006/main">
            <a:r>
              <a:t>- 평가 데이터셋 초안.xlsx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진행 과정은 여섯 단계입니다. 현황 분석과 사용자 흐름을 먼저 정하고, 파이프라인과 평가셋을 설계했습니다. 이후 Gold 검수 도구로 정답 근거를 확인하고 대표 질문을 시연했습니다.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가이드] 40초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심화 프로젝트01 보고서.pdf</a:t>
            </a:r>
          </a:p>
          <a:p xmlns:a="http://schemas.openxmlformats.org/drawingml/2006/main">
            <a:r>
              <a:t>- 평가 데이터셋 초안.xlsx</a:t>
            </a:r>
          </a:p>
          <a:p xmlns:a="http://schemas.openxmlformats.org/drawingml/2006/main">
            <a:r>
              <a:t>- 사용자 제공 챗봇 Prototype V1 화면 캡처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화면에서는 사용자가 무엇을 물어봐야 할지 고민하지 않도록 FAQ TOP 5를 먼저 보여줍니다. 업무와 의도 선택은 기본적으로 접어두고, 자동 분류가 틀렸거나 사용자가 직접 지정하고 싶을 때만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가이드] 50초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챗봇 Prototype V1 화면 캡처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답변 화면에서는 질문에 대한 설명뿐 아니라 절차와 준비 서류를 안내합니다. 아래에는 공식 근거와 출처를 접어서 확인할 수 있고, 민원 신청 질문은 실제 신청 페이지까지 이어지도록 설계했습니다.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가이드] 55초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챗봇 Prototype V1 화면 캡처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질문이 들어오면 먼저 업무와 의도를 분류합니다. 조건이 부족하면 추가 질문을 하고, business_function으로 해당 업무만 검색합니다. 작은 청크로 정밀하게 찾은 뒤 상위 문맥을 함께 제공하고, 답변에는 출처와 신청 링크를 붙입니다.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가이드] 55초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심화 프로젝트01 보고서.pdf</a:t>
            </a:r>
          </a:p>
          <a:p xmlns:a="http://schemas.openxmlformats.org/drawingml/2006/main">
            <a:r>
              <a:t>- 사용자 제공 챗봇 Prototype V1 화면 캡처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 평가 데이터셋이 중요합니다. 답변이 틀렸다는 사실만으로는 업무 분류, 검색, 답변 생성 중 어디를 고쳐야 할지 알 수 없습니다. 따라서 질문별로 각 단계의 정답을 따로 정의했습니다.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가이드] 55초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평가 데이터셋 초안.xlsx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질문마다 네 종류의 정답을 정의했습니다. 첫째 질문 자체의 업무와 복잡도, 둘째 사용자의 의도, 셋째 검색해야 할 문서·섹션·청크, 넷째 답변에 반드시 포함될 요소와 추가 질문 여부입니다.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가이드]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평가 데이터셋 초안.xlsx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Gold는 단순히 정답 문서 이름 하나를 적는 것이 아닙니다. 업무에서 시나리오, 문서, 섹션, 청크, 응답 기준까지 경로로 연결했습니다. 이렇게 해야 검색 결과에 정답 청크가 포함됐는지 정확히 측정할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가이드] 60초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평가 데이터셋 초안.xlsx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평가셋은 203행, 38개 필드 규모이며 143개의 질문 ID를 부여했습니다. 6개 업무뿐 아니라 범위 밖 질문과 모호한 질문도 포함했습니다. 화면의 분포 수치는 라벨이 입력된 행 기준이며, 다음 단계에서 Hit@K와 MRR, 답변 근거성을 측정할 예정입니다.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가이드] 65초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평가 데이터셋 초안.xlsx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실제로 시간이 가장 많이 든 부분은 질문을 만드는 것보다 Gold 청크를 검수하는 일이었습니다. JSONL은 한 줄이 길고 질문 파일과 청크 파일을 번갈아 확인해야 해서, 정답 누락이나 잘못된 매핑을 발견하기 어려웠습니다.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가이드] 50초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평가 데이터셋 초안.xlsx</a:t>
            </a:r>
          </a:p>
          <a:p xmlns:a="http://schemas.openxmlformats.org/drawingml/2006/main">
            <a:r>
              <a:t>- KDIC_Gold_검수도구_팀공유.html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검수 도구에서는 질문별 라벨과 현재 Gold 상태를 한 화면에서 확인할 수 있습니다. 같은 문서뿐 아니라 전체 427개 청크를 검색하고, 필요한 청크를 클릭해 Gold에 추가하거나 제거할 수 있습니다. 이 도구가 평가셋 검수의 실제 병목을 줄였습니다.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가이드] 65초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KDIC_Gold_검수도구_팀공유.html</a:t>
            </a:r>
          </a:p>
          <a:p xmlns:a="http://schemas.openxmlformats.org/drawingml/2006/main">
            <a:r>
              <a:t>- 평가 데이터셋 초안.xlsx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완성한 산출물은 보고서, 챗봇 V1, 검색·답변 파이프라인, 평가 데이터셋, Gold 검수 도구, 시연 시나리오입니다. 중요한 점은 개별 파일이 아니라 앞 단계의 산출물이 다음 단계의 입력으로 연결됐다는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가이드] 40초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심화 프로젝트01 보고서.pdf</a:t>
            </a:r>
          </a:p>
          <a:p xmlns:a="http://schemas.openxmlformats.org/drawingml/2006/main">
            <a:r>
              <a:t>- 평가 데이터셋 초안.xlsx</a:t>
            </a:r>
          </a:p>
          <a:p xmlns:a="http://schemas.openxmlformats.org/drawingml/2006/main">
            <a:r>
              <a:t>- KDIC_Gold_검수도구_팀공유.html</a:t>
            </a:r>
          </a:p>
          <a:p xmlns:a="http://schemas.openxmlformats.org/drawingml/2006/main">
            <a:r>
              <a:t>- 사용자 제공 챗봇 Prototype V1 화면 캡처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현재는 검증 가능한 프로토타입과 평가 기준을 만든 단계입니다. 다음에는 동일한 Gold 테스트셋으로 Dense, Keyword, Hybrid, Reranking을 비교하고, 대표 민원 질문을 처음부터 신청 링크까지 종단 검증하겠습니다.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가이드] 55초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심화 프로젝트01 보고서.pdf</a:t>
            </a:r>
          </a:p>
          <a:p xmlns:a="http://schemas.openxmlformats.org/drawingml/2006/main">
            <a:r>
              <a:t>- 평가 데이터셋 초안.xlsx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프로젝트의 핵심은 데이터를 수집하는 데서 끝내지 않고, 공식 근거로 답하는 챗봇과 그 품질을 검증할 평가 체계까지 연결한 것입니다. 다음 단계에서는 같은 평가셋을 기준으로 검색과 답변을 반복 개선하겠습니다. 감사합니다.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[발표 가이드] 20초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심화 프로젝트01 보고서.pdf</a:t>
            </a:r>
          </a:p>
          <a:p xmlns:a="http://schemas.openxmlformats.org/drawingml/2006/main">
            <a:r>
              <a:t>- 평가 데이터셋 초안.xlsx</a:t>
            </a:r>
          </a:p>
          <a:p xmlns:a="http://schemas.openxmlformats.org/drawingml/2006/main">
            <a:r>
              <a:t>- KDIC_Gold_검수도구_팀공유.html</a:t>
            </a:r>
          </a:p>
          <a:p xmlns:a="http://schemas.openxmlformats.org/drawingml/2006/main">
            <a:r>
              <a:t>- 사용자 제공 챗봇 Prototype V1 화면 캡처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23b5a185b44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bb393de8e48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cd8bf85c34ec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0de4c84e64d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f20a4e555448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bf85f4e32d4cd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68211a72f6484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f9280d1558415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c1695524064b3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a180c2722b439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44b08c33ac469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A91C61A-27E4-4158-ACA5-06BB7209F37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19946726-0FD2-45C6-84F8-64D4861523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49B50A2-3127-4EA3-9EEA-47DAD533C2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30E673-E67C-4283-9BE0-E893E079DB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EFF162E-0C25-43CB-B5E1-C0F2FB499F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BF82EB-4A9B-4B7B-9557-0AD1A86EFF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21892F-9077-4051-8A4D-123BE610535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126B57C-CE53-478E-A91F-FFCF27D7BD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7F8883-B4C8-425C-AB30-AC872E8073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D034FCE-E9CB-4ADF-8A4A-6D2AE7190F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766371-ED39-4789-A306-3E8F95F95E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1ED826D-759C-4153-9639-83D3AF59C0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D67608-7532-4FDC-86F1-E8BD525C30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D8A546F-4973-4C12-8944-98FBB58B58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3C4C916-CCDB-455D-83F2-AE4130D6D8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5F1AD9-871A-4A56-B5C2-AD514EF772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EC5F3A0-0E6F-4BB8-8B1C-C6F58244D1D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20B8758-836F-4D03-889E-22C43CF3883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5F1CE52-8CAC-4B92-847A-CD5875C839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001C5B9-2637-46D8-A2EA-BB8F43C7E8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FC18658-3AC1-4FF2-AF68-EA4E3BF816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805AD1-07AD-4337-A978-5BD248A306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737B02A-6907-4E3D-944E-ACC90C279E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7645CD7-279A-4CAC-AACC-E752D6AA468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6786048-FD1D-4CA6-AB36-0E52C55475A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3232C6C-996F-4C08-B73E-919BF967B9F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9218A91-374D-4159-941A-C7D9E79CE3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FDA8F15-60C9-46CE-A0A0-42E0037DF4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83B7B07-4FD8-40F4-A19F-99D82D3A57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22D5AC-9C1F-42AF-8F66-C10AA4742E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490787F-5EE1-419F-8F79-935F7D3CC7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413F639-1CF9-4FD7-95F6-B854903D86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992A4FC-43FB-424F-9AD4-0A865E1073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0B1A020-18CC-47A5-8EF4-2C97851DBC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09CFD33-9DF6-49D1-958D-6063AD3556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0D2F3C2-37C4-4BD7-A64E-1C81B115DF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CB05AE-A774-4BB8-8395-AEA88E8884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4C7789-04DD-4CDB-98FE-9CDEC8D867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D469ADA-D039-4939-8E2B-2A8CBC63A66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E0AF8AA-4199-43CA-BBA0-8D00EBA51C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3F413B6-29AD-4440-B478-488B4FE2EC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91DAD2F-7282-4712-B1A7-0C7B66BA8F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E51958-1711-4ABE-85A2-4691A77BCD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DC14256-2A84-4896-A6E8-BBFA26D101F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B6ED18C-4859-4C9A-A947-C681BFE047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8A07A24-B6A2-48E1-97B8-714912E016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839E04-43B1-438B-90E8-4185618699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CFB0503-DA7C-4933-B670-85E2445B0C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30610-6568-4132-8443-3D0A1DBB20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DE56A0D-03E8-4F3F-B0AA-5CD4E07ED9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6CA95E-0A72-44B5-B7DD-67E75B3C1F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F8F7144-D7AB-4D87-BA2D-47CE621C56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30D66D-4349-4344-BA7A-8FBBC465D2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CBC0106-587A-4C9D-8080-147BF08D2C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994AD2-D454-4F08-AD17-1F56B694C9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2E93C0D-3339-4D12-BBF7-21F5AFBECF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70D470-8593-4FFC-9EF8-F54B45458D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5AC2AC-398A-49D8-8E5F-8D237DC160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803d696b1d4454" /><Relationship Type="http://schemas.openxmlformats.org/officeDocument/2006/relationships/slideLayout" Target="/ppt/slideLayouts/slideLayout1.xml" Id="Rceff588289844c82" /><Relationship Type="http://schemas.openxmlformats.org/officeDocument/2006/relationships/slideLayout" Target="/ppt/slideLayouts/slideLayout2.xml" Id="R323dddfae15e4dc0" /><Relationship Type="http://schemas.openxmlformats.org/officeDocument/2006/relationships/slideLayout" Target="/ppt/slideLayouts/slideLayout3.xml" Id="R843fb07e7614431d" /><Relationship Type="http://schemas.openxmlformats.org/officeDocument/2006/relationships/slideLayout" Target="/ppt/slideLayouts/slideLayout4.xml" Id="R9fda7e14671140ab" /><Relationship Type="http://schemas.openxmlformats.org/officeDocument/2006/relationships/slideLayout" Target="/ppt/slideLayouts/slideLayout5.xml" Id="Re47fcc4e8a0345eb" /><Relationship Type="http://schemas.openxmlformats.org/officeDocument/2006/relationships/slideLayout" Target="/ppt/slideLayouts/slideLayout6.xml" Id="Rcaf3497640184c5a" /><Relationship Type="http://schemas.openxmlformats.org/officeDocument/2006/relationships/slideLayout" Target="/ppt/slideLayouts/slideLayout7.xml" Id="R8334d3dc4a0645f9" /><Relationship Type="http://schemas.openxmlformats.org/officeDocument/2006/relationships/slideLayout" Target="/ppt/slideLayouts/slideLayout8.xml" Id="R733a20b7f56f4627" /><Relationship Type="http://schemas.openxmlformats.org/officeDocument/2006/relationships/slideLayout" Target="/ppt/slideLayouts/slideLayout9.xml" Id="Rd0cadfda1cb640ce" /><Relationship Type="http://schemas.openxmlformats.org/officeDocument/2006/relationships/slideLayout" Target="/ppt/slideLayouts/slideLayout10.xml" Id="R48396c51fd5c4655" /><Relationship Type="http://schemas.openxmlformats.org/officeDocument/2006/relationships/slideLayout" Target="/ppt/slideLayouts/slideLayout11.xml" Id="R8d3b99185b1242b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AF20629-48A8-492A-B46D-4E7C0CB7E0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E6DD2F-D5C6-4E23-8972-8CEDDEAE95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9D54C1A-5DFE-49C9-A538-4DF363EC3F1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D3F3F61-D408-4257-81FF-4831ED76B9E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F0DC0E2-549F-4090-B3D6-2DEB2621AF9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ff588289844c82"/>
    <p:sldLayoutId xmlns:r="http://schemas.openxmlformats.org/officeDocument/2006/relationships" id="2147483650" r:id="R323dddfae15e4dc0"/>
    <p:sldLayoutId xmlns:r="http://schemas.openxmlformats.org/officeDocument/2006/relationships" id="2147483651" r:id="R843fb07e7614431d"/>
    <p:sldLayoutId xmlns:r="http://schemas.openxmlformats.org/officeDocument/2006/relationships" id="2147483652" r:id="R9fda7e14671140ab"/>
    <p:sldLayoutId xmlns:r="http://schemas.openxmlformats.org/officeDocument/2006/relationships" id="2147483653" r:id="Re47fcc4e8a0345eb"/>
    <p:sldLayoutId xmlns:r="http://schemas.openxmlformats.org/officeDocument/2006/relationships" id="2147483654" r:id="Rcaf3497640184c5a"/>
    <p:sldLayoutId xmlns:r="http://schemas.openxmlformats.org/officeDocument/2006/relationships" id="2147483655" r:id="R8334d3dc4a0645f9"/>
    <p:sldLayoutId xmlns:r="http://schemas.openxmlformats.org/officeDocument/2006/relationships" id="2147483656" r:id="R733a20b7f56f4627"/>
    <p:sldLayoutId xmlns:r="http://schemas.openxmlformats.org/officeDocument/2006/relationships" id="2147483657" r:id="Rd0cadfda1cb640ce"/>
    <p:sldLayoutId xmlns:r="http://schemas.openxmlformats.org/officeDocument/2006/relationships" id="2147483658" r:id="R48396c51fd5c4655"/>
    <p:sldLayoutId xmlns:r="http://schemas.openxmlformats.org/officeDocument/2006/relationships" id="2147483659" r:id="R8d3b99185b1242b0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bf5c0a52974aae" /><Relationship Type="http://schemas.openxmlformats.org/officeDocument/2006/relationships/image" Target="/ppt/media/image.jpeg" Id="Rfd1fc8790066403e" /><Relationship Type="http://schemas.openxmlformats.org/officeDocument/2006/relationships/notesSlide" Target="/ppt/notesSlides/notesSlide1.xml" Id="Re808b0f511a14e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fa4fc46a86433e" /><Relationship Type="http://schemas.openxmlformats.org/officeDocument/2006/relationships/image" Target="/ppt/media/image.jpeg" Id="R523d0831b3384ec7" /><Relationship Type="http://schemas.openxmlformats.org/officeDocument/2006/relationships/notesSlide" Target="/ppt/notesSlides/notesSlide2.xml" Id="R51579e79382948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cc47feaa3c41b7" /><Relationship Type="http://schemas.openxmlformats.org/officeDocument/2006/relationships/image" Target="/ppt/media/image.jpeg" Id="R9150c00d1908474f" /><Relationship Type="http://schemas.openxmlformats.org/officeDocument/2006/relationships/notesSlide" Target="/ppt/notesSlides/notesSlide3.xml" Id="R6fa8f2be6e814a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a1f61d5b624da0" /><Relationship Type="http://schemas.openxmlformats.org/officeDocument/2006/relationships/image" Target="/ppt/media/image.jpeg" Id="Rb6d2e3a1a0e747a5" /><Relationship Type="http://schemas.openxmlformats.org/officeDocument/2006/relationships/notesSlide" Target="/ppt/notesSlides/notesSlide4.xml" Id="Rd4bac99ababf41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748de71dfa471a" /><Relationship Type="http://schemas.openxmlformats.org/officeDocument/2006/relationships/image" Target="/ppt/media/image.jpeg" Id="Ra7fdd5bd354c4af7" /><Relationship Type="http://schemas.openxmlformats.org/officeDocument/2006/relationships/notesSlide" Target="/ppt/notesSlides/notesSlide5.xml" Id="R7ac25d7efc2b4e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d493b5232942e5" /><Relationship Type="http://schemas.openxmlformats.org/officeDocument/2006/relationships/image" Target="/ppt/media/image.jpeg" Id="R94e1dcb5d67f4e8d" /><Relationship Type="http://schemas.openxmlformats.org/officeDocument/2006/relationships/notesSlide" Target="/ppt/notesSlides/notesSlide6.xml" Id="R73292ceb482445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a706a8bbf74818" /><Relationship Type="http://schemas.openxmlformats.org/officeDocument/2006/relationships/image" Target="/ppt/media/image.jpeg" Id="Rdd61fe6aadf549f9" /><Relationship Type="http://schemas.openxmlformats.org/officeDocument/2006/relationships/image" Target="/ppt/media/image.png" Id="R6be55c23371c47ae" /><Relationship Type="http://schemas.openxmlformats.org/officeDocument/2006/relationships/notesSlide" Target="/ppt/notesSlides/notesSlide7.xml" Id="R47a94229fe774e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d819bad0d14f89" /><Relationship Type="http://schemas.openxmlformats.org/officeDocument/2006/relationships/image" Target="/ppt/media/image.jpeg" Id="R7ea015f5803f4abd" /><Relationship Type="http://schemas.openxmlformats.org/officeDocument/2006/relationships/image" Target="/ppt/media/image2.png" Id="Rebca763f7c2444d8" /><Relationship Type="http://schemas.openxmlformats.org/officeDocument/2006/relationships/notesSlide" Target="/ppt/notesSlides/notesSlide8.xml" Id="R934b648c040946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3cebe2e24444daa" /><Relationship Type="http://schemas.openxmlformats.org/officeDocument/2006/relationships/image" Target="/ppt/media/image.jpeg" Id="Rdd39f78574ad4b0d" /><Relationship Type="http://schemas.openxmlformats.org/officeDocument/2006/relationships/notesSlide" Target="/ppt/notesSlides/notesSlide9.xml" Id="R3fd242f8585844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b528bdeae994d09" /><Relationship Type="http://schemas.openxmlformats.org/officeDocument/2006/relationships/image" Target="/ppt/media/image.jpeg" Id="R38ebf7b1c4b14c66" /><Relationship Type="http://schemas.openxmlformats.org/officeDocument/2006/relationships/notesSlide" Target="/ppt/notesSlides/notesSlide10.xml" Id="Rd7bf0810590f4f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082c3391bf4d39" /><Relationship Type="http://schemas.openxmlformats.org/officeDocument/2006/relationships/image" Target="/ppt/media/image.jpeg" Id="Rae040d3155af4b32" /><Relationship Type="http://schemas.openxmlformats.org/officeDocument/2006/relationships/notesSlide" Target="/ppt/notesSlides/notesSlide11.xml" Id="R1678a4b3e52942c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7da14847a64855" /><Relationship Type="http://schemas.openxmlformats.org/officeDocument/2006/relationships/image" Target="/ppt/media/image.jpeg" Id="Rf5730866085245ad" /><Relationship Type="http://schemas.openxmlformats.org/officeDocument/2006/relationships/notesSlide" Target="/ppt/notesSlides/notesSlide12.xml" Id="R25b224332c194c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58358c70164a5e" /><Relationship Type="http://schemas.openxmlformats.org/officeDocument/2006/relationships/image" Target="/ppt/media/image.jpeg" Id="R59dfd25b5fb84722" /><Relationship Type="http://schemas.openxmlformats.org/officeDocument/2006/relationships/notesSlide" Target="/ppt/notesSlides/notesSlide13.xml" Id="R656c23ea34d54b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f06cc9b2c04298" /><Relationship Type="http://schemas.openxmlformats.org/officeDocument/2006/relationships/image" Target="/ppt/media/image.jpeg" Id="Re6381bc1c871480d" /><Relationship Type="http://schemas.openxmlformats.org/officeDocument/2006/relationships/notesSlide" Target="/ppt/notesSlides/notesSlide14.xml" Id="R94478cbe90cd4d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7a6c81462b14486" /><Relationship Type="http://schemas.openxmlformats.org/officeDocument/2006/relationships/image" Target="/ppt/media/image.jpeg" Id="R76a0600d1880455e" /><Relationship Type="http://schemas.openxmlformats.org/officeDocument/2006/relationships/image" Target="/ppt/media/image3.png" Id="R1e411b9b93224021" /><Relationship Type="http://schemas.openxmlformats.org/officeDocument/2006/relationships/notesSlide" Target="/ppt/notesSlides/notesSlide15.xml" Id="Rba048d28eae943d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e48818861d4a12" /><Relationship Type="http://schemas.openxmlformats.org/officeDocument/2006/relationships/image" Target="/ppt/media/image.jpeg" Id="R8ddbe2d13dd241c6" /><Relationship Type="http://schemas.openxmlformats.org/officeDocument/2006/relationships/notesSlide" Target="/ppt/notesSlides/notesSlide16.xml" Id="R95a66054db014a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c06623c2124ee1" /><Relationship Type="http://schemas.openxmlformats.org/officeDocument/2006/relationships/image" Target="/ppt/media/image.jpeg" Id="R19b7b3743e1d468c" /><Relationship Type="http://schemas.openxmlformats.org/officeDocument/2006/relationships/notesSlide" Target="/ppt/notesSlides/notesSlide17.xml" Id="R12766c3118f442f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abcb304e03436f" /><Relationship Type="http://schemas.openxmlformats.org/officeDocument/2006/relationships/image" Target="/ppt/media/image.jpeg" Id="R839c597dba1b41f1" /><Relationship Type="http://schemas.openxmlformats.org/officeDocument/2006/relationships/notesSlide" Target="/ppt/notesSlides/notesSlide18.xml" Id="R0d3f7aab28a444eb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3D70C6">
                <a:alpha val="100000"/>
              </a:srgbClr>
            </a:gs>
            <a:gs pos="100000">
              <a:srgbClr val="17448F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A138FF0A-47EB-41B0-950E-A774EFF0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0250" y="1828800"/>
            <a:ext cx="14287500" cy="1143000"/>
          </a:xfrm>
          <a:custGeom xmlns:a="http://schemas.openxmlformats.org/drawingml/2006/main">
            <a:rect l="l" t="t" r="r" b="b"/>
            <a:pathLst>
              <a:path w="19050000" h="1524000">
                <a:moveTo>
                  <a:pt x="0" y="0"/>
                </a:moveTo>
                <a:lnTo>
                  <a:pt x="19050000" y="0"/>
                </a:lnTo>
                <a:lnTo>
                  <a:pt x="19050000" y="1524000"/>
                </a:lnTo>
                <a:lnTo>
                  <a:pt x="0" y="1524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1fc8790066403e">
              <a:alphaModFix amt="0"/>
            </a:blip>
            <a:stretch>
              <a:fillRect l="0" t="-193562" r="0" b="-193562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FD9BCD62-04D1-4820-9490-5FD0249D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0250" y="1743075"/>
            <a:ext cx="14287500" cy="1228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345"/>
              </a:lnSpc>
              <a:buNone/>
            </a:pPr>
            <a:r>
              <a:rPr sz="210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예금보험 도메인 RAG 챗봇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B5D26CB1-EA05-4011-8CED-9C13E051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43312" y="3243262"/>
            <a:ext cx="11001375" cy="1885950"/>
          </a:xfrm>
          <a:custGeom xmlns:a="http://schemas.openxmlformats.org/drawingml/2006/main">
            <a:rect l="l" t="t" r="r" b="b"/>
            <a:pathLst>
              <a:path w="14668500" h="25146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14439900" y="0"/>
                </a:lnTo>
                <a:cubicBezTo>
                  <a:pt x="14566137" y="0"/>
                  <a:pt x="14668500" y="102362"/>
                  <a:pt x="14668500" y="228600"/>
                </a:cubicBezTo>
                <a:lnTo>
                  <a:pt x="14668500" y="2286000"/>
                </a:lnTo>
                <a:cubicBezTo>
                  <a:pt x="14668500" y="2412238"/>
                  <a:pt x="14566137" y="2514600"/>
                  <a:pt x="14439900" y="2514600"/>
                </a:cubicBezTo>
                <a:lnTo>
                  <a:pt x="228600" y="2514600"/>
                </a:lnTo>
                <a:cubicBezTo>
                  <a:pt x="102362" y="2514600"/>
                  <a:pt x="0" y="2412238"/>
                  <a:pt x="0" y="228600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6E8E7A31-5BA0-49BF-BB76-5E64F6C2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0500" y="3429000"/>
            <a:ext cx="10287000" cy="1500188"/>
          </a:xfrm>
          <a:custGeom xmlns:a="http://schemas.openxmlformats.org/drawingml/2006/main">
            <a:rect l="l" t="t" r="r" b="b"/>
            <a:pathLst>
              <a:path w="13716000" h="2000250">
                <a:moveTo>
                  <a:pt x="0" y="0"/>
                </a:moveTo>
                <a:lnTo>
                  <a:pt x="13716000" y="0"/>
                </a:lnTo>
                <a:lnTo>
                  <a:pt x="13716000" y="2000250"/>
                </a:lnTo>
                <a:lnTo>
                  <a:pt x="0" y="200025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1fc8790066403e">
              <a:alphaModFix amt="0"/>
            </a:blip>
            <a:stretch>
              <a:fillRect l="0" t="-83611" r="0" b="-83611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3B059EF7-CB86-4F17-AF4C-D896391B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00500" y="3336132"/>
            <a:ext cx="10287000" cy="15930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7289"/>
              </a:lnSpc>
              <a:buNone/>
            </a:pPr>
            <a:r>
              <a:rPr sz="2100">
                <a:solidFill>
                  <a:srgbClr val="2E63B7"/>
                </a:solidFill>
                <a:latin typeface="Calibri (MS)"/>
                <a:ea typeface="Calibri (MS)"/>
                <a:cs typeface="Calibri (MS)"/>
              </a:rPr>
              <a:t>공식 근거로 답하는 AI 챗봇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6F70DB3-0484-485E-BD6F-0A0372C9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7625" y="5786438"/>
            <a:ext cx="10572750" cy="542925"/>
          </a:xfrm>
          <a:custGeom xmlns:a="http://schemas.openxmlformats.org/drawingml/2006/main">
            <a:rect l="l" t="t" r="r" b="b"/>
            <a:pathLst>
              <a:path w="14097000" h="723900">
                <a:moveTo>
                  <a:pt x="0" y="0"/>
                </a:moveTo>
                <a:lnTo>
                  <a:pt x="14097000" y="0"/>
                </a:lnTo>
                <a:lnTo>
                  <a:pt x="14097000" y="723900"/>
                </a:lnTo>
                <a:lnTo>
                  <a:pt x="0" y="723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1fc8790066403e">
              <a:alphaModFix amt="0"/>
            </a:blip>
            <a:stretch>
              <a:fillRect l="0" t="-329445" r="0" b="-329445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B6C6F2D5-FB8B-4EBE-949F-ABFC1A9A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7625" y="5757863"/>
            <a:ext cx="10572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295"/>
              </a:lnSpc>
              <a:buNone/>
            </a:pPr>
            <a:r>
              <a:rPr sz="225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데이터 구축에서 검증 가능한 서비스까지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2C42DDD1-B10D-477A-98B0-964BD5A0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86250" y="6400800"/>
            <a:ext cx="9715500" cy="342900"/>
          </a:xfrm>
          <a:custGeom xmlns:a="http://schemas.openxmlformats.org/drawingml/2006/main">
            <a:rect l="l" t="t" r="r" b="b"/>
            <a:pathLst>
              <a:path w="12954000" h="457200">
                <a:moveTo>
                  <a:pt x="0" y="0"/>
                </a:moveTo>
                <a:lnTo>
                  <a:pt x="12954000" y="0"/>
                </a:lnTo>
                <a:lnTo>
                  <a:pt x="12954000" y="457200"/>
                </a:lnTo>
                <a:lnTo>
                  <a:pt x="0" y="4572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1fc8790066403e">
              <a:alphaModFix amt="0"/>
            </a:blip>
            <a:stretch>
              <a:fillRect l="0" t="-502076" r="0" b="-502076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8152363-035C-41FB-84F0-3B01B49F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86250" y="6386513"/>
            <a:ext cx="9715500" cy="357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2250">
                <a:solidFill>
                  <a:srgbClr val="B9CBEA"/>
                </a:solidFill>
                <a:latin typeface="Calibri (MS)"/>
                <a:ea typeface="Calibri (MS)"/>
                <a:cs typeface="Calibri (MS)"/>
              </a:rPr>
              <a:t>2026.07.20–07.24 | 15분 발표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DDFE8116-747C-44FC-8A41-928CCDD3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062" y="9144000"/>
            <a:ext cx="17287875" cy="14288"/>
          </a:xfrm>
          <a:custGeom xmlns:a="http://schemas.openxmlformats.org/drawingml/2006/main">
            <a:rect l="l" t="t" r="r" b="b"/>
            <a:pathLst>
              <a:path w="23050500" h="19050">
                <a:moveTo>
                  <a:pt x="0" y="0"/>
                </a:moveTo>
                <a:lnTo>
                  <a:pt x="23050500" y="0"/>
                </a:lnTo>
                <a:lnTo>
                  <a:pt x="230505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8AA8D8"/>
          </a:solidFill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1AD6B11-314C-442A-B495-ABDF7D74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062" y="9315450"/>
            <a:ext cx="4286250" cy="285750"/>
          </a:xfrm>
          <a:custGeom xmlns:a="http://schemas.openxmlformats.org/drawingml/2006/main">
            <a:rect l="l" t="t" r="r" b="b"/>
            <a:pathLst>
              <a:path w="5715000" h="381000">
                <a:moveTo>
                  <a:pt x="0" y="0"/>
                </a:moveTo>
                <a:lnTo>
                  <a:pt x="5715000" y="0"/>
                </a:lnTo>
                <a:lnTo>
                  <a:pt x="5715000" y="381000"/>
                </a:lnTo>
                <a:lnTo>
                  <a:pt x="0" y="381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1fc8790066403e">
              <a:alphaModFix amt="0"/>
            </a:blip>
            <a:stretch>
              <a:fillRect l="0" t="-242275" r="0" b="-242275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01E276D-8C70-4415-9385-BD23F4BE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062" y="9294019"/>
            <a:ext cx="4286250" cy="3071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125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임도균 / 와쿠와쿠 6조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07448B50-FC15-4A02-A0C5-FEDB91C0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01750" y="9315450"/>
            <a:ext cx="3786188" cy="285750"/>
          </a:xfrm>
          <a:custGeom xmlns:a="http://schemas.openxmlformats.org/drawingml/2006/main">
            <a:rect l="l" t="t" r="r" b="b"/>
            <a:pathLst>
              <a:path w="5048250" h="381000">
                <a:moveTo>
                  <a:pt x="0" y="0"/>
                </a:moveTo>
                <a:lnTo>
                  <a:pt x="5048250" y="0"/>
                </a:lnTo>
                <a:lnTo>
                  <a:pt x="5048250" y="381000"/>
                </a:lnTo>
                <a:lnTo>
                  <a:pt x="0" y="381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d1fc8790066403e">
              <a:alphaModFix amt="0"/>
            </a:blip>
            <a:stretch>
              <a:fillRect l="0" t="-208176" r="0" b="-208176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7397B81E-9FDC-46BB-A35E-C5AD101F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01750" y="9294019"/>
            <a:ext cx="3786188" cy="3071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350"/>
              </a:lnSpc>
              <a:buNone/>
            </a:pPr>
            <a:r>
              <a:rPr sz="1125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멋쟁이사자처럼 · 와쿠와쿠 6조</a:t>
            </a:r>
          </a:p>
        </p:txBody>
      </p:sp>
    </p:spTree>
    <p:extLst>
      <p:ext uri="{BB962C8B-B14F-4D97-AF65-F5344CB8AC3E}">
        <p14:creationId xmlns:p14="http://schemas.microsoft.com/office/powerpoint/2010/main" val="1847837220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3D70C6">
                <a:alpha val="100000"/>
              </a:srgbClr>
            </a:gs>
            <a:gs pos="100000">
              <a:srgbClr val="17448F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FA3F7E8-71A8-4343-A645-3039FE17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906" y="335756"/>
            <a:ext cx="17502188" cy="9615488"/>
          </a:xfrm>
          <a:custGeom xmlns:a="http://schemas.openxmlformats.org/drawingml/2006/main">
            <a:rect l="l" t="t" r="r" b="b"/>
            <a:pathLst>
              <a:path w="23336250" h="12820650">
                <a:moveTo>
                  <a:pt x="0" y="305308"/>
                </a:moveTo>
                <a:cubicBezTo>
                  <a:pt x="0" y="136652"/>
                  <a:pt x="136652" y="0"/>
                  <a:pt x="305308" y="0"/>
                </a:cubicBezTo>
                <a:lnTo>
                  <a:pt x="23030942" y="0"/>
                </a:lnTo>
                <a:cubicBezTo>
                  <a:pt x="23199471" y="0"/>
                  <a:pt x="23336250" y="136652"/>
                  <a:pt x="23336250" y="305308"/>
                </a:cubicBezTo>
                <a:lnTo>
                  <a:pt x="23336250" y="12515342"/>
                </a:lnTo>
                <a:cubicBezTo>
                  <a:pt x="23336250" y="12683872"/>
                  <a:pt x="23199598" y="12820650"/>
                  <a:pt x="23030942" y="12820650"/>
                </a:cubicBezTo>
                <a:lnTo>
                  <a:pt x="305308" y="12820650"/>
                </a:lnTo>
                <a:cubicBezTo>
                  <a:pt x="136652" y="12820650"/>
                  <a:pt x="0" y="12683998"/>
                  <a:pt x="0" y="125153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EAF1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3D20D-6EF2-43E8-95A3-D470A1BE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42925"/>
            <a:ext cx="16002000" cy="257175"/>
          </a:xfrm>
          <a:custGeom xmlns:a="http://schemas.openxmlformats.org/drawingml/2006/main">
            <a:rect l="l" t="t" r="r" b="b"/>
            <a:pathLst>
              <a:path w="21336000" h="342900">
                <a:moveTo>
                  <a:pt x="0" y="0"/>
                </a:moveTo>
                <a:lnTo>
                  <a:pt x="21336000" y="0"/>
                </a:lnTo>
                <a:lnTo>
                  <a:pt x="21336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3d0831b3384ec7">
              <a:alphaModFix amt="0"/>
            </a:blip>
            <a:stretch>
              <a:fillRect l="0" t="-1162402" r="0" b="-1162402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0EB33FF-04AB-4F22-AB62-142C4E75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42925"/>
            <a:ext cx="160020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1237">
                <a:solidFill>
                  <a:srgbClr val="2E63B7"/>
                </a:solidFill>
                <a:latin typeface="JASO Sans"/>
                <a:ea typeface="JASO Sans"/>
                <a:cs typeface="JASO Sans"/>
              </a:rPr>
              <a:t>01 프로젝트 개요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0F75CC89-B4BC-40BD-93B4-B5D9ECCA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028700"/>
            <a:ext cx="16002000" cy="1012338"/>
          </a:xfrm>
          <a:custGeom xmlns:a="http://schemas.openxmlformats.org/drawingml/2006/main">
            <a:rect l="l" t="t" r="r" b="b"/>
            <a:pathLst>
              <a:path w="21336000" h="1349786">
                <a:moveTo>
                  <a:pt x="0" y="0"/>
                </a:moveTo>
                <a:lnTo>
                  <a:pt x="21336000" y="0"/>
                </a:lnTo>
                <a:lnTo>
                  <a:pt x="21336000" y="1349786"/>
                </a:lnTo>
                <a:lnTo>
                  <a:pt x="0" y="134978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3d0831b3384ec7">
              <a:alphaModFix amt="0"/>
            </a:blip>
            <a:stretch>
              <a:fillRect l="0" t="-269893" r="0" b="-246105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B2A45E6-DA65-408A-80D3-B0009AE7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028700"/>
            <a:ext cx="16002000" cy="1012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54"/>
              </a:lnSpc>
              <a:buNone/>
            </a:pPr>
            <a:r>
              <a:rPr sz="5212" b="1">
                <a:solidFill>
                  <a:srgbClr val="202020"/>
                </a:solidFill>
                <a:latin typeface="JASO Sans Bold"/>
                <a:ea typeface="JASO Sans Bold"/>
                <a:cs typeface="JASO Sans Bold"/>
              </a:rPr>
              <a:t>기존 챗봇은 자연어 질문에 대응하지 못했습니다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3EDB0A0-B113-438E-99E6-FF824F3B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114550"/>
            <a:ext cx="16002000" cy="14288"/>
          </a:xfrm>
          <a:custGeom xmlns:a="http://schemas.openxmlformats.org/drawingml/2006/main">
            <a:rect l="l" t="t" r="r" b="b"/>
            <a:pathLst>
              <a:path w="21336000" h="19050">
                <a:moveTo>
                  <a:pt x="0" y="0"/>
                </a:moveTo>
                <a:lnTo>
                  <a:pt x="21336000" y="0"/>
                </a:lnTo>
                <a:lnTo>
                  <a:pt x="21336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CAF2D3A4-26CF-4933-9615-CA121303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9572625"/>
            <a:ext cx="16630650" cy="14288"/>
          </a:xfrm>
          <a:custGeom xmlns:a="http://schemas.openxmlformats.org/drawingml/2006/main">
            <a:rect l="l" t="t" r="r" b="b"/>
            <a:pathLst>
              <a:path w="22174200" h="19050">
                <a:moveTo>
                  <a:pt x="0" y="0"/>
                </a:moveTo>
                <a:lnTo>
                  <a:pt x="22174200" y="0"/>
                </a:lnTo>
                <a:lnTo>
                  <a:pt x="221742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F8E73E10-338A-42A4-A81C-9FE5B596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44062"/>
            <a:ext cx="1000125" cy="257175"/>
          </a:xfrm>
          <a:custGeom xmlns:a="http://schemas.openxmlformats.org/drawingml/2006/main">
            <a:rect l="l" t="t" r="r" b="b"/>
            <a:pathLst>
              <a:path w="1333500" h="342900">
                <a:moveTo>
                  <a:pt x="0" y="0"/>
                </a:moveTo>
                <a:lnTo>
                  <a:pt x="1333500" y="0"/>
                </a:lnTo>
                <a:lnTo>
                  <a:pt x="13335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3d0831b3384ec7">
              <a:alphaModFix amt="0"/>
            </a:blip>
            <a:stretch>
              <a:fillRect l="0" t="-25775" r="0" b="-25775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D00C9E9-22DE-4B96-A5D9-DC260DCA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44062"/>
            <a:ext cx="100012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350"/>
              </a:lnSpc>
              <a:buNone/>
            </a:pPr>
            <a:r>
              <a:rPr sz="1125">
                <a:solidFill>
                  <a:srgbClr val="2E63B7"/>
                </a:solidFill>
                <a:latin typeface="JASO Sans"/>
                <a:ea typeface="JASO Sans"/>
                <a:cs typeface="JASO Sans"/>
              </a:rPr>
              <a:t>02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4932DFF8-B4FA-4DBD-9B7E-FA233F4C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4592" y="2921794"/>
            <a:ext cx="7520350" cy="4729162"/>
          </a:xfrm>
          <a:custGeom xmlns:a="http://schemas.openxmlformats.org/drawingml/2006/main">
            <a:rect l="l" t="t" r="r" b="b"/>
            <a:pathLst>
              <a:path w="10027134" h="6305550">
                <a:moveTo>
                  <a:pt x="0" y="229235"/>
                </a:moveTo>
                <a:cubicBezTo>
                  <a:pt x="0" y="102616"/>
                  <a:pt x="153883" y="0"/>
                  <a:pt x="343760" y="0"/>
                </a:cubicBezTo>
                <a:lnTo>
                  <a:pt x="9683374" y="0"/>
                </a:lnTo>
                <a:cubicBezTo>
                  <a:pt x="9873251" y="0"/>
                  <a:pt x="10027134" y="102616"/>
                  <a:pt x="10027134" y="229235"/>
                </a:cubicBezTo>
                <a:lnTo>
                  <a:pt x="10027134" y="6076315"/>
                </a:lnTo>
                <a:cubicBezTo>
                  <a:pt x="10027134" y="6202934"/>
                  <a:pt x="9873251" y="6305550"/>
                  <a:pt x="9683374" y="6305550"/>
                </a:cubicBezTo>
                <a:lnTo>
                  <a:pt x="343760" y="6305550"/>
                </a:lnTo>
                <a:cubicBezTo>
                  <a:pt x="153883" y="6305550"/>
                  <a:pt x="0" y="6202934"/>
                  <a:pt x="0" y="60763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D6D218B9-2D20-4DAB-9566-AF029CE4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3970" y="3128963"/>
            <a:ext cx="4213104" cy="660597"/>
          </a:xfrm>
          <a:custGeom xmlns:a="http://schemas.openxmlformats.org/drawingml/2006/main">
            <a:rect l="l" t="t" r="r" b="b"/>
            <a:pathLst>
              <a:path w="5617473" h="880796">
                <a:moveTo>
                  <a:pt x="0" y="0"/>
                </a:moveTo>
                <a:lnTo>
                  <a:pt x="5617473" y="0"/>
                </a:lnTo>
                <a:lnTo>
                  <a:pt x="5617473" y="880796"/>
                </a:lnTo>
                <a:lnTo>
                  <a:pt x="0" y="8807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3d0831b3384ec7">
              <a:alphaModFix amt="0"/>
            </a:blip>
            <a:stretch>
              <a:fillRect l="0" t="-96513" r="-3770" b="-61398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B310A48-F406-4CA4-A5D9-4F573E7C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3970" y="3128963"/>
            <a:ext cx="4213105" cy="6605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124"/>
              </a:lnSpc>
              <a:buNone/>
            </a:pPr>
            <a:r>
              <a:rPr sz="2250" b="1">
                <a:solidFill>
                  <a:srgbClr val="2E63B7"/>
                </a:solidFill>
                <a:latin typeface="JASO Sans Bold"/>
                <a:ea typeface="JASO Sans Bold"/>
                <a:cs typeface="JASO Sans Bold"/>
              </a:rPr>
              <a:t>기존 방식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705A773-FD34-4EEA-AE5C-91B52022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024" y="3936206"/>
            <a:ext cx="6892478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sz="2100">
                <a:solidFill>
                  <a:srgbClr val="9299A3"/>
                </a:solidFill>
                <a:latin typeface="JASO Sans"/>
                <a:ea typeface="JASO Sans"/>
                <a:cs typeface="JASO Sans"/>
              </a:rPr>
              <a:t>키워드·카드 선택 중심</a:t>
            </a:r>
          </a:p>
          <a:p xmlns:a="http://schemas.openxmlformats.org/drawingml/2006/main"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sz="2100">
                <a:solidFill>
                  <a:srgbClr val="9299A3"/>
                </a:solidFill>
                <a:latin typeface="JASO Sans"/>
                <a:ea typeface="JASO Sans"/>
                <a:cs typeface="JASO Sans"/>
              </a:rPr>
              <a:t>표현이 달라지면 대응하기 어려움</a:t>
            </a:r>
          </a:p>
          <a:p xmlns:a="http://schemas.openxmlformats.org/drawingml/2006/main"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sz="2100">
                <a:solidFill>
                  <a:srgbClr val="9299A3"/>
                </a:solidFill>
                <a:latin typeface="JASO Sans"/>
                <a:ea typeface="JASO Sans"/>
                <a:cs typeface="JASO Sans"/>
              </a:rPr>
              <a:t>답변 근거와 원문 이동이 약함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BD2652E-861F-40B5-88B1-5A853467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18339" y="2921794"/>
            <a:ext cx="7352805" cy="4729162"/>
          </a:xfrm>
          <a:custGeom xmlns:a="http://schemas.openxmlformats.org/drawingml/2006/main">
            <a:rect l="l" t="t" r="r" b="b"/>
            <a:pathLst>
              <a:path w="9803740" h="6305550">
                <a:moveTo>
                  <a:pt x="0" y="229235"/>
                </a:moveTo>
                <a:cubicBezTo>
                  <a:pt x="0" y="102616"/>
                  <a:pt x="150454" y="0"/>
                  <a:pt x="336102" y="0"/>
                </a:cubicBezTo>
                <a:lnTo>
                  <a:pt x="9467638" y="0"/>
                </a:lnTo>
                <a:cubicBezTo>
                  <a:pt x="9653285" y="0"/>
                  <a:pt x="9803740" y="102616"/>
                  <a:pt x="9803740" y="229235"/>
                </a:cubicBezTo>
                <a:lnTo>
                  <a:pt x="9803740" y="6076315"/>
                </a:lnTo>
                <a:cubicBezTo>
                  <a:pt x="9803740" y="6202934"/>
                  <a:pt x="9653285" y="6305550"/>
                  <a:pt x="9467638" y="6305550"/>
                </a:cubicBezTo>
                <a:lnTo>
                  <a:pt x="336102" y="6305550"/>
                </a:lnTo>
                <a:cubicBezTo>
                  <a:pt x="150454" y="6305550"/>
                  <a:pt x="0" y="6202934"/>
                  <a:pt x="0" y="6076315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279CEB19-4F55-41CF-8076-C20923F4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45697" y="3128963"/>
            <a:ext cx="6067269" cy="660597"/>
          </a:xfrm>
          <a:custGeom xmlns:a="http://schemas.openxmlformats.org/drawingml/2006/main">
            <a:rect l="l" t="t" r="r" b="b"/>
            <a:pathLst>
              <a:path w="8089692" h="880796">
                <a:moveTo>
                  <a:pt x="0" y="0"/>
                </a:moveTo>
                <a:lnTo>
                  <a:pt x="8089692" y="0"/>
                </a:lnTo>
                <a:lnTo>
                  <a:pt x="8089692" y="880796"/>
                </a:lnTo>
                <a:lnTo>
                  <a:pt x="0" y="8807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3d0831b3384ec7">
              <a:alphaModFix amt="0"/>
            </a:blip>
            <a:stretch>
              <a:fillRect l="0" t="-96513" r="27941" b="-61398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FC9FD327-4F9B-4DA4-B702-F4AB0DE1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45697" y="3128963"/>
            <a:ext cx="6067269" cy="6605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124"/>
              </a:lnSpc>
              <a:buNone/>
            </a:pPr>
            <a:r>
              <a:rPr sz="2250" b="1">
                <a:solidFill>
                  <a:srgbClr val="2E63B7"/>
                </a:solidFill>
                <a:latin typeface="JASO Sans Bold"/>
                <a:ea typeface="JASO Sans Bold"/>
                <a:cs typeface="JASO Sans Bold"/>
              </a:rPr>
              <a:t>사용자에게 필요한 것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B3E4546A-01B2-4FE2-A1B1-25C77F89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9463" y="3936206"/>
            <a:ext cx="6759737" cy="3067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sz="2100">
                <a:solidFill>
                  <a:srgbClr val="9299A3"/>
                </a:solidFill>
                <a:latin typeface="JASO Sans"/>
                <a:ea typeface="JASO Sans"/>
                <a:cs typeface="JASO Sans"/>
              </a:rPr>
              <a:t>자유로운 자연어 질문</a:t>
            </a:r>
          </a:p>
          <a:p xmlns:a="http://schemas.openxmlformats.org/drawingml/2006/main"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sz="2100">
                <a:solidFill>
                  <a:srgbClr val="9299A3"/>
                </a:solidFill>
                <a:latin typeface="JASO Sans"/>
                <a:ea typeface="JASO Sans"/>
                <a:cs typeface="JASO Sans"/>
              </a:rPr>
              <a:t>금액·기간·대상의 정확한 조건</a:t>
            </a:r>
          </a:p>
          <a:p xmlns:a="http://schemas.openxmlformats.org/drawingml/2006/main"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sz="2100">
                <a:solidFill>
                  <a:srgbClr val="9299A3"/>
                </a:solidFill>
                <a:latin typeface="JASO Sans"/>
                <a:ea typeface="JASO Sans"/>
                <a:cs typeface="JASO Sans"/>
              </a:rPr>
              <a:t>절차·서류·신청 페이지</a:t>
            </a:r>
          </a:p>
          <a:p xmlns:a="http://schemas.openxmlformats.org/drawingml/2006/main"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sz="2100">
                <a:solidFill>
                  <a:srgbClr val="9299A3"/>
                </a:solidFill>
                <a:latin typeface="JASO Sans"/>
                <a:ea typeface="JASO Sans"/>
                <a:cs typeface="JASO Sans"/>
              </a:rPr>
              <a:t>확인 가능한 공식 출처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7CE33D39-C9EC-430D-9AC0-D7EAD539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8065294"/>
            <a:ext cx="16159162" cy="1243012"/>
          </a:xfrm>
          <a:custGeom xmlns:a="http://schemas.openxmlformats.org/drawingml/2006/main">
            <a:rect l="l" t="t" r="r" b="b"/>
            <a:pathLst>
              <a:path w="21545550" h="1657350">
                <a:moveTo>
                  <a:pt x="0" y="231267"/>
                </a:moveTo>
                <a:cubicBezTo>
                  <a:pt x="0" y="103505"/>
                  <a:pt x="103505" y="0"/>
                  <a:pt x="231267" y="0"/>
                </a:cubicBezTo>
                <a:lnTo>
                  <a:pt x="21314283" y="0"/>
                </a:lnTo>
                <a:cubicBezTo>
                  <a:pt x="21442046" y="0"/>
                  <a:pt x="21545550" y="103505"/>
                  <a:pt x="21545550" y="231267"/>
                </a:cubicBezTo>
                <a:lnTo>
                  <a:pt x="21545550" y="1426083"/>
                </a:lnTo>
                <a:cubicBezTo>
                  <a:pt x="21545550" y="1553845"/>
                  <a:pt x="21442046" y="1657350"/>
                  <a:pt x="21314283" y="1657350"/>
                </a:cubicBezTo>
                <a:lnTo>
                  <a:pt x="231267" y="1657350"/>
                </a:lnTo>
                <a:cubicBezTo>
                  <a:pt x="103505" y="1657350"/>
                  <a:pt x="0" y="1553845"/>
                  <a:pt x="0" y="1426083"/>
                </a:cubicBezTo>
                <a:close/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7264C3B-D060-4254-AD04-AA85A3E2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8433651"/>
            <a:ext cx="15630525" cy="1022452"/>
          </a:xfrm>
          <a:custGeom xmlns:a="http://schemas.openxmlformats.org/drawingml/2006/main">
            <a:rect l="l" t="t" r="r" b="b"/>
            <a:pathLst>
              <a:path w="20840700" h="1363269">
                <a:moveTo>
                  <a:pt x="0" y="0"/>
                </a:moveTo>
                <a:lnTo>
                  <a:pt x="20840700" y="0"/>
                </a:lnTo>
                <a:lnTo>
                  <a:pt x="20840700" y="1363269"/>
                </a:lnTo>
                <a:lnTo>
                  <a:pt x="0" y="136326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3d0831b3384ec7">
              <a:alphaModFix amt="0"/>
            </a:blip>
            <a:stretch>
              <a:fillRect l="0" t="-246170" r="0" b="-249576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3FC42F8-898E-43BA-93A5-C6321A82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8433651"/>
            <a:ext cx="15630525" cy="10224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584"/>
              </a:lnSpc>
              <a:buNone/>
            </a:pPr>
            <a:r>
              <a:rPr sz="2100" b="1">
                <a:solidFill>
                  <a:srgbClr val="2E63B7"/>
                </a:solidFill>
                <a:latin typeface="JASO Sans Bold"/>
                <a:ea typeface="JASO Sans Bold"/>
                <a:cs typeface="JASO Sans Bold"/>
              </a:rPr>
              <a:t>핵심 문제  |  답을 만드는 것보다 ‘공식 근거를 따라 답하게 만드는 것’이 더 중요했습니다</a:t>
            </a: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7523ED84-8748-4219-B1F2-8ADDF7D1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756172"/>
            <a:ext cx="16002000" cy="771525"/>
          </a:xfrm>
          <a:custGeom xmlns:a="http://schemas.openxmlformats.org/drawingml/2006/main">
            <a:rect l="l" t="t" r="r" b="b"/>
            <a:pathLst>
              <a:path w="21336000" h="1028700">
                <a:moveTo>
                  <a:pt x="0" y="0"/>
                </a:moveTo>
                <a:lnTo>
                  <a:pt x="21336000" y="0"/>
                </a:lnTo>
                <a:lnTo>
                  <a:pt x="21336000" y="1028700"/>
                </a:lnTo>
                <a:lnTo>
                  <a:pt x="0" y="102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3d0831b3384ec7">
              <a:alphaModFix amt="0"/>
            </a:blip>
            <a:stretch>
              <a:fillRect l="0" t="-354134" r="0" b="-354134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E76497B4-3532-400F-B4B0-EE50EF4D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749029"/>
            <a:ext cx="16002000" cy="778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640"/>
              </a:lnSpc>
              <a:buNone/>
            </a:pPr>
            <a:r>
              <a:rPr sz="2100">
                <a:solidFill>
                  <a:srgbClr val="202020"/>
                </a:solidFill>
                <a:latin typeface="JASO Sans"/>
                <a:ea typeface="JASO Sans"/>
                <a:cs typeface="JASO Sans"/>
              </a:rPr>
              <a:t>문제 정의</a:t>
            </a:r>
          </a:p>
        </p:txBody>
      </p:sp>
    </p:spTree>
    <p:extLst>
      <p:ext uri="{BB962C8B-B14F-4D97-AF65-F5344CB8AC3E}">
        <p14:creationId xmlns:p14="http://schemas.microsoft.com/office/powerpoint/2010/main" val="2130857775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3D70C6">
                <a:alpha val="100000"/>
              </a:srgbClr>
            </a:gs>
            <a:gs pos="100000">
              <a:srgbClr val="17448F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7B6A7C8-5D84-4A5A-BE26-64BC5A7B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906" y="335756"/>
            <a:ext cx="17502188" cy="9615488"/>
          </a:xfrm>
          <a:custGeom xmlns:a="http://schemas.openxmlformats.org/drawingml/2006/main">
            <a:rect l="l" t="t" r="r" b="b"/>
            <a:pathLst>
              <a:path w="23336250" h="12820650">
                <a:moveTo>
                  <a:pt x="0" y="305308"/>
                </a:moveTo>
                <a:cubicBezTo>
                  <a:pt x="0" y="136652"/>
                  <a:pt x="136652" y="0"/>
                  <a:pt x="305308" y="0"/>
                </a:cubicBezTo>
                <a:lnTo>
                  <a:pt x="23030942" y="0"/>
                </a:lnTo>
                <a:cubicBezTo>
                  <a:pt x="23199471" y="0"/>
                  <a:pt x="23336250" y="136652"/>
                  <a:pt x="23336250" y="305308"/>
                </a:cubicBezTo>
                <a:lnTo>
                  <a:pt x="23336250" y="12515342"/>
                </a:lnTo>
                <a:cubicBezTo>
                  <a:pt x="23336250" y="12683872"/>
                  <a:pt x="23199598" y="12820650"/>
                  <a:pt x="23030942" y="12820650"/>
                </a:cubicBezTo>
                <a:lnTo>
                  <a:pt x="305308" y="12820650"/>
                </a:lnTo>
                <a:cubicBezTo>
                  <a:pt x="136652" y="12820650"/>
                  <a:pt x="0" y="12683998"/>
                  <a:pt x="0" y="125153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EAF1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A4CCF0A-5C69-4221-9D8C-9E543EF9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42925"/>
            <a:ext cx="16002000" cy="257175"/>
          </a:xfrm>
          <a:custGeom xmlns:a="http://schemas.openxmlformats.org/drawingml/2006/main">
            <a:rect l="l" t="t" r="r" b="b"/>
            <a:pathLst>
              <a:path w="21336000" h="342900">
                <a:moveTo>
                  <a:pt x="0" y="0"/>
                </a:moveTo>
                <a:lnTo>
                  <a:pt x="21336000" y="0"/>
                </a:lnTo>
                <a:lnTo>
                  <a:pt x="21336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150c00d1908474f">
              <a:alphaModFix amt="0"/>
            </a:blip>
            <a:stretch>
              <a:fillRect l="0" t="-1162402" r="0" b="-1162402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20B84B2-2B31-469F-8EB3-DF86D50D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28638"/>
            <a:ext cx="16002000" cy="2714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123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01 프로젝트 개요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1C99FD4-BE04-452F-BC7B-DA36181A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842962"/>
            <a:ext cx="16002000" cy="771525"/>
          </a:xfrm>
          <a:custGeom xmlns:a="http://schemas.openxmlformats.org/drawingml/2006/main">
            <a:rect l="l" t="t" r="r" b="b"/>
            <a:pathLst>
              <a:path w="21336000" h="1028700">
                <a:moveTo>
                  <a:pt x="0" y="0"/>
                </a:moveTo>
                <a:lnTo>
                  <a:pt x="21336000" y="0"/>
                </a:lnTo>
                <a:lnTo>
                  <a:pt x="21336000" y="1028700"/>
                </a:lnTo>
                <a:lnTo>
                  <a:pt x="0" y="102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150c00d1908474f">
              <a:alphaModFix amt="0"/>
            </a:blip>
            <a:stretch>
              <a:fillRect l="0" t="-354134" r="0" b="-354134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867FA08-18C4-4C86-821D-3D34B272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85812"/>
            <a:ext cx="16002000" cy="82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455"/>
              </a:lnSpc>
              <a:buNone/>
            </a:pPr>
            <a:r>
              <a:rPr sz="3712">
                <a:solidFill>
                  <a:srgbClr val="202020"/>
                </a:solidFill>
                <a:latin typeface="Calibri (MS)"/>
                <a:ea typeface="Calibri (MS)"/>
                <a:cs typeface="Calibri (MS)"/>
              </a:rPr>
              <a:t>해결책은 ‘질문 → 분류 → 검색 → 근거 답변’의 연결입니다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96960826-0738-4450-9C78-28BE91DD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85912"/>
            <a:ext cx="14859000" cy="314325"/>
          </a:xfrm>
          <a:custGeom xmlns:a="http://schemas.openxmlformats.org/drawingml/2006/main">
            <a:rect l="l" t="t" r="r" b="b"/>
            <a:pathLst>
              <a:path w="19812000" h="419100">
                <a:moveTo>
                  <a:pt x="0" y="0"/>
                </a:moveTo>
                <a:lnTo>
                  <a:pt x="19812000" y="0"/>
                </a:lnTo>
                <a:lnTo>
                  <a:pt x="19812000" y="419100"/>
                </a:lnTo>
                <a:lnTo>
                  <a:pt x="0" y="419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150c00d1908474f">
              <a:alphaModFix amt="0"/>
            </a:blip>
            <a:stretch>
              <a:fillRect l="0" t="-871110" r="0" b="-87111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8312974-D1CF-4B22-8F80-1044BB83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71625"/>
            <a:ext cx="14859000" cy="3286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모델 하나가 아니라, 잘못된 답을 막는 단계별 구조를 설계했습니다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1A7B5719-2178-41DB-B117-C4F8520D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114550"/>
            <a:ext cx="16002000" cy="14288"/>
          </a:xfrm>
          <a:custGeom xmlns:a="http://schemas.openxmlformats.org/drawingml/2006/main">
            <a:rect l="l" t="t" r="r" b="b"/>
            <a:pathLst>
              <a:path w="21336000" h="19050">
                <a:moveTo>
                  <a:pt x="0" y="0"/>
                </a:moveTo>
                <a:lnTo>
                  <a:pt x="21336000" y="0"/>
                </a:lnTo>
                <a:lnTo>
                  <a:pt x="21336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B1044CBE-F059-4C44-87DA-CF360001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9572625"/>
            <a:ext cx="16630650" cy="14288"/>
          </a:xfrm>
          <a:custGeom xmlns:a="http://schemas.openxmlformats.org/drawingml/2006/main">
            <a:rect l="l" t="t" r="r" b="b"/>
            <a:pathLst>
              <a:path w="22174200" h="19050">
                <a:moveTo>
                  <a:pt x="0" y="0"/>
                </a:moveTo>
                <a:lnTo>
                  <a:pt x="22174200" y="0"/>
                </a:lnTo>
                <a:lnTo>
                  <a:pt x="221742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17831E8C-38FA-4330-802B-68D9A71C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44062"/>
            <a:ext cx="8286750" cy="257175"/>
          </a:xfrm>
          <a:custGeom xmlns:a="http://schemas.openxmlformats.org/drawingml/2006/main">
            <a:rect l="l" t="t" r="r" b="b"/>
            <a:pathLst>
              <a:path w="11049000" h="342900">
                <a:moveTo>
                  <a:pt x="0" y="0"/>
                </a:moveTo>
                <a:lnTo>
                  <a:pt x="11049000" y="0"/>
                </a:lnTo>
                <a:lnTo>
                  <a:pt x="11049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150c00d1908474f">
              <a:alphaModFix amt="0"/>
            </a:blip>
            <a:stretch>
              <a:fillRect l="0" t="-577851" r="0" b="-577851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EBB5E52A-666E-45CD-9791-4F62CEC6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22631"/>
            <a:ext cx="8286750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1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KDIC AI 챗봇 | 와쿠와쿠 6조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64117889-60E5-4979-8FC5-F2A2E8B7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44062"/>
            <a:ext cx="1000125" cy="257175"/>
          </a:xfrm>
          <a:custGeom xmlns:a="http://schemas.openxmlformats.org/drawingml/2006/main">
            <a:rect l="l" t="t" r="r" b="b"/>
            <a:pathLst>
              <a:path w="1333500" h="342900">
                <a:moveTo>
                  <a:pt x="0" y="0"/>
                </a:moveTo>
                <a:lnTo>
                  <a:pt x="1333500" y="0"/>
                </a:lnTo>
                <a:lnTo>
                  <a:pt x="13335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150c00d1908474f">
              <a:alphaModFix amt="0"/>
            </a:blip>
            <a:stretch>
              <a:fillRect l="0" t="-25775" r="0" b="-25775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4315E2D-7B5A-4DC5-B7A4-F94A4554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22631"/>
            <a:ext cx="1000125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350"/>
              </a:lnSpc>
              <a:buNone/>
            </a:pPr>
            <a:r>
              <a:rPr sz="11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03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305F625C-81EB-4550-88CC-4889718B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2850356"/>
            <a:ext cx="5157788" cy="4443412"/>
          </a:xfrm>
          <a:custGeom xmlns:a="http://schemas.openxmlformats.org/drawingml/2006/main">
            <a:rect l="l" t="t" r="r" b="b"/>
            <a:pathLst>
              <a:path w="6877050" h="5924550">
                <a:moveTo>
                  <a:pt x="0" y="229362"/>
                </a:moveTo>
                <a:cubicBezTo>
                  <a:pt x="0" y="102616"/>
                  <a:pt x="102616" y="0"/>
                  <a:pt x="229362" y="0"/>
                </a:cubicBezTo>
                <a:lnTo>
                  <a:pt x="6647688" y="0"/>
                </a:lnTo>
                <a:cubicBezTo>
                  <a:pt x="6774307" y="0"/>
                  <a:pt x="6877050" y="102616"/>
                  <a:pt x="6877050" y="229362"/>
                </a:cubicBezTo>
                <a:lnTo>
                  <a:pt x="6877050" y="5695188"/>
                </a:lnTo>
                <a:cubicBezTo>
                  <a:pt x="6877050" y="5821807"/>
                  <a:pt x="6774434" y="5924550"/>
                  <a:pt x="6647688" y="5924550"/>
                </a:cubicBezTo>
                <a:lnTo>
                  <a:pt x="229362" y="5924550"/>
                </a:lnTo>
                <a:cubicBezTo>
                  <a:pt x="102616" y="5924550"/>
                  <a:pt x="0" y="5821934"/>
                  <a:pt x="0" y="5695188"/>
                </a:cubicBezTo>
                <a:close/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274D2E35-C6D6-4F55-BF1D-BBE0F113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3057525"/>
            <a:ext cx="4514850" cy="428625"/>
          </a:xfrm>
          <a:custGeom xmlns:a="http://schemas.openxmlformats.org/drawingml/2006/main">
            <a:rect l="l" t="t" r="r" b="b"/>
            <a:pathLst>
              <a:path w="6019800" h="571500">
                <a:moveTo>
                  <a:pt x="0" y="0"/>
                </a:moveTo>
                <a:lnTo>
                  <a:pt x="6019800" y="0"/>
                </a:lnTo>
                <a:lnTo>
                  <a:pt x="60198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150c00d1908474f">
              <a:alphaModFix amt="0"/>
            </a:blip>
            <a:stretch>
              <a:fillRect l="0" t="-155242" r="0" b="-155242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D8660F8-EB61-4FDC-AB58-02664DA4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3028950"/>
            <a:ext cx="4514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① 질문 입력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17987D80-20E8-45F0-8E25-591FBE40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3636645"/>
            <a:ext cx="4331970" cy="3347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FAQ 선택 또는
자유로운 자연어 질문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C53FC057-8BA7-45BA-A408-2EBCF2FB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93606" y="2850356"/>
            <a:ext cx="5157788" cy="4443412"/>
          </a:xfrm>
          <a:custGeom xmlns:a="http://schemas.openxmlformats.org/drawingml/2006/main">
            <a:rect l="l" t="t" r="r" b="b"/>
            <a:pathLst>
              <a:path w="6877050" h="5924550">
                <a:moveTo>
                  <a:pt x="0" y="229362"/>
                </a:moveTo>
                <a:cubicBezTo>
                  <a:pt x="0" y="102616"/>
                  <a:pt x="102616" y="0"/>
                  <a:pt x="229362" y="0"/>
                </a:cubicBezTo>
                <a:lnTo>
                  <a:pt x="6647688" y="0"/>
                </a:lnTo>
                <a:cubicBezTo>
                  <a:pt x="6774307" y="0"/>
                  <a:pt x="6877050" y="102616"/>
                  <a:pt x="6877050" y="229362"/>
                </a:cubicBezTo>
                <a:lnTo>
                  <a:pt x="6877050" y="5695188"/>
                </a:lnTo>
                <a:cubicBezTo>
                  <a:pt x="6877050" y="5821807"/>
                  <a:pt x="6774434" y="5924550"/>
                  <a:pt x="6647688" y="5924550"/>
                </a:cubicBezTo>
                <a:lnTo>
                  <a:pt x="229362" y="5924550"/>
                </a:lnTo>
                <a:cubicBezTo>
                  <a:pt x="102616" y="5924550"/>
                  <a:pt x="0" y="5821934"/>
                  <a:pt x="0" y="5695188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C4710519-9DCF-4B86-832D-1E0A3E4D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15075" y="3057525"/>
            <a:ext cx="4514850" cy="428625"/>
          </a:xfrm>
          <a:custGeom xmlns:a="http://schemas.openxmlformats.org/drawingml/2006/main">
            <a:rect l="l" t="t" r="r" b="b"/>
            <a:pathLst>
              <a:path w="6019800" h="571500">
                <a:moveTo>
                  <a:pt x="0" y="0"/>
                </a:moveTo>
                <a:lnTo>
                  <a:pt x="6019800" y="0"/>
                </a:lnTo>
                <a:lnTo>
                  <a:pt x="60198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150c00d1908474f">
              <a:alphaModFix amt="0"/>
            </a:blip>
            <a:stretch>
              <a:fillRect l="0" t="-155242" r="0" b="-155242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3D398517-6D26-4433-8204-97B9B78A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15075" y="3028950"/>
            <a:ext cx="4514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② 업무·의도 분류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F3761695-A6EE-4502-B227-DF345E6E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6515" y="3636645"/>
            <a:ext cx="4331970" cy="3347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자동 분류하고
사용자가 버튼으로 보정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1387DCA9-F1B3-4014-9E69-F6AB6658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22856" y="2850356"/>
            <a:ext cx="5729288" cy="4443412"/>
          </a:xfrm>
          <a:custGeom xmlns:a="http://schemas.openxmlformats.org/drawingml/2006/main">
            <a:rect l="l" t="t" r="r" b="b"/>
            <a:pathLst>
              <a:path w="7639050" h="5924550">
                <a:moveTo>
                  <a:pt x="0" y="229362"/>
                </a:moveTo>
                <a:cubicBezTo>
                  <a:pt x="0" y="102616"/>
                  <a:pt x="102616" y="0"/>
                  <a:pt x="229362" y="0"/>
                </a:cubicBezTo>
                <a:lnTo>
                  <a:pt x="7409688" y="0"/>
                </a:lnTo>
                <a:cubicBezTo>
                  <a:pt x="7536307" y="0"/>
                  <a:pt x="7639050" y="102616"/>
                  <a:pt x="7639050" y="229362"/>
                </a:cubicBezTo>
                <a:lnTo>
                  <a:pt x="7639050" y="5695188"/>
                </a:lnTo>
                <a:cubicBezTo>
                  <a:pt x="7639050" y="5821807"/>
                  <a:pt x="7536434" y="5924550"/>
                  <a:pt x="7409688" y="5924550"/>
                </a:cubicBezTo>
                <a:lnTo>
                  <a:pt x="229362" y="5924550"/>
                </a:lnTo>
                <a:cubicBezTo>
                  <a:pt x="102616" y="5924550"/>
                  <a:pt x="0" y="5821934"/>
                  <a:pt x="0" y="5695188"/>
                </a:cubicBezTo>
                <a:close/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5573936F-511A-49AF-A990-35E7E8FB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4325" y="3057525"/>
            <a:ext cx="5086350" cy="428625"/>
          </a:xfrm>
          <a:custGeom xmlns:a="http://schemas.openxmlformats.org/drawingml/2006/main">
            <a:rect l="l" t="t" r="r" b="b"/>
            <a:pathLst>
              <a:path w="6781800" h="571500">
                <a:moveTo>
                  <a:pt x="0" y="0"/>
                </a:moveTo>
                <a:lnTo>
                  <a:pt x="6781800" y="0"/>
                </a:lnTo>
                <a:lnTo>
                  <a:pt x="67818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150c00d1908474f">
              <a:alphaModFix amt="0"/>
            </a:blip>
            <a:stretch>
              <a:fillRect l="0" t="-181222" r="0" b="-181222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FBBF0722-CA2B-4933-BA8C-6525DB76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44325" y="3028950"/>
            <a:ext cx="5086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③ 근거 검색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5CA0486B-86C8-48BF-B587-1C4502A3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35765" y="3636645"/>
            <a:ext cx="4903470" cy="33470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업무 필터 안에서
관련 청크만 검색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2465C2EB-3EAF-4A96-84AA-6C86E3A5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7779544"/>
            <a:ext cx="16587788" cy="1300162"/>
          </a:xfrm>
          <a:custGeom xmlns:a="http://schemas.openxmlformats.org/drawingml/2006/main">
            <a:rect l="l" t="t" r="r" b="b"/>
            <a:pathLst>
              <a:path w="22117050" h="1733550">
                <a:moveTo>
                  <a:pt x="0" y="231140"/>
                </a:moveTo>
                <a:cubicBezTo>
                  <a:pt x="0" y="103505"/>
                  <a:pt x="103505" y="0"/>
                  <a:pt x="231140" y="0"/>
                </a:cubicBezTo>
                <a:lnTo>
                  <a:pt x="21885911" y="0"/>
                </a:lnTo>
                <a:cubicBezTo>
                  <a:pt x="22013546" y="0"/>
                  <a:pt x="22117050" y="103505"/>
                  <a:pt x="22117050" y="231140"/>
                </a:cubicBezTo>
                <a:lnTo>
                  <a:pt x="22117050" y="1502410"/>
                </a:lnTo>
                <a:cubicBezTo>
                  <a:pt x="22117050" y="1630045"/>
                  <a:pt x="22013546" y="1733550"/>
                  <a:pt x="21885911" y="1733550"/>
                </a:cubicBezTo>
                <a:lnTo>
                  <a:pt x="231140" y="1733550"/>
                </a:lnTo>
                <a:cubicBezTo>
                  <a:pt x="103505" y="1733550"/>
                  <a:pt x="0" y="1630045"/>
                  <a:pt x="0" y="1502410"/>
                </a:cubicBezTo>
                <a:close/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6DF31032-8B96-4CFD-8DC0-AC722025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7986712"/>
            <a:ext cx="15944850" cy="428625"/>
          </a:xfrm>
          <a:custGeom xmlns:a="http://schemas.openxmlformats.org/drawingml/2006/main">
            <a:rect l="l" t="t" r="r" b="b"/>
            <a:pathLst>
              <a:path w="21259800" h="571500">
                <a:moveTo>
                  <a:pt x="0" y="0"/>
                </a:moveTo>
                <a:lnTo>
                  <a:pt x="21259800" y="0"/>
                </a:lnTo>
                <a:lnTo>
                  <a:pt x="212598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150c00d1908474f">
              <a:alphaModFix amt="0"/>
            </a:blip>
            <a:stretch>
              <a:fillRect l="0" t="-674843" r="0" b="-674843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2D3EA2E2-3800-4DB5-856C-ACAE784B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7958137"/>
            <a:ext cx="15944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④ 답변 정책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00A56C3C-771F-42F4-98F5-A3A894DA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8565832"/>
            <a:ext cx="1576197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25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절차·서류·링크·출처
근거 없으면 모름 처리</a:t>
            </a:r>
          </a:p>
        </p:txBody>
      </p:sp>
    </p:spTree>
    <p:extLst>
      <p:ext uri="{BB962C8B-B14F-4D97-AF65-F5344CB8AC3E}">
        <p14:creationId xmlns:p14="http://schemas.microsoft.com/office/powerpoint/2010/main" val="1923698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3D70C6">
                <a:alpha val="100000"/>
              </a:srgbClr>
            </a:gs>
            <a:gs pos="100000">
              <a:srgbClr val="17448F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8EAB553-FD6F-4134-924B-B59CA950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906" y="335756"/>
            <a:ext cx="17502188" cy="9615488"/>
          </a:xfrm>
          <a:custGeom xmlns:a="http://schemas.openxmlformats.org/drawingml/2006/main">
            <a:rect l="l" t="t" r="r" b="b"/>
            <a:pathLst>
              <a:path w="23336250" h="12820650">
                <a:moveTo>
                  <a:pt x="0" y="305308"/>
                </a:moveTo>
                <a:cubicBezTo>
                  <a:pt x="0" y="136652"/>
                  <a:pt x="136652" y="0"/>
                  <a:pt x="305308" y="0"/>
                </a:cubicBezTo>
                <a:lnTo>
                  <a:pt x="23030942" y="0"/>
                </a:lnTo>
                <a:cubicBezTo>
                  <a:pt x="23199471" y="0"/>
                  <a:pt x="23336250" y="136652"/>
                  <a:pt x="23336250" y="305308"/>
                </a:cubicBezTo>
                <a:lnTo>
                  <a:pt x="23336250" y="12515342"/>
                </a:lnTo>
                <a:cubicBezTo>
                  <a:pt x="23336250" y="12683872"/>
                  <a:pt x="23199598" y="12820650"/>
                  <a:pt x="23030942" y="12820650"/>
                </a:cubicBezTo>
                <a:lnTo>
                  <a:pt x="305308" y="12820650"/>
                </a:lnTo>
                <a:cubicBezTo>
                  <a:pt x="136652" y="12820650"/>
                  <a:pt x="0" y="12683998"/>
                  <a:pt x="0" y="125153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EAF1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37C7816-CD6B-47D4-AC46-E39C135F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42925"/>
            <a:ext cx="16002000" cy="257175"/>
          </a:xfrm>
          <a:custGeom xmlns:a="http://schemas.openxmlformats.org/drawingml/2006/main">
            <a:rect l="l" t="t" r="r" b="b"/>
            <a:pathLst>
              <a:path w="21336000" h="342900">
                <a:moveTo>
                  <a:pt x="0" y="0"/>
                </a:moveTo>
                <a:lnTo>
                  <a:pt x="21336000" y="0"/>
                </a:lnTo>
                <a:lnTo>
                  <a:pt x="21336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0" t="-1162402" r="0" b="-1162402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5BA6795-05CC-49B4-AAC5-4B9A431B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28638"/>
            <a:ext cx="16002000" cy="2714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123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01 프로젝트 개요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69FB5E31-EFBA-4235-99AE-FDEEC5BE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842962"/>
            <a:ext cx="16002000" cy="771525"/>
          </a:xfrm>
          <a:custGeom xmlns:a="http://schemas.openxmlformats.org/drawingml/2006/main">
            <a:rect l="l" t="t" r="r" b="b"/>
            <a:pathLst>
              <a:path w="21336000" h="1028700">
                <a:moveTo>
                  <a:pt x="0" y="0"/>
                </a:moveTo>
                <a:lnTo>
                  <a:pt x="21336000" y="0"/>
                </a:lnTo>
                <a:lnTo>
                  <a:pt x="21336000" y="1028700"/>
                </a:lnTo>
                <a:lnTo>
                  <a:pt x="0" y="102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0" t="-354134" r="0" b="-354134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8BCF623C-0811-42CC-ACEE-1EED3221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85812"/>
            <a:ext cx="16002000" cy="82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455"/>
              </a:lnSpc>
              <a:buNone/>
            </a:pPr>
            <a:r>
              <a:rPr sz="3712">
                <a:solidFill>
                  <a:srgbClr val="202020"/>
                </a:solidFill>
                <a:latin typeface="Calibri (MS)"/>
                <a:ea typeface="Calibri (MS)"/>
                <a:cs typeface="Calibri (MS)"/>
              </a:rPr>
              <a:t>프로젝트 1에서 이미 챗봇의 지식 기반을 만들었습니다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A47B566A-7002-4568-8989-89082345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85912"/>
            <a:ext cx="14859000" cy="314325"/>
          </a:xfrm>
          <a:custGeom xmlns:a="http://schemas.openxmlformats.org/drawingml/2006/main">
            <a:rect l="l" t="t" r="r" b="b"/>
            <a:pathLst>
              <a:path w="19812000" h="419100">
                <a:moveTo>
                  <a:pt x="0" y="0"/>
                </a:moveTo>
                <a:lnTo>
                  <a:pt x="19812000" y="0"/>
                </a:lnTo>
                <a:lnTo>
                  <a:pt x="19812000" y="419100"/>
                </a:lnTo>
                <a:lnTo>
                  <a:pt x="0" y="419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0" t="-871110" r="0" b="-87111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038E62C-26D6-4972-849F-7AF425D0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71625"/>
            <a:ext cx="14859000" cy="3286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이번 프로젝트는 새로 크롤링하는 대신, 준비된 데이터가 실제 답변에 쓰이도록 연결했습니다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6D6C030-6536-4765-BAE5-8593F452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114550"/>
            <a:ext cx="16002000" cy="14288"/>
          </a:xfrm>
          <a:custGeom xmlns:a="http://schemas.openxmlformats.org/drawingml/2006/main">
            <a:rect l="l" t="t" r="r" b="b"/>
            <a:pathLst>
              <a:path w="21336000" h="19050">
                <a:moveTo>
                  <a:pt x="0" y="0"/>
                </a:moveTo>
                <a:lnTo>
                  <a:pt x="21336000" y="0"/>
                </a:lnTo>
                <a:lnTo>
                  <a:pt x="21336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8897C9A-2048-4D35-9BC4-139E7417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9572625"/>
            <a:ext cx="16630650" cy="14288"/>
          </a:xfrm>
          <a:custGeom xmlns:a="http://schemas.openxmlformats.org/drawingml/2006/main">
            <a:rect l="l" t="t" r="r" b="b"/>
            <a:pathLst>
              <a:path w="22174200" h="19050">
                <a:moveTo>
                  <a:pt x="0" y="0"/>
                </a:moveTo>
                <a:lnTo>
                  <a:pt x="22174200" y="0"/>
                </a:lnTo>
                <a:lnTo>
                  <a:pt x="221742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62B7232-4449-4BCD-8B88-1C7032B9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44062"/>
            <a:ext cx="8286750" cy="257175"/>
          </a:xfrm>
          <a:custGeom xmlns:a="http://schemas.openxmlformats.org/drawingml/2006/main">
            <a:rect l="l" t="t" r="r" b="b"/>
            <a:pathLst>
              <a:path w="11049000" h="342900">
                <a:moveTo>
                  <a:pt x="0" y="0"/>
                </a:moveTo>
                <a:lnTo>
                  <a:pt x="11049000" y="0"/>
                </a:lnTo>
                <a:lnTo>
                  <a:pt x="11049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0" t="-577851" r="0" b="-577851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410828B-CEEC-4CC0-9DF5-E9A8AE7C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22631"/>
            <a:ext cx="8286750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1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KDIC AI 챗봇 | 와쿠와쿠 6조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75CCB6C-5701-414B-A3D0-ABD761E6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44062"/>
            <a:ext cx="1000125" cy="257175"/>
          </a:xfrm>
          <a:custGeom xmlns:a="http://schemas.openxmlformats.org/drawingml/2006/main">
            <a:rect l="l" t="t" r="r" b="b"/>
            <a:pathLst>
              <a:path w="1333500" h="342900">
                <a:moveTo>
                  <a:pt x="0" y="0"/>
                </a:moveTo>
                <a:lnTo>
                  <a:pt x="1333500" y="0"/>
                </a:lnTo>
                <a:lnTo>
                  <a:pt x="13335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0" t="-25775" r="0" b="-25775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5F6BC1CC-A528-4B24-A9B0-D4541402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22631"/>
            <a:ext cx="1000125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350"/>
              </a:lnSpc>
              <a:buNone/>
            </a:pPr>
            <a:r>
              <a:rPr sz="11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04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875D7107-17B9-481E-8735-32337202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928" y="3420428"/>
            <a:ext cx="2374583" cy="2446020"/>
          </a:xfrm>
          <a:custGeom xmlns:a="http://schemas.openxmlformats.org/drawingml/2006/main">
            <a:rect l="l" t="t" r="r" b="b"/>
            <a:pathLst>
              <a:path w="3166110" h="326136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2935859" y="0"/>
                </a:lnTo>
                <a:cubicBezTo>
                  <a:pt x="3062986" y="0"/>
                  <a:pt x="3166110" y="103124"/>
                  <a:pt x="3166110" y="230251"/>
                </a:cubicBezTo>
                <a:lnTo>
                  <a:pt x="3166110" y="3031109"/>
                </a:lnTo>
                <a:cubicBezTo>
                  <a:pt x="3166110" y="3158236"/>
                  <a:pt x="3062986" y="3261360"/>
                  <a:pt x="2935859" y="3261360"/>
                </a:cubicBezTo>
                <a:lnTo>
                  <a:pt x="230251" y="3261360"/>
                </a:lnTo>
                <a:cubicBezTo>
                  <a:pt x="103124" y="3261360"/>
                  <a:pt x="0" y="3158236"/>
                  <a:pt x="0" y="30311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8DCE3"/>
            </a:solidFill>
            <a:prstDash val="solid"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4669B168-3271-4A2C-ABF5-4B023E89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3686175"/>
            <a:ext cx="714375" cy="400050"/>
          </a:xfrm>
          <a:custGeom xmlns:a="http://schemas.openxmlformats.org/drawingml/2006/main">
            <a:rect l="l" t="t" r="r" b="b"/>
            <a:pathLst>
              <a:path w="952500" h="533400">
                <a:moveTo>
                  <a:pt x="0" y="0"/>
                </a:moveTo>
                <a:lnTo>
                  <a:pt x="952500" y="0"/>
                </a:lnTo>
                <a:lnTo>
                  <a:pt x="952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-21849" t="0" r="-21849" b="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841BDC71-6E41-400E-88A2-4D8CBFD8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3657600"/>
            <a:ext cx="714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01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F1A1B2A7-81BD-481C-82B7-AD4A5E3D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4214812"/>
            <a:ext cx="1857375" cy="600075"/>
          </a:xfrm>
          <a:custGeom xmlns:a="http://schemas.openxmlformats.org/drawingml/2006/main">
            <a:rect l="l" t="t" r="r" b="b"/>
            <a:pathLst>
              <a:path w="2476500" h="800100">
                <a:moveTo>
                  <a:pt x="0" y="0"/>
                </a:moveTo>
                <a:lnTo>
                  <a:pt x="2476500" y="0"/>
                </a:lnTo>
                <a:lnTo>
                  <a:pt x="2476500" y="800100"/>
                </a:lnTo>
                <a:lnTo>
                  <a:pt x="0" y="800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0" t="-10310" r="0" b="-10310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F7DC69C-B00C-4DAE-ABBF-A226828D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4186237"/>
            <a:ext cx="18573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1800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6개 업무</a:t>
            </a: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B86D64D-7C94-4C5D-88E2-B63B273F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5029200"/>
            <a:ext cx="1857375" cy="400050"/>
          </a:xfrm>
          <a:custGeom xmlns:a="http://schemas.openxmlformats.org/drawingml/2006/main">
            <a:rect l="l" t="t" r="r" b="b"/>
            <a:pathLst>
              <a:path w="2476500" h="533400">
                <a:moveTo>
                  <a:pt x="0" y="0"/>
                </a:moveTo>
                <a:lnTo>
                  <a:pt x="2476500" y="0"/>
                </a:lnTo>
                <a:lnTo>
                  <a:pt x="2476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0" t="-40466" r="0" b="-40466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76554B1-8E48-4D1D-8A24-9759B084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5014913"/>
            <a:ext cx="1857375" cy="414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예금자보호 등
독립된 6개 영역</a:t>
            </a: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FA884965-9FA5-46B1-A5F1-371B5568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8938" y="4157662"/>
            <a:ext cx="500062" cy="714375"/>
          </a:xfrm>
          <a:custGeom xmlns:a="http://schemas.openxmlformats.org/drawingml/2006/main">
            <a:rect l="l" t="t" r="r" b="b"/>
            <a:pathLst>
              <a:path w="666750" h="952500">
                <a:moveTo>
                  <a:pt x="0" y="0"/>
                </a:moveTo>
                <a:lnTo>
                  <a:pt x="666750" y="0"/>
                </a:lnTo>
                <a:lnTo>
                  <a:pt x="666750" y="952500"/>
                </a:lnTo>
                <a:lnTo>
                  <a:pt x="0" y="952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-133290" t="0" r="-133290" b="0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2C73452D-2FDC-4C71-94C6-7CAA0252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8938" y="4107656"/>
            <a:ext cx="500062" cy="764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</a:pPr>
            <a:r>
              <a:rPr sz="31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→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DAF1F4A-BE71-4238-8F7E-14B00D92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20428" y="3420428"/>
            <a:ext cx="2374583" cy="2446020"/>
          </a:xfrm>
          <a:custGeom xmlns:a="http://schemas.openxmlformats.org/drawingml/2006/main">
            <a:rect l="l" t="t" r="r" b="b"/>
            <a:pathLst>
              <a:path w="3166110" h="326136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2935859" y="0"/>
                </a:lnTo>
                <a:cubicBezTo>
                  <a:pt x="3062986" y="0"/>
                  <a:pt x="3166110" y="103124"/>
                  <a:pt x="3166110" y="230251"/>
                </a:cubicBezTo>
                <a:lnTo>
                  <a:pt x="3166110" y="3031109"/>
                </a:lnTo>
                <a:cubicBezTo>
                  <a:pt x="3166110" y="3158236"/>
                  <a:pt x="3062986" y="3261360"/>
                  <a:pt x="2935859" y="3261360"/>
                </a:cubicBezTo>
                <a:lnTo>
                  <a:pt x="230251" y="3261360"/>
                </a:lnTo>
                <a:cubicBezTo>
                  <a:pt x="103124" y="3261360"/>
                  <a:pt x="0" y="3158236"/>
                  <a:pt x="0" y="30311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8DCE3"/>
            </a:solidFill>
            <a:prstDash val="solid"/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C0B9F790-AC8A-47BF-9C03-6735F289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175" y="3686175"/>
            <a:ext cx="714375" cy="400050"/>
          </a:xfrm>
          <a:custGeom xmlns:a="http://schemas.openxmlformats.org/drawingml/2006/main">
            <a:rect l="l" t="t" r="r" b="b"/>
            <a:pathLst>
              <a:path w="952500" h="533400">
                <a:moveTo>
                  <a:pt x="0" y="0"/>
                </a:moveTo>
                <a:lnTo>
                  <a:pt x="952500" y="0"/>
                </a:lnTo>
                <a:lnTo>
                  <a:pt x="952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-21849" t="0" r="-21849" b="0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F6CF0A1D-550D-4E8E-9B30-B1A243F9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175" y="3657600"/>
            <a:ext cx="714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02</a:t>
            </a:r>
          </a:p>
        </p:txBody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5250612C-B7CF-4367-8CF8-18D91187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175" y="4214812"/>
            <a:ext cx="1857375" cy="600075"/>
          </a:xfrm>
          <a:custGeom xmlns:a="http://schemas.openxmlformats.org/drawingml/2006/main">
            <a:rect l="l" t="t" r="r" b="b"/>
            <a:pathLst>
              <a:path w="2476500" h="800100">
                <a:moveTo>
                  <a:pt x="0" y="0"/>
                </a:moveTo>
                <a:lnTo>
                  <a:pt x="2476500" y="0"/>
                </a:lnTo>
                <a:lnTo>
                  <a:pt x="2476500" y="800100"/>
                </a:lnTo>
                <a:lnTo>
                  <a:pt x="0" y="800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0" t="-10310" r="0" b="-10310"/>
            </a:stretch>
          </a:blipFill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16E0C182-CA23-494C-A1A2-29EA5285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175" y="4186237"/>
            <a:ext cx="18573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1800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웹페이지 수집</a:t>
            </a:r>
          </a:p>
        </p:txBody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9AD99925-5400-4357-9766-CC720F79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175" y="5029200"/>
            <a:ext cx="1857375" cy="400050"/>
          </a:xfrm>
          <a:custGeom xmlns:a="http://schemas.openxmlformats.org/drawingml/2006/main">
            <a:rect l="l" t="t" r="r" b="b"/>
            <a:pathLst>
              <a:path w="2476500" h="533400">
                <a:moveTo>
                  <a:pt x="0" y="0"/>
                </a:moveTo>
                <a:lnTo>
                  <a:pt x="2476500" y="0"/>
                </a:lnTo>
                <a:lnTo>
                  <a:pt x="2476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0" t="-40466" r="0" b="-40466"/>
            </a:stretch>
          </a:blipFill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87081469-54D3-4A4B-B6FC-B7C56CB5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175" y="5014913"/>
            <a:ext cx="1857375" cy="414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기준 URL·연관 페이지
표·링크·첨부 보존</a:t>
            </a:r>
          </a:p>
        </p:txBody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F34F75DE-B1D8-4B2D-8514-CAA011D3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86438" y="4157662"/>
            <a:ext cx="500062" cy="714375"/>
          </a:xfrm>
          <a:custGeom xmlns:a="http://schemas.openxmlformats.org/drawingml/2006/main">
            <a:rect l="l" t="t" r="r" b="b"/>
            <a:pathLst>
              <a:path w="666750" h="952500">
                <a:moveTo>
                  <a:pt x="0" y="0"/>
                </a:moveTo>
                <a:lnTo>
                  <a:pt x="666750" y="0"/>
                </a:lnTo>
                <a:lnTo>
                  <a:pt x="666750" y="952500"/>
                </a:lnTo>
                <a:lnTo>
                  <a:pt x="0" y="952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-133290" t="0" r="-133290" b="0"/>
            </a:stretch>
          </a:blipFill>
        </p:spPr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F099237A-41F4-415F-9159-076A5BDD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86438" y="4107656"/>
            <a:ext cx="500062" cy="764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</a:pPr>
            <a:r>
              <a:rPr sz="31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→</a:t>
            </a:r>
          </a:p>
        </p:txBody>
      </p:sp>
      <p:sp>
        <p:nvSpPr>
          <p:cNvPr id="52" name="Freeform 52">
            <a:extLst xmlns:a="http://schemas.openxmlformats.org/drawingml/2006/main">
              <a:ext uri="{FF2B5EF4-FFF2-40B4-BE49-F238E27FC236}">
                <a16:creationId xmlns:a16="http://schemas.microsoft.com/office/drawing/2014/main" id="{EA239372-D5AA-4481-A0C9-0EEDD300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7928" y="3420428"/>
            <a:ext cx="2374583" cy="2446020"/>
          </a:xfrm>
          <a:custGeom xmlns:a="http://schemas.openxmlformats.org/drawingml/2006/main">
            <a:rect l="l" t="t" r="r" b="b"/>
            <a:pathLst>
              <a:path w="3166110" h="326136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2935859" y="0"/>
                </a:lnTo>
                <a:cubicBezTo>
                  <a:pt x="3062986" y="0"/>
                  <a:pt x="3166110" y="103124"/>
                  <a:pt x="3166110" y="230251"/>
                </a:cubicBezTo>
                <a:lnTo>
                  <a:pt x="3166110" y="3031109"/>
                </a:lnTo>
                <a:cubicBezTo>
                  <a:pt x="3166110" y="3158236"/>
                  <a:pt x="3062986" y="3261360"/>
                  <a:pt x="2935859" y="3261360"/>
                </a:cubicBezTo>
                <a:lnTo>
                  <a:pt x="230251" y="3261360"/>
                </a:lnTo>
                <a:cubicBezTo>
                  <a:pt x="103124" y="3261360"/>
                  <a:pt x="0" y="3158236"/>
                  <a:pt x="0" y="30311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8DCE3"/>
            </a:solidFill>
            <a:prstDash val="solid"/>
          </a:ln>
        </p:spPr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8CFF0709-923F-40C5-B406-7ADAAE71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3675" y="3686175"/>
            <a:ext cx="714375" cy="400050"/>
          </a:xfrm>
          <a:custGeom xmlns:a="http://schemas.openxmlformats.org/drawingml/2006/main">
            <a:rect l="l" t="t" r="r" b="b"/>
            <a:pathLst>
              <a:path w="952500" h="533400">
                <a:moveTo>
                  <a:pt x="0" y="0"/>
                </a:moveTo>
                <a:lnTo>
                  <a:pt x="952500" y="0"/>
                </a:lnTo>
                <a:lnTo>
                  <a:pt x="952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-21849" t="0" r="-21849" b="0"/>
            </a:stretch>
          </a:blipFill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8718964E-9EF3-4703-826C-86997769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3675" y="3657600"/>
            <a:ext cx="714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03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F17FAFB0-934A-4C22-9DA2-A3F86941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3675" y="4214812"/>
            <a:ext cx="1857375" cy="600075"/>
          </a:xfrm>
          <a:custGeom xmlns:a="http://schemas.openxmlformats.org/drawingml/2006/main">
            <a:rect l="l" t="t" r="r" b="b"/>
            <a:pathLst>
              <a:path w="2476500" h="800100">
                <a:moveTo>
                  <a:pt x="0" y="0"/>
                </a:moveTo>
                <a:lnTo>
                  <a:pt x="2476500" y="0"/>
                </a:lnTo>
                <a:lnTo>
                  <a:pt x="2476500" y="800100"/>
                </a:lnTo>
                <a:lnTo>
                  <a:pt x="0" y="800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0" t="-10310" r="0" b="-10310"/>
            </a:stretch>
          </a:blipFill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91E328F8-01AF-4B95-8C8B-4B6257F7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3675" y="4186237"/>
            <a:ext cx="18573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1800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Markdown 정제</a:t>
            </a:r>
          </a:p>
        </p:txBody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58A2ED96-6B0F-4445-AA43-C420E607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3675" y="5029200"/>
            <a:ext cx="1857375" cy="400050"/>
          </a:xfrm>
          <a:custGeom xmlns:a="http://schemas.openxmlformats.org/drawingml/2006/main">
            <a:rect l="l" t="t" r="r" b="b"/>
            <a:pathLst>
              <a:path w="2476500" h="533400">
                <a:moveTo>
                  <a:pt x="0" y="0"/>
                </a:moveTo>
                <a:lnTo>
                  <a:pt x="2476500" y="0"/>
                </a:lnTo>
                <a:lnTo>
                  <a:pt x="2476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0" t="-40466" r="0" b="-40466"/>
            </a:stretch>
          </a:blipFill>
        </p:spPr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FB5730B4-562B-4748-BBE3-BA25C84E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3675" y="5014913"/>
            <a:ext cx="1857375" cy="414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HTML→Markdown
노이즈 제거</a:t>
            </a:r>
          </a:p>
        </p:txBody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335DB173-EDA2-417B-A05B-C50B1D26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3938" y="4157662"/>
            <a:ext cx="500062" cy="714375"/>
          </a:xfrm>
          <a:custGeom xmlns:a="http://schemas.openxmlformats.org/drawingml/2006/main">
            <a:rect l="l" t="t" r="r" b="b"/>
            <a:pathLst>
              <a:path w="666750" h="952500">
                <a:moveTo>
                  <a:pt x="0" y="0"/>
                </a:moveTo>
                <a:lnTo>
                  <a:pt x="666750" y="0"/>
                </a:lnTo>
                <a:lnTo>
                  <a:pt x="666750" y="952500"/>
                </a:lnTo>
                <a:lnTo>
                  <a:pt x="0" y="952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-133290" t="0" r="-133290" b="0"/>
            </a:stretch>
          </a:blipFill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E8736F05-2FBD-4A29-A75A-F6A82BAA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3938" y="4107656"/>
            <a:ext cx="500062" cy="764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</a:pPr>
            <a:r>
              <a:rPr sz="31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→</a:t>
            </a:r>
          </a:p>
        </p:txBody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A4179BA7-E76D-4C83-8601-7DC1C613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5428" y="3420428"/>
            <a:ext cx="2374583" cy="2446020"/>
          </a:xfrm>
          <a:custGeom xmlns:a="http://schemas.openxmlformats.org/drawingml/2006/main">
            <a:rect l="l" t="t" r="r" b="b"/>
            <a:pathLst>
              <a:path w="3166110" h="326136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2935859" y="0"/>
                </a:lnTo>
                <a:cubicBezTo>
                  <a:pt x="3062986" y="0"/>
                  <a:pt x="3166110" y="103124"/>
                  <a:pt x="3166110" y="230251"/>
                </a:cubicBezTo>
                <a:lnTo>
                  <a:pt x="3166110" y="3031109"/>
                </a:lnTo>
                <a:cubicBezTo>
                  <a:pt x="3166110" y="3158236"/>
                  <a:pt x="3062986" y="3261360"/>
                  <a:pt x="2935859" y="3261360"/>
                </a:cubicBezTo>
                <a:lnTo>
                  <a:pt x="230251" y="3261360"/>
                </a:lnTo>
                <a:cubicBezTo>
                  <a:pt x="103124" y="3261360"/>
                  <a:pt x="0" y="3158236"/>
                  <a:pt x="0" y="3031109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7145">
            <a:solidFill>
              <a:srgbClr val="2E63B7"/>
            </a:solidFill>
            <a:prstDash val="solid"/>
          </a:ln>
        </p:spPr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B04C2D91-1808-4069-BC52-431BDC1D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1175" y="3686175"/>
            <a:ext cx="714375" cy="400050"/>
          </a:xfrm>
          <a:custGeom xmlns:a="http://schemas.openxmlformats.org/drawingml/2006/main">
            <a:rect l="l" t="t" r="r" b="b"/>
            <a:pathLst>
              <a:path w="952500" h="533400">
                <a:moveTo>
                  <a:pt x="0" y="0"/>
                </a:moveTo>
                <a:lnTo>
                  <a:pt x="952500" y="0"/>
                </a:lnTo>
                <a:lnTo>
                  <a:pt x="952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-21849" t="0" r="-21849" b="0"/>
            </a:stretch>
          </a:blipFill>
        </p:spPr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06958AAD-B5CC-4811-8046-00E02E37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1175" y="3657600"/>
            <a:ext cx="714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04</a:t>
            </a:r>
          </a:p>
        </p:txBody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F8940D8E-B037-47DA-B19A-4BBB2686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1175" y="4214812"/>
            <a:ext cx="1857375" cy="600075"/>
          </a:xfrm>
          <a:custGeom xmlns:a="http://schemas.openxmlformats.org/drawingml/2006/main">
            <a:rect l="l" t="t" r="r" b="b"/>
            <a:pathLst>
              <a:path w="2476500" h="800100">
                <a:moveTo>
                  <a:pt x="0" y="0"/>
                </a:moveTo>
                <a:lnTo>
                  <a:pt x="2476500" y="0"/>
                </a:lnTo>
                <a:lnTo>
                  <a:pt x="2476500" y="800100"/>
                </a:lnTo>
                <a:lnTo>
                  <a:pt x="0" y="800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0" t="-10310" r="0" b="-10310"/>
            </a:stretch>
          </a:blipFill>
        </p:spPr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E0BE517A-652D-46DE-BAE5-1D46A1F1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1175" y="4186237"/>
            <a:ext cx="18573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1800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427개 청크</a:t>
            </a:r>
          </a:p>
        </p:txBody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BC454E6C-3AE4-490B-9BB3-B13D81EF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1175" y="5029200"/>
            <a:ext cx="1857375" cy="400050"/>
          </a:xfrm>
          <a:custGeom xmlns:a="http://schemas.openxmlformats.org/drawingml/2006/main">
            <a:rect l="l" t="t" r="r" b="b"/>
            <a:pathLst>
              <a:path w="2476500" h="533400">
                <a:moveTo>
                  <a:pt x="0" y="0"/>
                </a:moveTo>
                <a:lnTo>
                  <a:pt x="2476500" y="0"/>
                </a:lnTo>
                <a:lnTo>
                  <a:pt x="2476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0" t="-40466" r="0" b="-40466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BA5A9148-8AE7-463F-B906-F38B5535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1175" y="5014913"/>
            <a:ext cx="1857375" cy="414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Child 청크 검색
Parent 문맥 연결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9F74ECAB-4C54-4719-BD7D-BD039E17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01438" y="4157662"/>
            <a:ext cx="500062" cy="714375"/>
          </a:xfrm>
          <a:custGeom xmlns:a="http://schemas.openxmlformats.org/drawingml/2006/main">
            <a:rect l="l" t="t" r="r" b="b"/>
            <a:pathLst>
              <a:path w="666750" h="952500">
                <a:moveTo>
                  <a:pt x="0" y="0"/>
                </a:moveTo>
                <a:lnTo>
                  <a:pt x="666750" y="0"/>
                </a:lnTo>
                <a:lnTo>
                  <a:pt x="666750" y="952500"/>
                </a:lnTo>
                <a:lnTo>
                  <a:pt x="0" y="952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-133290" t="0" r="-133290" b="0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07D04698-79D2-4632-8E3E-FB2BCFE7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01438" y="4107656"/>
            <a:ext cx="500062" cy="764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</a:pPr>
            <a:r>
              <a:rPr sz="31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→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A2AEA6D8-3466-4CF6-9769-3F5AEA68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92928" y="3420428"/>
            <a:ext cx="2374583" cy="2446020"/>
          </a:xfrm>
          <a:custGeom xmlns:a="http://schemas.openxmlformats.org/drawingml/2006/main">
            <a:rect l="l" t="t" r="r" b="b"/>
            <a:pathLst>
              <a:path w="3166110" h="326136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2935859" y="0"/>
                </a:lnTo>
                <a:cubicBezTo>
                  <a:pt x="3062986" y="0"/>
                  <a:pt x="3166110" y="103124"/>
                  <a:pt x="3166110" y="230251"/>
                </a:cubicBezTo>
                <a:lnTo>
                  <a:pt x="3166110" y="3031109"/>
                </a:lnTo>
                <a:cubicBezTo>
                  <a:pt x="3166110" y="3158236"/>
                  <a:pt x="3062986" y="3261360"/>
                  <a:pt x="2935859" y="3261360"/>
                </a:cubicBezTo>
                <a:lnTo>
                  <a:pt x="230251" y="3261360"/>
                </a:lnTo>
                <a:cubicBezTo>
                  <a:pt x="103124" y="3261360"/>
                  <a:pt x="0" y="3158236"/>
                  <a:pt x="0" y="3031109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7145">
            <a:solidFill>
              <a:srgbClr val="2E63B7"/>
            </a:solidFill>
            <a:prstDash val="solid"/>
          </a:ln>
        </p:spPr>
      </p:sp>
      <p:sp>
        <p:nvSpPr>
          <p:cNvPr id="82" name="Freeform 82">
            <a:extLst xmlns:a="http://schemas.openxmlformats.org/drawingml/2006/main">
              <a:ext uri="{FF2B5EF4-FFF2-40B4-BE49-F238E27FC236}">
                <a16:creationId xmlns:a16="http://schemas.microsoft.com/office/drawing/2014/main" id="{B56C0177-07B2-4F3E-8C1B-BFB057DE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8675" y="3686175"/>
            <a:ext cx="714375" cy="400050"/>
          </a:xfrm>
          <a:custGeom xmlns:a="http://schemas.openxmlformats.org/drawingml/2006/main">
            <a:rect l="l" t="t" r="r" b="b"/>
            <a:pathLst>
              <a:path w="952500" h="533400">
                <a:moveTo>
                  <a:pt x="0" y="0"/>
                </a:moveTo>
                <a:lnTo>
                  <a:pt x="952500" y="0"/>
                </a:lnTo>
                <a:lnTo>
                  <a:pt x="952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-21849" t="0" r="-21849" b="0"/>
            </a:stretch>
          </a:blipFill>
        </p:spPr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4E8B482F-304A-4B26-AD97-9C712896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8675" y="3657600"/>
            <a:ext cx="714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05</a:t>
            </a:r>
          </a:p>
        </p:txBody>
      </p:sp>
      <p:sp>
        <p:nvSpPr>
          <p:cNvPr id="85" name="Freeform 85">
            <a:extLst xmlns:a="http://schemas.openxmlformats.org/drawingml/2006/main">
              <a:ext uri="{FF2B5EF4-FFF2-40B4-BE49-F238E27FC236}">
                <a16:creationId xmlns:a16="http://schemas.microsoft.com/office/drawing/2014/main" id="{DA09F453-DE17-42E8-A78F-D4B2F4AA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8675" y="4214812"/>
            <a:ext cx="1857375" cy="600075"/>
          </a:xfrm>
          <a:custGeom xmlns:a="http://schemas.openxmlformats.org/drawingml/2006/main">
            <a:rect l="l" t="t" r="r" b="b"/>
            <a:pathLst>
              <a:path w="2476500" h="800100">
                <a:moveTo>
                  <a:pt x="0" y="0"/>
                </a:moveTo>
                <a:lnTo>
                  <a:pt x="2476500" y="0"/>
                </a:lnTo>
                <a:lnTo>
                  <a:pt x="2476500" y="800100"/>
                </a:lnTo>
                <a:lnTo>
                  <a:pt x="0" y="800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0" t="-10310" r="0" b="-10310"/>
            </a:stretch>
          </a:blipFill>
        </p:spPr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251EDB20-E89E-4155-A6C5-79CDADA3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8675" y="4186237"/>
            <a:ext cx="18573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1800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1,024차원 벡터</a:t>
            </a:r>
          </a:p>
        </p:txBody>
      </p:sp>
      <p:sp>
        <p:nvSpPr>
          <p:cNvPr id="88" name="Freeform 88">
            <a:extLst xmlns:a="http://schemas.openxmlformats.org/drawingml/2006/main">
              <a:ext uri="{FF2B5EF4-FFF2-40B4-BE49-F238E27FC236}">
                <a16:creationId xmlns:a16="http://schemas.microsoft.com/office/drawing/2014/main" id="{7A9B83F8-3DE8-4922-909A-74137821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8675" y="5029200"/>
            <a:ext cx="1857375" cy="400050"/>
          </a:xfrm>
          <a:custGeom xmlns:a="http://schemas.openxmlformats.org/drawingml/2006/main">
            <a:rect l="l" t="t" r="r" b="b"/>
            <a:pathLst>
              <a:path w="2476500" h="533400">
                <a:moveTo>
                  <a:pt x="0" y="0"/>
                </a:moveTo>
                <a:lnTo>
                  <a:pt x="2476500" y="0"/>
                </a:lnTo>
                <a:lnTo>
                  <a:pt x="2476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0" t="-40466" r="0" b="-40466"/>
            </a:stretch>
          </a:blipFill>
        </p:spPr>
      </p:sp>
      <p:sp>
        <p:nvSpPr>
          <p:cNvPr id="89" name="TextBox 89">
            <a:extLst xmlns:a="http://schemas.openxmlformats.org/drawingml/2006/main">
              <a:ext uri="{FF2B5EF4-FFF2-40B4-BE49-F238E27FC236}">
                <a16:creationId xmlns:a16="http://schemas.microsoft.com/office/drawing/2014/main" id="{BB795C5B-0989-4A56-92A7-1E1BD0E1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8675" y="5014913"/>
            <a:ext cx="1857375" cy="414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bge-m3 임베딩
검색 가능한 벡터</a:t>
            </a:r>
          </a:p>
        </p:txBody>
      </p:sp>
      <p:sp>
        <p:nvSpPr>
          <p:cNvPr id="91" name="Freeform 91">
            <a:extLst xmlns:a="http://schemas.openxmlformats.org/drawingml/2006/main">
              <a:ext uri="{FF2B5EF4-FFF2-40B4-BE49-F238E27FC236}">
                <a16:creationId xmlns:a16="http://schemas.microsoft.com/office/drawing/2014/main" id="{E4266959-D36B-4605-ADA6-0DDA3BCD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58938" y="4157662"/>
            <a:ext cx="500062" cy="714375"/>
          </a:xfrm>
          <a:custGeom xmlns:a="http://schemas.openxmlformats.org/drawingml/2006/main">
            <a:rect l="l" t="t" r="r" b="b"/>
            <a:pathLst>
              <a:path w="666750" h="952500">
                <a:moveTo>
                  <a:pt x="0" y="0"/>
                </a:moveTo>
                <a:lnTo>
                  <a:pt x="666750" y="0"/>
                </a:lnTo>
                <a:lnTo>
                  <a:pt x="666750" y="952500"/>
                </a:lnTo>
                <a:lnTo>
                  <a:pt x="0" y="952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-133290" t="0" r="-133290" b="0"/>
            </a:stretch>
          </a:blipFill>
        </p:spPr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76826F19-9047-49AB-B779-59111D6D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58938" y="4107656"/>
            <a:ext cx="500062" cy="764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</a:pPr>
            <a:r>
              <a:rPr sz="31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→</a:t>
            </a:r>
          </a:p>
        </p:txBody>
      </p:sp>
      <p:sp>
        <p:nvSpPr>
          <p:cNvPr id="94" name="Freeform 94">
            <a:extLst xmlns:a="http://schemas.openxmlformats.org/drawingml/2006/main">
              <a:ext uri="{FF2B5EF4-FFF2-40B4-BE49-F238E27FC236}">
                <a16:creationId xmlns:a16="http://schemas.microsoft.com/office/drawing/2014/main" id="{66318EDB-754E-4F56-9E2A-F5468CF7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50427" y="3420428"/>
            <a:ext cx="2374583" cy="2446020"/>
          </a:xfrm>
          <a:custGeom xmlns:a="http://schemas.openxmlformats.org/drawingml/2006/main">
            <a:rect l="l" t="t" r="r" b="b"/>
            <a:pathLst>
              <a:path w="3166110" h="326136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2935859" y="0"/>
                </a:lnTo>
                <a:cubicBezTo>
                  <a:pt x="3062986" y="0"/>
                  <a:pt x="3166110" y="103124"/>
                  <a:pt x="3166110" y="230251"/>
                </a:cubicBezTo>
                <a:lnTo>
                  <a:pt x="3166110" y="3031109"/>
                </a:lnTo>
                <a:cubicBezTo>
                  <a:pt x="3166110" y="3158236"/>
                  <a:pt x="3062986" y="3261360"/>
                  <a:pt x="2935859" y="3261360"/>
                </a:cubicBezTo>
                <a:lnTo>
                  <a:pt x="230251" y="3261360"/>
                </a:lnTo>
                <a:cubicBezTo>
                  <a:pt x="103124" y="3261360"/>
                  <a:pt x="0" y="3158236"/>
                  <a:pt x="0" y="3031109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7145">
            <a:solidFill>
              <a:srgbClr val="2E63B7"/>
            </a:solidFill>
            <a:prstDash val="solid"/>
          </a:ln>
        </p:spPr>
      </p:sp>
      <p:sp>
        <p:nvSpPr>
          <p:cNvPr id="96" name="Freeform 96">
            <a:extLst xmlns:a="http://schemas.openxmlformats.org/drawingml/2006/main">
              <a:ext uri="{FF2B5EF4-FFF2-40B4-BE49-F238E27FC236}">
                <a16:creationId xmlns:a16="http://schemas.microsoft.com/office/drawing/2014/main" id="{BC7A3BE8-625A-48CF-B07C-A74E163A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6175" y="3686175"/>
            <a:ext cx="714375" cy="400050"/>
          </a:xfrm>
          <a:custGeom xmlns:a="http://schemas.openxmlformats.org/drawingml/2006/main">
            <a:rect l="l" t="t" r="r" b="b"/>
            <a:pathLst>
              <a:path w="952500" h="533400">
                <a:moveTo>
                  <a:pt x="0" y="0"/>
                </a:moveTo>
                <a:lnTo>
                  <a:pt x="952500" y="0"/>
                </a:lnTo>
                <a:lnTo>
                  <a:pt x="952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-21849" t="0" r="-21849" b="0"/>
            </a:stretch>
          </a:blipFill>
        </p:spPr>
      </p:sp>
      <p:sp>
        <p:nvSpPr>
          <p:cNvPr id="97" name="TextBox 97">
            <a:extLst xmlns:a="http://schemas.openxmlformats.org/drawingml/2006/main">
              <a:ext uri="{FF2B5EF4-FFF2-40B4-BE49-F238E27FC236}">
                <a16:creationId xmlns:a16="http://schemas.microsoft.com/office/drawing/2014/main" id="{97A30583-543B-460D-93A9-7CB7E3BC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6175" y="3657600"/>
            <a:ext cx="714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06</a:t>
            </a:r>
          </a:p>
        </p:txBody>
      </p:sp>
      <p:sp>
        <p:nvSpPr>
          <p:cNvPr id="99" name="Freeform 99">
            <a:extLst xmlns:a="http://schemas.openxmlformats.org/drawingml/2006/main">
              <a:ext uri="{FF2B5EF4-FFF2-40B4-BE49-F238E27FC236}">
                <a16:creationId xmlns:a16="http://schemas.microsoft.com/office/drawing/2014/main" id="{EDBE48AA-D13A-48C0-9E07-DF2A3DD1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6175" y="4214812"/>
            <a:ext cx="1857375" cy="600075"/>
          </a:xfrm>
          <a:custGeom xmlns:a="http://schemas.openxmlformats.org/drawingml/2006/main">
            <a:rect l="l" t="t" r="r" b="b"/>
            <a:pathLst>
              <a:path w="2476500" h="800100">
                <a:moveTo>
                  <a:pt x="0" y="0"/>
                </a:moveTo>
                <a:lnTo>
                  <a:pt x="2476500" y="0"/>
                </a:lnTo>
                <a:lnTo>
                  <a:pt x="2476500" y="800100"/>
                </a:lnTo>
                <a:lnTo>
                  <a:pt x="0" y="800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0" t="-10310" r="0" b="-10310"/>
            </a:stretch>
          </a:blipFill>
        </p:spPr>
      </p:sp>
      <p:sp>
        <p:nvSpPr>
          <p:cNvPr id="100" name="TextBox 100">
            <a:extLst xmlns:a="http://schemas.openxmlformats.org/drawingml/2006/main">
              <a:ext uri="{FF2B5EF4-FFF2-40B4-BE49-F238E27FC236}">
                <a16:creationId xmlns:a16="http://schemas.microsoft.com/office/drawing/2014/main" id="{FF8C57DD-67E8-4742-9F58-182A0DA5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6175" y="4186237"/>
            <a:ext cx="18573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1800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계층 메타데이터</a:t>
            </a:r>
          </a:p>
        </p:txBody>
      </p:sp>
      <p:sp>
        <p:nvSpPr>
          <p:cNvPr id="102" name="Freeform 102">
            <a:extLst xmlns:a="http://schemas.openxmlformats.org/drawingml/2006/main">
              <a:ext uri="{FF2B5EF4-FFF2-40B4-BE49-F238E27FC236}">
                <a16:creationId xmlns:a16="http://schemas.microsoft.com/office/drawing/2014/main" id="{DC099322-3929-40B0-BE7F-57AE54AF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6175" y="5029200"/>
            <a:ext cx="1857375" cy="400050"/>
          </a:xfrm>
          <a:custGeom xmlns:a="http://schemas.openxmlformats.org/drawingml/2006/main">
            <a:rect l="l" t="t" r="r" b="b"/>
            <a:pathLst>
              <a:path w="2476500" h="533400">
                <a:moveTo>
                  <a:pt x="0" y="0"/>
                </a:moveTo>
                <a:lnTo>
                  <a:pt x="2476500" y="0"/>
                </a:lnTo>
                <a:lnTo>
                  <a:pt x="2476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0" t="-40466" r="0" b="-40466"/>
            </a:stretch>
          </a:blipFill>
        </p:spPr>
      </p:sp>
      <p:sp>
        <p:nvSpPr>
          <p:cNvPr id="103" name="TextBox 103">
            <a:extLst xmlns:a="http://schemas.openxmlformats.org/drawingml/2006/main">
              <a:ext uri="{FF2B5EF4-FFF2-40B4-BE49-F238E27FC236}">
                <a16:creationId xmlns:a16="http://schemas.microsoft.com/office/drawing/2014/main" id="{C1360FDE-970F-4498-A0F1-37097CC7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6175" y="5014913"/>
            <a:ext cx="1857375" cy="414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업무·문서·섹션·청크
원문 URL 연결</a:t>
            </a:r>
          </a:p>
        </p:txBody>
      </p:sp>
      <p:sp>
        <p:nvSpPr>
          <p:cNvPr id="105" name="Freeform 105">
            <a:extLst xmlns:a="http://schemas.openxmlformats.org/drawingml/2006/main">
              <a:ext uri="{FF2B5EF4-FFF2-40B4-BE49-F238E27FC236}">
                <a16:creationId xmlns:a16="http://schemas.microsoft.com/office/drawing/2014/main" id="{82FD1B01-3A80-4832-BC8B-C19A81E9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6636544"/>
            <a:ext cx="16587788" cy="2300288"/>
          </a:xfrm>
          <a:custGeom xmlns:a="http://schemas.openxmlformats.org/drawingml/2006/main">
            <a:rect l="l" t="t" r="r" b="b"/>
            <a:pathLst>
              <a:path w="22117050" h="3067050">
                <a:moveTo>
                  <a:pt x="0" y="229997"/>
                </a:moveTo>
                <a:cubicBezTo>
                  <a:pt x="0" y="102997"/>
                  <a:pt x="102997" y="0"/>
                  <a:pt x="229997" y="0"/>
                </a:cubicBezTo>
                <a:lnTo>
                  <a:pt x="21887053" y="0"/>
                </a:lnTo>
                <a:cubicBezTo>
                  <a:pt x="22014053" y="0"/>
                  <a:pt x="22117050" y="102997"/>
                  <a:pt x="22117050" y="229997"/>
                </a:cubicBezTo>
                <a:lnTo>
                  <a:pt x="22117050" y="2837053"/>
                </a:lnTo>
                <a:cubicBezTo>
                  <a:pt x="22117050" y="2964053"/>
                  <a:pt x="22014053" y="3067050"/>
                  <a:pt x="21887053" y="3067050"/>
                </a:cubicBezTo>
                <a:lnTo>
                  <a:pt x="229997" y="3067050"/>
                </a:lnTo>
                <a:cubicBezTo>
                  <a:pt x="102997" y="3067050"/>
                  <a:pt x="0" y="2964053"/>
                  <a:pt x="0" y="2837053"/>
                </a:cubicBezTo>
                <a:close/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107" name="Freeform 107">
            <a:extLst xmlns:a="http://schemas.openxmlformats.org/drawingml/2006/main">
              <a:ext uri="{FF2B5EF4-FFF2-40B4-BE49-F238E27FC236}">
                <a16:creationId xmlns:a16="http://schemas.microsoft.com/office/drawing/2014/main" id="{AED65E8F-C228-4938-A543-1583F5CC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6843712"/>
            <a:ext cx="15944850" cy="428625"/>
          </a:xfrm>
          <a:custGeom xmlns:a="http://schemas.openxmlformats.org/drawingml/2006/main">
            <a:rect l="l" t="t" r="r" b="b"/>
            <a:pathLst>
              <a:path w="21259800" h="571500">
                <a:moveTo>
                  <a:pt x="0" y="0"/>
                </a:moveTo>
                <a:lnTo>
                  <a:pt x="21259800" y="0"/>
                </a:lnTo>
                <a:lnTo>
                  <a:pt x="212598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6d2e3a1a0e747a5">
              <a:alphaModFix amt="0"/>
            </a:blip>
            <a:stretch>
              <a:fillRect l="0" t="-674843" r="0" b="-674843"/>
            </a:stretch>
          </a:blipFill>
        </p:spPr>
      </p:sp>
      <p:sp>
        <p:nvSpPr>
          <p:cNvPr id="108" name="TextBox 108">
            <a:extLst xmlns:a="http://schemas.openxmlformats.org/drawingml/2006/main">
              <a:ext uri="{FF2B5EF4-FFF2-40B4-BE49-F238E27FC236}">
                <a16:creationId xmlns:a16="http://schemas.microsoft.com/office/drawing/2014/main" id="{B78E2AAC-B27B-4D9E-A396-CF183D3D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6815137"/>
            <a:ext cx="15944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180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설계 결정 및 근거</a:t>
            </a:r>
          </a:p>
        </p:txBody>
      </p:sp>
      <p:sp>
        <p:nvSpPr>
          <p:cNvPr id="109" name="TextBox 109">
            <a:extLst xmlns:a="http://schemas.openxmlformats.org/drawingml/2006/main">
              <a:ext uri="{FF2B5EF4-FFF2-40B4-BE49-F238E27FC236}">
                <a16:creationId xmlns:a16="http://schemas.microsoft.com/office/drawing/2014/main" id="{4465A1D1-6A68-4573-9C9C-C7C103F7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7422832"/>
            <a:ext cx="15761970" cy="1203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기반 산출물  |  chunks.jsonl · business_function · parent_doc_id · source_url · attachments</a:t>
            </a:r>
          </a:p>
        </p:txBody>
      </p:sp>
    </p:spTree>
    <p:extLst>
      <p:ext uri="{BB962C8B-B14F-4D97-AF65-F5344CB8AC3E}">
        <p14:creationId xmlns:p14="http://schemas.microsoft.com/office/powerpoint/2010/main" val="308858068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3D70C6">
                <a:alpha val="100000"/>
              </a:srgbClr>
            </a:gs>
            <a:gs pos="100000">
              <a:srgbClr val="17448F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EDFD2BB-E292-4F48-A220-2799E631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906" y="335756"/>
            <a:ext cx="17502188" cy="9615488"/>
          </a:xfrm>
          <a:custGeom xmlns:a="http://schemas.openxmlformats.org/drawingml/2006/main">
            <a:rect l="l" t="t" r="r" b="b"/>
            <a:pathLst>
              <a:path w="23336250" h="12820650">
                <a:moveTo>
                  <a:pt x="0" y="305308"/>
                </a:moveTo>
                <a:cubicBezTo>
                  <a:pt x="0" y="136652"/>
                  <a:pt x="136652" y="0"/>
                  <a:pt x="305308" y="0"/>
                </a:cubicBezTo>
                <a:lnTo>
                  <a:pt x="23030942" y="0"/>
                </a:lnTo>
                <a:cubicBezTo>
                  <a:pt x="23199471" y="0"/>
                  <a:pt x="23336250" y="136652"/>
                  <a:pt x="23336250" y="305308"/>
                </a:cubicBezTo>
                <a:lnTo>
                  <a:pt x="23336250" y="12515342"/>
                </a:lnTo>
                <a:cubicBezTo>
                  <a:pt x="23336250" y="12683872"/>
                  <a:pt x="23199598" y="12820650"/>
                  <a:pt x="23030942" y="12820650"/>
                </a:cubicBezTo>
                <a:lnTo>
                  <a:pt x="305308" y="12820650"/>
                </a:lnTo>
                <a:cubicBezTo>
                  <a:pt x="136652" y="12820650"/>
                  <a:pt x="0" y="12683998"/>
                  <a:pt x="0" y="125153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EAF1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A3080FA-E15C-42FA-9EB0-E48F3273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42925"/>
            <a:ext cx="16002000" cy="257175"/>
          </a:xfrm>
          <a:custGeom xmlns:a="http://schemas.openxmlformats.org/drawingml/2006/main">
            <a:rect l="l" t="t" r="r" b="b"/>
            <a:pathLst>
              <a:path w="21336000" h="342900">
                <a:moveTo>
                  <a:pt x="0" y="0"/>
                </a:moveTo>
                <a:lnTo>
                  <a:pt x="21336000" y="0"/>
                </a:lnTo>
                <a:lnTo>
                  <a:pt x="21336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7fdd5bd354c4af7">
              <a:alphaModFix amt="0"/>
            </a:blip>
            <a:stretch>
              <a:fillRect l="0" t="-1162402" r="0" b="-1162402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618FC73-BA88-4CA3-BFC0-34507193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28638"/>
            <a:ext cx="16002000" cy="2714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123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02 프로젝트 팀 구성 및 역할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B52F61D1-8F8A-46CF-8521-D030BE89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842962"/>
            <a:ext cx="16002000" cy="771525"/>
          </a:xfrm>
          <a:custGeom xmlns:a="http://schemas.openxmlformats.org/drawingml/2006/main">
            <a:rect l="l" t="t" r="r" b="b"/>
            <a:pathLst>
              <a:path w="21336000" h="1028700">
                <a:moveTo>
                  <a:pt x="0" y="0"/>
                </a:moveTo>
                <a:lnTo>
                  <a:pt x="21336000" y="0"/>
                </a:lnTo>
                <a:lnTo>
                  <a:pt x="21336000" y="1028700"/>
                </a:lnTo>
                <a:lnTo>
                  <a:pt x="0" y="102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7fdd5bd354c4af7">
              <a:alphaModFix amt="0"/>
            </a:blip>
            <a:stretch>
              <a:fillRect l="0" t="-354134" r="0" b="-354134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418DA3C-A7C6-40D0-9284-847F4C4B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85812"/>
            <a:ext cx="16002000" cy="82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455"/>
              </a:lnSpc>
              <a:buNone/>
            </a:pPr>
            <a:r>
              <a:rPr sz="3712">
                <a:solidFill>
                  <a:srgbClr val="202020"/>
                </a:solidFill>
                <a:latin typeface="Calibri (MS)"/>
                <a:ea typeface="Calibri (MS)"/>
                <a:cs typeface="Calibri (MS)"/>
              </a:rPr>
              <a:t>4명이 역할을 나누되 결과물은 서로 교차 검수했습니다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6481BEF-2EE2-4F9E-BCC0-946EBF1C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85912"/>
            <a:ext cx="14859000" cy="314325"/>
          </a:xfrm>
          <a:custGeom xmlns:a="http://schemas.openxmlformats.org/drawingml/2006/main">
            <a:rect l="l" t="t" r="r" b="b"/>
            <a:pathLst>
              <a:path w="19812000" h="419100">
                <a:moveTo>
                  <a:pt x="0" y="0"/>
                </a:moveTo>
                <a:lnTo>
                  <a:pt x="19812000" y="0"/>
                </a:lnTo>
                <a:lnTo>
                  <a:pt x="19812000" y="419100"/>
                </a:lnTo>
                <a:lnTo>
                  <a:pt x="0" y="419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7fdd5bd354c4af7">
              <a:alphaModFix amt="0"/>
            </a:blip>
            <a:stretch>
              <a:fillRect l="0" t="-871110" r="0" b="-87111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85A752AC-1137-4881-9749-2DE35921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71625"/>
            <a:ext cx="14859000" cy="3286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개별 담당 → 산출물 공유 → 다음 단계 담당자 검증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22777EE-DFDC-45DA-8340-85AC014E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114550"/>
            <a:ext cx="16002000" cy="14288"/>
          </a:xfrm>
          <a:custGeom xmlns:a="http://schemas.openxmlformats.org/drawingml/2006/main">
            <a:rect l="l" t="t" r="r" b="b"/>
            <a:pathLst>
              <a:path w="21336000" h="19050">
                <a:moveTo>
                  <a:pt x="0" y="0"/>
                </a:moveTo>
                <a:lnTo>
                  <a:pt x="21336000" y="0"/>
                </a:lnTo>
                <a:lnTo>
                  <a:pt x="21336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A656695-AA83-44FB-9A27-7360EBFD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9572625"/>
            <a:ext cx="16630650" cy="14288"/>
          </a:xfrm>
          <a:custGeom xmlns:a="http://schemas.openxmlformats.org/drawingml/2006/main">
            <a:rect l="l" t="t" r="r" b="b"/>
            <a:pathLst>
              <a:path w="22174200" h="19050">
                <a:moveTo>
                  <a:pt x="0" y="0"/>
                </a:moveTo>
                <a:lnTo>
                  <a:pt x="22174200" y="0"/>
                </a:lnTo>
                <a:lnTo>
                  <a:pt x="221742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E4306497-76C5-406E-8CC2-82F489ED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44062"/>
            <a:ext cx="8286750" cy="257175"/>
          </a:xfrm>
          <a:custGeom xmlns:a="http://schemas.openxmlformats.org/drawingml/2006/main">
            <a:rect l="l" t="t" r="r" b="b"/>
            <a:pathLst>
              <a:path w="11049000" h="342900">
                <a:moveTo>
                  <a:pt x="0" y="0"/>
                </a:moveTo>
                <a:lnTo>
                  <a:pt x="11049000" y="0"/>
                </a:lnTo>
                <a:lnTo>
                  <a:pt x="11049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7fdd5bd354c4af7">
              <a:alphaModFix amt="0"/>
            </a:blip>
            <a:stretch>
              <a:fillRect l="0" t="-577851" r="0" b="-577851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FB4D5E3-9082-430E-93C2-BE31BC9A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22631"/>
            <a:ext cx="8286750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1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KDIC AI 챗봇 | 와쿠와쿠 6조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0AD646F-AC96-42AD-9021-4F17AC30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44062"/>
            <a:ext cx="1000125" cy="257175"/>
          </a:xfrm>
          <a:custGeom xmlns:a="http://schemas.openxmlformats.org/drawingml/2006/main">
            <a:rect l="l" t="t" r="r" b="b"/>
            <a:pathLst>
              <a:path w="1333500" h="342900">
                <a:moveTo>
                  <a:pt x="0" y="0"/>
                </a:moveTo>
                <a:lnTo>
                  <a:pt x="1333500" y="0"/>
                </a:lnTo>
                <a:lnTo>
                  <a:pt x="13335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7fdd5bd354c4af7">
              <a:alphaModFix amt="0"/>
            </a:blip>
            <a:stretch>
              <a:fillRect l="0" t="-25775" r="0" b="-25775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63FD6DE3-18DD-45B5-A5AE-5C7CC7AF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22631"/>
            <a:ext cx="1000125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350"/>
              </a:lnSpc>
              <a:buNone/>
            </a:pPr>
            <a:r>
              <a:rPr sz="11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05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AA89BB34-0DF4-4B12-A3AF-2A686E28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2850356"/>
            <a:ext cx="5229225" cy="2443162"/>
          </a:xfrm>
          <a:custGeom xmlns:a="http://schemas.openxmlformats.org/drawingml/2006/main">
            <a:rect l="l" t="t" r="r" b="b"/>
            <a:pathLst>
              <a:path w="6972300" h="3257550">
                <a:moveTo>
                  <a:pt x="0" y="229997"/>
                </a:moveTo>
                <a:cubicBezTo>
                  <a:pt x="0" y="102997"/>
                  <a:pt x="102997" y="0"/>
                  <a:pt x="229997" y="0"/>
                </a:cubicBezTo>
                <a:lnTo>
                  <a:pt x="6742303" y="0"/>
                </a:lnTo>
                <a:cubicBezTo>
                  <a:pt x="6869303" y="0"/>
                  <a:pt x="6972300" y="102997"/>
                  <a:pt x="6972300" y="229997"/>
                </a:cubicBezTo>
                <a:lnTo>
                  <a:pt x="6972300" y="3027553"/>
                </a:lnTo>
                <a:cubicBezTo>
                  <a:pt x="6972300" y="3154553"/>
                  <a:pt x="6869303" y="3257550"/>
                  <a:pt x="6742303" y="3257550"/>
                </a:cubicBezTo>
                <a:lnTo>
                  <a:pt x="229997" y="3257550"/>
                </a:lnTo>
                <a:cubicBezTo>
                  <a:pt x="102997" y="3257550"/>
                  <a:pt x="0" y="3154553"/>
                  <a:pt x="0" y="302755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67BBF2F-F187-468F-9493-D10E538C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3057525"/>
            <a:ext cx="4586288" cy="428625"/>
          </a:xfrm>
          <a:custGeom xmlns:a="http://schemas.openxmlformats.org/drawingml/2006/main">
            <a:rect l="l" t="t" r="r" b="b"/>
            <a:pathLst>
              <a:path w="6115050" h="571500">
                <a:moveTo>
                  <a:pt x="0" y="0"/>
                </a:moveTo>
                <a:lnTo>
                  <a:pt x="6115050" y="0"/>
                </a:lnTo>
                <a:lnTo>
                  <a:pt x="611505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7fdd5bd354c4af7">
              <a:alphaModFix amt="0"/>
            </a:blip>
            <a:stretch>
              <a:fillRect l="0" t="-158489" r="0" b="-158489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063F72B8-16EC-41E2-90C0-920FE77F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3028950"/>
            <a:ext cx="4586288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0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유민규 | 조율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E2F17C15-DE69-4D65-A6BF-43540AF4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3636645"/>
            <a:ext cx="4403408" cy="1346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일정·회의 조율
산출물 통합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6B617E4-B49D-4623-8824-06944655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07919" y="2850356"/>
            <a:ext cx="5229225" cy="2443162"/>
          </a:xfrm>
          <a:custGeom xmlns:a="http://schemas.openxmlformats.org/drawingml/2006/main">
            <a:rect l="l" t="t" r="r" b="b"/>
            <a:pathLst>
              <a:path w="6972300" h="3257550">
                <a:moveTo>
                  <a:pt x="0" y="229997"/>
                </a:moveTo>
                <a:cubicBezTo>
                  <a:pt x="0" y="102997"/>
                  <a:pt x="102997" y="0"/>
                  <a:pt x="229997" y="0"/>
                </a:cubicBezTo>
                <a:lnTo>
                  <a:pt x="6742303" y="0"/>
                </a:lnTo>
                <a:cubicBezTo>
                  <a:pt x="6869303" y="0"/>
                  <a:pt x="6972300" y="102997"/>
                  <a:pt x="6972300" y="229997"/>
                </a:cubicBezTo>
                <a:lnTo>
                  <a:pt x="6972300" y="3027553"/>
                </a:lnTo>
                <a:cubicBezTo>
                  <a:pt x="6972300" y="3154553"/>
                  <a:pt x="6869303" y="3257550"/>
                  <a:pt x="6742303" y="3257550"/>
                </a:cubicBezTo>
                <a:lnTo>
                  <a:pt x="229997" y="3257550"/>
                </a:lnTo>
                <a:cubicBezTo>
                  <a:pt x="102997" y="3257550"/>
                  <a:pt x="0" y="3154553"/>
                  <a:pt x="0" y="302755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B347EF19-7B84-41F5-A551-4D250038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9388" y="3057525"/>
            <a:ext cx="4586288" cy="428625"/>
          </a:xfrm>
          <a:custGeom xmlns:a="http://schemas.openxmlformats.org/drawingml/2006/main">
            <a:rect l="l" t="t" r="r" b="b"/>
            <a:pathLst>
              <a:path w="6115050" h="571500">
                <a:moveTo>
                  <a:pt x="0" y="0"/>
                </a:moveTo>
                <a:lnTo>
                  <a:pt x="6115050" y="0"/>
                </a:lnTo>
                <a:lnTo>
                  <a:pt x="611505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7fdd5bd354c4af7">
              <a:alphaModFix amt="0"/>
            </a:blip>
            <a:stretch>
              <a:fillRect l="0" t="-158489" r="0" b="-158489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1001EB6B-D49D-4492-8EE1-F49DAE19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9388" y="3028950"/>
            <a:ext cx="4586288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0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원가형 | 정책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76DC4B-4A2A-4BC5-834C-B3F8E6FF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0828" y="3636645"/>
            <a:ext cx="4403408" cy="1346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서비스 정책 조사
문서 구조화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940333A9-0782-4927-B88E-5E89D84E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51481" y="2850356"/>
            <a:ext cx="5229225" cy="2443162"/>
          </a:xfrm>
          <a:custGeom xmlns:a="http://schemas.openxmlformats.org/drawingml/2006/main">
            <a:rect l="l" t="t" r="r" b="b"/>
            <a:pathLst>
              <a:path w="6972300" h="3257550">
                <a:moveTo>
                  <a:pt x="0" y="229997"/>
                </a:moveTo>
                <a:cubicBezTo>
                  <a:pt x="0" y="102997"/>
                  <a:pt x="102997" y="0"/>
                  <a:pt x="229997" y="0"/>
                </a:cubicBezTo>
                <a:lnTo>
                  <a:pt x="6742303" y="0"/>
                </a:lnTo>
                <a:cubicBezTo>
                  <a:pt x="6869303" y="0"/>
                  <a:pt x="6972300" y="102997"/>
                  <a:pt x="6972300" y="229997"/>
                </a:cubicBezTo>
                <a:lnTo>
                  <a:pt x="6972300" y="3027553"/>
                </a:lnTo>
                <a:cubicBezTo>
                  <a:pt x="6972300" y="3154553"/>
                  <a:pt x="6869303" y="3257550"/>
                  <a:pt x="6742303" y="3257550"/>
                </a:cubicBezTo>
                <a:lnTo>
                  <a:pt x="229997" y="3257550"/>
                </a:lnTo>
                <a:cubicBezTo>
                  <a:pt x="102997" y="3257550"/>
                  <a:pt x="0" y="3154553"/>
                  <a:pt x="0" y="302755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5966A7D-E491-45D0-8878-779C7272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72950" y="3057525"/>
            <a:ext cx="4586288" cy="428625"/>
          </a:xfrm>
          <a:custGeom xmlns:a="http://schemas.openxmlformats.org/drawingml/2006/main">
            <a:rect l="l" t="t" r="r" b="b"/>
            <a:pathLst>
              <a:path w="6115050" h="571500">
                <a:moveTo>
                  <a:pt x="0" y="0"/>
                </a:moveTo>
                <a:lnTo>
                  <a:pt x="6115050" y="0"/>
                </a:lnTo>
                <a:lnTo>
                  <a:pt x="611505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7fdd5bd354c4af7">
              <a:alphaModFix amt="0"/>
            </a:blip>
            <a:stretch>
              <a:fillRect l="0" t="-158489" r="0" b="-158489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2B64B464-3FD7-4DA6-A414-E16809B9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72950" y="3028950"/>
            <a:ext cx="4586288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0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박주영 | 데이터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28913519-15B3-4DE7-A72C-E9499123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4390" y="3636645"/>
            <a:ext cx="4403408" cy="1346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크롤링 완전성
스키마·청크 검토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3275826-A12D-4CA8-B9C5-C82F0AA8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5779294"/>
            <a:ext cx="5229225" cy="2443162"/>
          </a:xfrm>
          <a:custGeom xmlns:a="http://schemas.openxmlformats.org/drawingml/2006/main">
            <a:rect l="l" t="t" r="r" b="b"/>
            <a:pathLst>
              <a:path w="6972300" h="3257550">
                <a:moveTo>
                  <a:pt x="0" y="229997"/>
                </a:moveTo>
                <a:cubicBezTo>
                  <a:pt x="0" y="102997"/>
                  <a:pt x="102997" y="0"/>
                  <a:pt x="229997" y="0"/>
                </a:cubicBezTo>
                <a:lnTo>
                  <a:pt x="6742303" y="0"/>
                </a:lnTo>
                <a:cubicBezTo>
                  <a:pt x="6869303" y="0"/>
                  <a:pt x="6972300" y="102997"/>
                  <a:pt x="6972300" y="229997"/>
                </a:cubicBezTo>
                <a:lnTo>
                  <a:pt x="6972300" y="3027553"/>
                </a:lnTo>
                <a:cubicBezTo>
                  <a:pt x="6972300" y="3154553"/>
                  <a:pt x="6869303" y="3257550"/>
                  <a:pt x="6742303" y="3257550"/>
                </a:cubicBezTo>
                <a:lnTo>
                  <a:pt x="229997" y="3257550"/>
                </a:lnTo>
                <a:cubicBezTo>
                  <a:pt x="102997" y="3257550"/>
                  <a:pt x="0" y="3154553"/>
                  <a:pt x="0" y="302755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1F73E148-A6CD-4791-875E-12724703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5986462"/>
            <a:ext cx="4586288" cy="428625"/>
          </a:xfrm>
          <a:custGeom xmlns:a="http://schemas.openxmlformats.org/drawingml/2006/main">
            <a:rect l="l" t="t" r="r" b="b"/>
            <a:pathLst>
              <a:path w="6115050" h="571500">
                <a:moveTo>
                  <a:pt x="0" y="0"/>
                </a:moveTo>
                <a:lnTo>
                  <a:pt x="6115050" y="0"/>
                </a:lnTo>
                <a:lnTo>
                  <a:pt x="611505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7fdd5bd354c4af7">
              <a:alphaModFix amt="0"/>
            </a:blip>
            <a:stretch>
              <a:fillRect l="0" t="-158489" r="0" b="-158489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CA14ED0B-FF31-458F-8989-BC13B780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5957887"/>
            <a:ext cx="4586288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0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임도균 | UI·평가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35B2BD7E-AF30-4F88-82BF-B1889221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6565582"/>
            <a:ext cx="4403408" cy="1346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UI/UX·평가셋
Gold 도구 구성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7AEFEA18-DF76-4346-BA34-CA21F0B1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07919" y="5779294"/>
            <a:ext cx="5229225" cy="2443162"/>
          </a:xfrm>
          <a:custGeom xmlns:a="http://schemas.openxmlformats.org/drawingml/2006/main">
            <a:rect l="l" t="t" r="r" b="b"/>
            <a:pathLst>
              <a:path w="6972300" h="3257550">
                <a:moveTo>
                  <a:pt x="0" y="229997"/>
                </a:moveTo>
                <a:cubicBezTo>
                  <a:pt x="0" y="102997"/>
                  <a:pt x="102997" y="0"/>
                  <a:pt x="229997" y="0"/>
                </a:cubicBezTo>
                <a:lnTo>
                  <a:pt x="6742303" y="0"/>
                </a:lnTo>
                <a:cubicBezTo>
                  <a:pt x="6869303" y="0"/>
                  <a:pt x="6972300" y="102997"/>
                  <a:pt x="6972300" y="229997"/>
                </a:cubicBezTo>
                <a:lnTo>
                  <a:pt x="6972300" y="3027553"/>
                </a:lnTo>
                <a:cubicBezTo>
                  <a:pt x="6972300" y="3154553"/>
                  <a:pt x="6869303" y="3257550"/>
                  <a:pt x="6742303" y="3257550"/>
                </a:cubicBezTo>
                <a:lnTo>
                  <a:pt x="229997" y="3257550"/>
                </a:lnTo>
                <a:cubicBezTo>
                  <a:pt x="102997" y="3257550"/>
                  <a:pt x="0" y="3154553"/>
                  <a:pt x="0" y="3027553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49458C1C-859A-451C-9A0A-0B9A5C40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9388" y="5986462"/>
            <a:ext cx="4586288" cy="428625"/>
          </a:xfrm>
          <a:custGeom xmlns:a="http://schemas.openxmlformats.org/drawingml/2006/main">
            <a:rect l="l" t="t" r="r" b="b"/>
            <a:pathLst>
              <a:path w="6115050" h="571500">
                <a:moveTo>
                  <a:pt x="0" y="0"/>
                </a:moveTo>
                <a:lnTo>
                  <a:pt x="6115050" y="0"/>
                </a:lnTo>
                <a:lnTo>
                  <a:pt x="611505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7fdd5bd354c4af7">
              <a:alphaModFix amt="0"/>
            </a:blip>
            <a:stretch>
              <a:fillRect l="0" t="-158489" r="0" b="-158489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E2B92C-1F16-4CDC-8AA9-E0AF333F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9388" y="5957887"/>
            <a:ext cx="4586288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0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공동 | 교차 검수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B06DB0A8-02F8-483C-B03E-5F5309CE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0828" y="6565582"/>
            <a:ext cx="4403408" cy="1346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질문·라벨·Gold
상호 확인</a:t>
            </a:r>
          </a:p>
        </p:txBody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B5990939-B60C-4BD8-A7A8-1F413E06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51481" y="5779294"/>
            <a:ext cx="5229225" cy="2443162"/>
          </a:xfrm>
          <a:custGeom xmlns:a="http://schemas.openxmlformats.org/drawingml/2006/main">
            <a:rect l="l" t="t" r="r" b="b"/>
            <a:pathLst>
              <a:path w="6972300" h="3257550">
                <a:moveTo>
                  <a:pt x="0" y="229997"/>
                </a:moveTo>
                <a:cubicBezTo>
                  <a:pt x="0" y="102997"/>
                  <a:pt x="102997" y="0"/>
                  <a:pt x="229997" y="0"/>
                </a:cubicBezTo>
                <a:lnTo>
                  <a:pt x="6742303" y="0"/>
                </a:lnTo>
                <a:cubicBezTo>
                  <a:pt x="6869303" y="0"/>
                  <a:pt x="6972300" y="102997"/>
                  <a:pt x="6972300" y="229997"/>
                </a:cubicBezTo>
                <a:lnTo>
                  <a:pt x="6972300" y="3027553"/>
                </a:lnTo>
                <a:cubicBezTo>
                  <a:pt x="6972300" y="3154553"/>
                  <a:pt x="6869303" y="3257550"/>
                  <a:pt x="6742303" y="3257550"/>
                </a:cubicBezTo>
                <a:lnTo>
                  <a:pt x="229997" y="3257550"/>
                </a:lnTo>
                <a:cubicBezTo>
                  <a:pt x="102997" y="3257550"/>
                  <a:pt x="0" y="3154553"/>
                  <a:pt x="0" y="302755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C375F498-232E-404F-A6BA-6F481E5C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72950" y="5986462"/>
            <a:ext cx="4586288" cy="428625"/>
          </a:xfrm>
          <a:custGeom xmlns:a="http://schemas.openxmlformats.org/drawingml/2006/main">
            <a:rect l="l" t="t" r="r" b="b"/>
            <a:pathLst>
              <a:path w="6115050" h="571500">
                <a:moveTo>
                  <a:pt x="0" y="0"/>
                </a:moveTo>
                <a:lnTo>
                  <a:pt x="6115050" y="0"/>
                </a:lnTo>
                <a:lnTo>
                  <a:pt x="611505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7fdd5bd354c4af7">
              <a:alphaModFix amt="0"/>
            </a:blip>
            <a:stretch>
              <a:fillRect l="0" t="-158489" r="0" b="-158489"/>
            </a:stretch>
          </a:blipFill>
        </p:spPr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D3A14D91-8C84-4B4A-B6BA-0B1D9397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72950" y="5957887"/>
            <a:ext cx="4586288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0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공동 | 발표·시연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216B8D0A-AEBC-4691-87AE-63BFCB62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4390" y="6565582"/>
            <a:ext cx="4403408" cy="1346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발표자료·대표 질문
시연 준비</a:t>
            </a:r>
          </a:p>
        </p:txBody>
      </p:sp>
    </p:spTree>
    <p:extLst>
      <p:ext uri="{BB962C8B-B14F-4D97-AF65-F5344CB8AC3E}">
        <p14:creationId xmlns:p14="http://schemas.microsoft.com/office/powerpoint/2010/main" val="490589757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3D70C6">
                <a:alpha val="100000"/>
              </a:srgbClr>
            </a:gs>
            <a:gs pos="100000">
              <a:srgbClr val="17448F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C5F3BE9F-029C-4A96-914D-D678315E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906" y="335756"/>
            <a:ext cx="17502188" cy="9615488"/>
          </a:xfrm>
          <a:custGeom xmlns:a="http://schemas.openxmlformats.org/drawingml/2006/main">
            <a:rect l="l" t="t" r="r" b="b"/>
            <a:pathLst>
              <a:path w="23336250" h="12820650">
                <a:moveTo>
                  <a:pt x="0" y="305308"/>
                </a:moveTo>
                <a:cubicBezTo>
                  <a:pt x="0" y="136652"/>
                  <a:pt x="136652" y="0"/>
                  <a:pt x="305308" y="0"/>
                </a:cubicBezTo>
                <a:lnTo>
                  <a:pt x="23030942" y="0"/>
                </a:lnTo>
                <a:cubicBezTo>
                  <a:pt x="23199471" y="0"/>
                  <a:pt x="23336250" y="136652"/>
                  <a:pt x="23336250" y="305308"/>
                </a:cubicBezTo>
                <a:lnTo>
                  <a:pt x="23336250" y="12515342"/>
                </a:lnTo>
                <a:cubicBezTo>
                  <a:pt x="23336250" y="12683872"/>
                  <a:pt x="23199598" y="12820650"/>
                  <a:pt x="23030942" y="12820650"/>
                </a:cubicBezTo>
                <a:lnTo>
                  <a:pt x="305308" y="12820650"/>
                </a:lnTo>
                <a:cubicBezTo>
                  <a:pt x="136652" y="12820650"/>
                  <a:pt x="0" y="12683998"/>
                  <a:pt x="0" y="125153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EAF1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D414DCA3-A511-48F3-B51D-E31ED348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42925"/>
            <a:ext cx="16002000" cy="257175"/>
          </a:xfrm>
          <a:custGeom xmlns:a="http://schemas.openxmlformats.org/drawingml/2006/main">
            <a:rect l="l" t="t" r="r" b="b"/>
            <a:pathLst>
              <a:path w="21336000" h="342900">
                <a:moveTo>
                  <a:pt x="0" y="0"/>
                </a:moveTo>
                <a:lnTo>
                  <a:pt x="21336000" y="0"/>
                </a:lnTo>
                <a:lnTo>
                  <a:pt x="21336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0" t="-1162402" r="0" b="-1162402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5265F23-A1A5-4883-AD18-6E6503AC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28638"/>
            <a:ext cx="16002000" cy="2714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123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03 프로젝트 수행 절차 및 방법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1DCDCD05-0D4D-413D-84BE-DE955E8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842962"/>
            <a:ext cx="16002000" cy="771525"/>
          </a:xfrm>
          <a:custGeom xmlns:a="http://schemas.openxmlformats.org/drawingml/2006/main">
            <a:rect l="l" t="t" r="r" b="b"/>
            <a:pathLst>
              <a:path w="21336000" h="1028700">
                <a:moveTo>
                  <a:pt x="0" y="0"/>
                </a:moveTo>
                <a:lnTo>
                  <a:pt x="21336000" y="0"/>
                </a:lnTo>
                <a:lnTo>
                  <a:pt x="21336000" y="1028700"/>
                </a:lnTo>
                <a:lnTo>
                  <a:pt x="0" y="102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0" t="-354134" r="0" b="-354134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D781B9A-AFCE-4C4B-8320-D8699EB2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85812"/>
            <a:ext cx="16002000" cy="82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455"/>
              </a:lnSpc>
              <a:buNone/>
            </a:pPr>
            <a:r>
              <a:rPr sz="3712">
                <a:solidFill>
                  <a:srgbClr val="202020"/>
                </a:solidFill>
                <a:latin typeface="Calibri (MS)"/>
                <a:ea typeface="Calibri (MS)"/>
                <a:cs typeface="Calibri (MS)"/>
              </a:rPr>
              <a:t>이번 주차는 서비스 설계에서 검수 도구까지 6단계로 진행했습니다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ADCD7E0-097F-442D-A535-4DACCCF9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85912"/>
            <a:ext cx="14859000" cy="314325"/>
          </a:xfrm>
          <a:custGeom xmlns:a="http://schemas.openxmlformats.org/drawingml/2006/main">
            <a:rect l="l" t="t" r="r" b="b"/>
            <a:pathLst>
              <a:path w="19812000" h="419100">
                <a:moveTo>
                  <a:pt x="0" y="0"/>
                </a:moveTo>
                <a:lnTo>
                  <a:pt x="19812000" y="0"/>
                </a:lnTo>
                <a:lnTo>
                  <a:pt x="19812000" y="419100"/>
                </a:lnTo>
                <a:lnTo>
                  <a:pt x="0" y="419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0" t="-871110" r="0" b="-87111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DF48D217-6A26-44CE-AA9F-8C315A2D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71625"/>
            <a:ext cx="14859000" cy="3286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화면부터 만들지 않고, 사용자 흐름과 평가 기준을 먼저 합의했습니다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6B20616-4D85-42BA-B7AB-626DAC62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114550"/>
            <a:ext cx="16002000" cy="14288"/>
          </a:xfrm>
          <a:custGeom xmlns:a="http://schemas.openxmlformats.org/drawingml/2006/main">
            <a:rect l="l" t="t" r="r" b="b"/>
            <a:pathLst>
              <a:path w="21336000" h="19050">
                <a:moveTo>
                  <a:pt x="0" y="0"/>
                </a:moveTo>
                <a:lnTo>
                  <a:pt x="21336000" y="0"/>
                </a:lnTo>
                <a:lnTo>
                  <a:pt x="21336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84FBDBA-47D3-4102-AA7B-0BA152E9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9572625"/>
            <a:ext cx="16630650" cy="14288"/>
          </a:xfrm>
          <a:custGeom xmlns:a="http://schemas.openxmlformats.org/drawingml/2006/main">
            <a:rect l="l" t="t" r="r" b="b"/>
            <a:pathLst>
              <a:path w="22174200" h="19050">
                <a:moveTo>
                  <a:pt x="0" y="0"/>
                </a:moveTo>
                <a:lnTo>
                  <a:pt x="22174200" y="0"/>
                </a:lnTo>
                <a:lnTo>
                  <a:pt x="221742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5BA9CF6-2D5B-48DE-9EDC-FF65C5B9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44062"/>
            <a:ext cx="8286750" cy="257175"/>
          </a:xfrm>
          <a:custGeom xmlns:a="http://schemas.openxmlformats.org/drawingml/2006/main">
            <a:rect l="l" t="t" r="r" b="b"/>
            <a:pathLst>
              <a:path w="11049000" h="342900">
                <a:moveTo>
                  <a:pt x="0" y="0"/>
                </a:moveTo>
                <a:lnTo>
                  <a:pt x="11049000" y="0"/>
                </a:lnTo>
                <a:lnTo>
                  <a:pt x="11049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0" t="-577851" r="0" b="-577851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1339B1C-79A1-4BB0-A616-844428F0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22631"/>
            <a:ext cx="8286750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1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KDIC AI 챗봇 | 와쿠와쿠 6조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BFEF5C7-2592-406B-A017-6FA81642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44062"/>
            <a:ext cx="1000125" cy="257175"/>
          </a:xfrm>
          <a:custGeom xmlns:a="http://schemas.openxmlformats.org/drawingml/2006/main">
            <a:rect l="l" t="t" r="r" b="b"/>
            <a:pathLst>
              <a:path w="1333500" h="342900">
                <a:moveTo>
                  <a:pt x="0" y="0"/>
                </a:moveTo>
                <a:lnTo>
                  <a:pt x="1333500" y="0"/>
                </a:lnTo>
                <a:lnTo>
                  <a:pt x="13335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0" t="-25775" r="0" b="-25775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53471324-E4AC-40B6-A878-4C01E8F5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22631"/>
            <a:ext cx="1000125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350"/>
              </a:lnSpc>
              <a:buNone/>
            </a:pPr>
            <a:r>
              <a:rPr sz="11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06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384595B-FCEC-4CC3-BE66-4128B7D4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00362" y="4343400"/>
            <a:ext cx="1000125" cy="71438"/>
          </a:xfrm>
          <a:custGeom xmlns:a="http://schemas.openxmlformats.org/drawingml/2006/main">
            <a:rect l="l" t="t" r="r" b="b"/>
            <a:pathLst>
              <a:path w="1333500" h="95250">
                <a:moveTo>
                  <a:pt x="0" y="0"/>
                </a:moveTo>
                <a:lnTo>
                  <a:pt x="1333500" y="0"/>
                </a:lnTo>
                <a:lnTo>
                  <a:pt x="13335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9ED7D4"/>
          </a:solidFill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DB4BE39B-B060-4FA4-B2B0-EA64E132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5781" y="3636169"/>
            <a:ext cx="2443162" cy="1514475"/>
          </a:xfrm>
          <a:custGeom xmlns:a="http://schemas.openxmlformats.org/drawingml/2006/main">
            <a:rect l="l" t="t" r="r" b="b"/>
            <a:pathLst>
              <a:path w="3257550" h="2019300">
                <a:moveTo>
                  <a:pt x="0" y="230759"/>
                </a:moveTo>
                <a:cubicBezTo>
                  <a:pt x="0" y="103378"/>
                  <a:pt x="103378" y="0"/>
                  <a:pt x="230759" y="0"/>
                </a:cubicBezTo>
                <a:lnTo>
                  <a:pt x="3026791" y="0"/>
                </a:lnTo>
                <a:cubicBezTo>
                  <a:pt x="3154299" y="0"/>
                  <a:pt x="3257550" y="103378"/>
                  <a:pt x="3257550" y="230759"/>
                </a:cubicBezTo>
                <a:lnTo>
                  <a:pt x="3257550" y="1788541"/>
                </a:lnTo>
                <a:cubicBezTo>
                  <a:pt x="3257550" y="1916049"/>
                  <a:pt x="3154172" y="2019300"/>
                  <a:pt x="3026791" y="2019300"/>
                </a:cubicBezTo>
                <a:lnTo>
                  <a:pt x="230759" y="2019300"/>
                </a:lnTo>
                <a:cubicBezTo>
                  <a:pt x="103378" y="2019300"/>
                  <a:pt x="0" y="1915922"/>
                  <a:pt x="0" y="178854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8BEEB843-B9EC-4AE9-BDE4-E594677D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525" y="3871912"/>
            <a:ext cx="485775" cy="485775"/>
          </a:xfrm>
          <a:custGeom xmlns:a="http://schemas.openxmlformats.org/drawingml/2006/main">
            <a:rect l="l" t="t" r="r" b="b"/>
            <a:pathLst>
              <a:path w="647700" h="647700">
                <a:moveTo>
                  <a:pt x="0" y="323850"/>
                </a:moveTo>
                <a:cubicBezTo>
                  <a:pt x="0" y="145034"/>
                  <a:pt x="145034" y="0"/>
                  <a:pt x="323850" y="0"/>
                </a:cubicBezTo>
                <a:cubicBezTo>
                  <a:pt x="502666" y="0"/>
                  <a:pt x="647700" y="145034"/>
                  <a:pt x="647700" y="323850"/>
                </a:cubicBezTo>
                <a:cubicBezTo>
                  <a:pt x="647700" y="502666"/>
                  <a:pt x="502666" y="647700"/>
                  <a:pt x="323850" y="647700"/>
                </a:cubicBezTo>
                <a:cubicBezTo>
                  <a:pt x="145034" y="647700"/>
                  <a:pt x="0" y="502666"/>
                  <a:pt x="0" y="323850"/>
                </a:cubicBezTo>
                <a:close/>
              </a:path>
            </a:pathLst>
          </a:custGeom>
          <a:solidFill xmlns:a="http://schemas.openxmlformats.org/drawingml/2006/main">
            <a:srgbClr val="2E63B7"/>
          </a:solidFill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2FDEE46-7D15-49F6-95B5-B9AD305B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525" y="3871912"/>
            <a:ext cx="485775" cy="485775"/>
          </a:xfrm>
          <a:custGeom xmlns:a="http://schemas.openxmlformats.org/drawingml/2006/main">
            <a:rect l="l" t="t" r="r" b="b"/>
            <a:pathLst>
              <a:path w="647700" h="647700">
                <a:moveTo>
                  <a:pt x="0" y="0"/>
                </a:moveTo>
                <a:lnTo>
                  <a:pt x="647700" y="0"/>
                </a:lnTo>
                <a:lnTo>
                  <a:pt x="647700" y="647700"/>
                </a:lnTo>
                <a:lnTo>
                  <a:pt x="0" y="647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-78303" t="0" r="-78303" b="0"/>
            </a:stretch>
          </a:blip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E41354E0-8022-4428-8FF8-84930D41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525" y="3843337"/>
            <a:ext cx="4857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687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rPr>
              <a:t>1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DBC63381-96E7-49F6-9F55-C63F7425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1600" y="3829050"/>
            <a:ext cx="1400175" cy="542925"/>
          </a:xfrm>
          <a:custGeom xmlns:a="http://schemas.openxmlformats.org/drawingml/2006/main">
            <a:rect l="l" t="t" r="r" b="b"/>
            <a:pathLst>
              <a:path w="1866900" h="723900">
                <a:moveTo>
                  <a:pt x="0" y="0"/>
                </a:moveTo>
                <a:lnTo>
                  <a:pt x="1866900" y="0"/>
                </a:lnTo>
                <a:lnTo>
                  <a:pt x="1866900" y="723900"/>
                </a:lnTo>
                <a:lnTo>
                  <a:pt x="0" y="723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0" t="-250" r="0" b="-250"/>
            </a:stretch>
          </a:blipFill>
        </p:spPr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23325DCA-E26E-4ABB-9189-0F63C145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1600" y="3800475"/>
            <a:ext cx="14001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95"/>
              </a:lnSpc>
              <a:buNone/>
            </a:pPr>
            <a:r>
              <a:rPr sz="1912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현황 분석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6EF5F64E-2287-4E8D-B681-43FC7932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525" y="4500562"/>
            <a:ext cx="1971675" cy="371475"/>
          </a:xfrm>
          <a:custGeom xmlns:a="http://schemas.openxmlformats.org/drawingml/2006/main">
            <a:rect l="l" t="t" r="r" b="b"/>
            <a:pathLst>
              <a:path w="2628900" h="495300">
                <a:moveTo>
                  <a:pt x="0" y="0"/>
                </a:moveTo>
                <a:lnTo>
                  <a:pt x="2628900" y="0"/>
                </a:lnTo>
                <a:lnTo>
                  <a:pt x="2628900" y="495300"/>
                </a:lnTo>
                <a:lnTo>
                  <a:pt x="0" y="4953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0" t="-53420" r="0" b="-53420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42128F0B-3B9C-4DF2-AF77-03C37418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1525" y="4486275"/>
            <a:ext cx="1971675" cy="385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기존 챗봇과
데이터 산출물 확인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9F1519E2-8231-421A-B862-81BBDD7F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57862" y="4343400"/>
            <a:ext cx="1000125" cy="71438"/>
          </a:xfrm>
          <a:custGeom xmlns:a="http://schemas.openxmlformats.org/drawingml/2006/main">
            <a:rect l="l" t="t" r="r" b="b"/>
            <a:pathLst>
              <a:path w="1333500" h="95250">
                <a:moveTo>
                  <a:pt x="0" y="0"/>
                </a:moveTo>
                <a:lnTo>
                  <a:pt x="1333500" y="0"/>
                </a:lnTo>
                <a:lnTo>
                  <a:pt x="13335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9ED7D4"/>
          </a:solid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01796507-4032-4CE5-8545-613B50BB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93281" y="3636169"/>
            <a:ext cx="2443162" cy="1514475"/>
          </a:xfrm>
          <a:custGeom xmlns:a="http://schemas.openxmlformats.org/drawingml/2006/main">
            <a:rect l="l" t="t" r="r" b="b"/>
            <a:pathLst>
              <a:path w="3257550" h="2019300">
                <a:moveTo>
                  <a:pt x="0" y="230759"/>
                </a:moveTo>
                <a:cubicBezTo>
                  <a:pt x="0" y="103378"/>
                  <a:pt x="103378" y="0"/>
                  <a:pt x="230759" y="0"/>
                </a:cubicBezTo>
                <a:lnTo>
                  <a:pt x="3026791" y="0"/>
                </a:lnTo>
                <a:cubicBezTo>
                  <a:pt x="3154299" y="0"/>
                  <a:pt x="3257550" y="103378"/>
                  <a:pt x="3257550" y="230759"/>
                </a:cubicBezTo>
                <a:lnTo>
                  <a:pt x="3257550" y="1788541"/>
                </a:lnTo>
                <a:cubicBezTo>
                  <a:pt x="3257550" y="1916049"/>
                  <a:pt x="3154172" y="2019300"/>
                  <a:pt x="3026791" y="2019300"/>
                </a:cubicBezTo>
                <a:lnTo>
                  <a:pt x="230759" y="2019300"/>
                </a:lnTo>
                <a:cubicBezTo>
                  <a:pt x="103378" y="2019300"/>
                  <a:pt x="0" y="1915922"/>
                  <a:pt x="0" y="178854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E0967274-0C9D-442E-8148-931FEB17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9025" y="3871912"/>
            <a:ext cx="485775" cy="485775"/>
          </a:xfrm>
          <a:custGeom xmlns:a="http://schemas.openxmlformats.org/drawingml/2006/main">
            <a:rect l="l" t="t" r="r" b="b"/>
            <a:pathLst>
              <a:path w="647700" h="647700">
                <a:moveTo>
                  <a:pt x="0" y="323850"/>
                </a:moveTo>
                <a:cubicBezTo>
                  <a:pt x="0" y="145034"/>
                  <a:pt x="145034" y="0"/>
                  <a:pt x="323850" y="0"/>
                </a:cubicBezTo>
                <a:cubicBezTo>
                  <a:pt x="502666" y="0"/>
                  <a:pt x="647700" y="145034"/>
                  <a:pt x="647700" y="323850"/>
                </a:cubicBezTo>
                <a:cubicBezTo>
                  <a:pt x="647700" y="502666"/>
                  <a:pt x="502666" y="647700"/>
                  <a:pt x="323850" y="647700"/>
                </a:cubicBezTo>
                <a:cubicBezTo>
                  <a:pt x="145034" y="647700"/>
                  <a:pt x="0" y="502666"/>
                  <a:pt x="0" y="323850"/>
                </a:cubicBezTo>
                <a:close/>
              </a:path>
            </a:pathLst>
          </a:custGeom>
          <a:solidFill xmlns:a="http://schemas.openxmlformats.org/drawingml/2006/main">
            <a:srgbClr val="2E63B7"/>
          </a:solidFill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E08AAA4C-E207-4A51-AF3F-8126E34E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9025" y="3871912"/>
            <a:ext cx="485775" cy="485775"/>
          </a:xfrm>
          <a:custGeom xmlns:a="http://schemas.openxmlformats.org/drawingml/2006/main">
            <a:rect l="l" t="t" r="r" b="b"/>
            <a:pathLst>
              <a:path w="647700" h="647700">
                <a:moveTo>
                  <a:pt x="0" y="0"/>
                </a:moveTo>
                <a:lnTo>
                  <a:pt x="647700" y="0"/>
                </a:lnTo>
                <a:lnTo>
                  <a:pt x="647700" y="647700"/>
                </a:lnTo>
                <a:lnTo>
                  <a:pt x="0" y="647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-78303" t="0" r="-78303" b="0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EC3DB8DA-E8EC-4CCD-911A-FCC9901E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9025" y="3843337"/>
            <a:ext cx="4857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687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rPr>
              <a:t>2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3EA8A52C-5C72-480D-9A10-13A453F1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9100" y="3829050"/>
            <a:ext cx="1400175" cy="542925"/>
          </a:xfrm>
          <a:custGeom xmlns:a="http://schemas.openxmlformats.org/drawingml/2006/main">
            <a:rect l="l" t="t" r="r" b="b"/>
            <a:pathLst>
              <a:path w="1866900" h="723900">
                <a:moveTo>
                  <a:pt x="0" y="0"/>
                </a:moveTo>
                <a:lnTo>
                  <a:pt x="1866900" y="0"/>
                </a:lnTo>
                <a:lnTo>
                  <a:pt x="1866900" y="723900"/>
                </a:lnTo>
                <a:lnTo>
                  <a:pt x="0" y="723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0" t="-250" r="0" b="-250"/>
            </a:stretch>
          </a:blip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2E4A3ACE-E333-440A-926A-9D2CD816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29100" y="3800475"/>
            <a:ext cx="14001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95"/>
              </a:lnSpc>
              <a:buNone/>
            </a:pPr>
            <a:r>
              <a:rPr sz="1912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서비스 기획</a:t>
            </a:r>
          </a:p>
        </p:txBody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70FA7313-DA1C-44C5-8E80-E7C08B23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9025" y="4500562"/>
            <a:ext cx="1971675" cy="371475"/>
          </a:xfrm>
          <a:custGeom xmlns:a="http://schemas.openxmlformats.org/drawingml/2006/main">
            <a:rect l="l" t="t" r="r" b="b"/>
            <a:pathLst>
              <a:path w="2628900" h="495300">
                <a:moveTo>
                  <a:pt x="0" y="0"/>
                </a:moveTo>
                <a:lnTo>
                  <a:pt x="2628900" y="0"/>
                </a:lnTo>
                <a:lnTo>
                  <a:pt x="2628900" y="495300"/>
                </a:lnTo>
                <a:lnTo>
                  <a:pt x="0" y="4953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0" t="-53420" r="0" b="-53420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C310C952-DC18-4A47-AE4E-E61C5AD6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29025" y="4486275"/>
            <a:ext cx="1971675" cy="385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FAQ·업무·의도
사용자 흐름 결정</a:t>
            </a:r>
          </a:p>
        </p:txBody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D2727A73-D1AC-4173-84BA-878D0EA2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15362" y="4343400"/>
            <a:ext cx="1000125" cy="71438"/>
          </a:xfrm>
          <a:custGeom xmlns:a="http://schemas.openxmlformats.org/drawingml/2006/main">
            <a:rect l="l" t="t" r="r" b="b"/>
            <a:pathLst>
              <a:path w="1333500" h="95250">
                <a:moveTo>
                  <a:pt x="0" y="0"/>
                </a:moveTo>
                <a:lnTo>
                  <a:pt x="1333500" y="0"/>
                </a:lnTo>
                <a:lnTo>
                  <a:pt x="13335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9ED7D4"/>
          </a:solidFill>
        </p:spPr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40869775-B1B8-4F11-82CE-087805F2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0781" y="3636169"/>
            <a:ext cx="2443162" cy="1514475"/>
          </a:xfrm>
          <a:custGeom xmlns:a="http://schemas.openxmlformats.org/drawingml/2006/main">
            <a:rect l="l" t="t" r="r" b="b"/>
            <a:pathLst>
              <a:path w="3257550" h="2019300">
                <a:moveTo>
                  <a:pt x="0" y="230759"/>
                </a:moveTo>
                <a:cubicBezTo>
                  <a:pt x="0" y="103378"/>
                  <a:pt x="103378" y="0"/>
                  <a:pt x="230759" y="0"/>
                </a:cubicBezTo>
                <a:lnTo>
                  <a:pt x="3026791" y="0"/>
                </a:lnTo>
                <a:cubicBezTo>
                  <a:pt x="3154299" y="0"/>
                  <a:pt x="3257550" y="103378"/>
                  <a:pt x="3257550" y="230759"/>
                </a:cubicBezTo>
                <a:lnTo>
                  <a:pt x="3257550" y="1788541"/>
                </a:lnTo>
                <a:cubicBezTo>
                  <a:pt x="3257550" y="1916049"/>
                  <a:pt x="3154172" y="2019300"/>
                  <a:pt x="3026791" y="2019300"/>
                </a:cubicBezTo>
                <a:lnTo>
                  <a:pt x="230759" y="2019300"/>
                </a:lnTo>
                <a:cubicBezTo>
                  <a:pt x="103378" y="2019300"/>
                  <a:pt x="0" y="1915922"/>
                  <a:pt x="0" y="178854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58" name="Freeform 58">
            <a:extLst xmlns:a="http://schemas.openxmlformats.org/drawingml/2006/main">
              <a:ext uri="{FF2B5EF4-FFF2-40B4-BE49-F238E27FC236}">
                <a16:creationId xmlns:a16="http://schemas.microsoft.com/office/drawing/2014/main" id="{38C9AE2A-5055-43EE-8071-16C8E7B4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6525" y="3871912"/>
            <a:ext cx="485775" cy="485775"/>
          </a:xfrm>
          <a:custGeom xmlns:a="http://schemas.openxmlformats.org/drawingml/2006/main">
            <a:rect l="l" t="t" r="r" b="b"/>
            <a:pathLst>
              <a:path w="647700" h="647700">
                <a:moveTo>
                  <a:pt x="0" y="323850"/>
                </a:moveTo>
                <a:cubicBezTo>
                  <a:pt x="0" y="145034"/>
                  <a:pt x="145034" y="0"/>
                  <a:pt x="323850" y="0"/>
                </a:cubicBezTo>
                <a:cubicBezTo>
                  <a:pt x="502666" y="0"/>
                  <a:pt x="647700" y="145034"/>
                  <a:pt x="647700" y="323850"/>
                </a:cubicBezTo>
                <a:cubicBezTo>
                  <a:pt x="647700" y="502666"/>
                  <a:pt x="502666" y="647700"/>
                  <a:pt x="323850" y="647700"/>
                </a:cubicBezTo>
                <a:cubicBezTo>
                  <a:pt x="145034" y="647700"/>
                  <a:pt x="0" y="502666"/>
                  <a:pt x="0" y="323850"/>
                </a:cubicBezTo>
                <a:close/>
              </a:path>
            </a:pathLst>
          </a:custGeom>
          <a:solidFill xmlns:a="http://schemas.openxmlformats.org/drawingml/2006/main">
            <a:srgbClr val="2E63B7"/>
          </a:solidFill>
        </p:spPr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3F855E37-061E-4356-A9E8-F6252897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6525" y="3871912"/>
            <a:ext cx="485775" cy="485775"/>
          </a:xfrm>
          <a:custGeom xmlns:a="http://schemas.openxmlformats.org/drawingml/2006/main">
            <a:rect l="l" t="t" r="r" b="b"/>
            <a:pathLst>
              <a:path w="647700" h="647700">
                <a:moveTo>
                  <a:pt x="0" y="0"/>
                </a:moveTo>
                <a:lnTo>
                  <a:pt x="647700" y="0"/>
                </a:lnTo>
                <a:lnTo>
                  <a:pt x="647700" y="647700"/>
                </a:lnTo>
                <a:lnTo>
                  <a:pt x="0" y="647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-78303" t="0" r="-78303" b="0"/>
            </a:stretch>
          </a:blipFill>
        </p:spPr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6185BD4E-C7EA-48C0-A8FC-18B0C40F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6525" y="3843337"/>
            <a:ext cx="4857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687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rPr>
              <a:t>3</a:t>
            </a:r>
          </a:p>
        </p:txBody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12FD0C70-D9C4-428D-AD04-5E782114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6600" y="3829050"/>
            <a:ext cx="1400175" cy="542925"/>
          </a:xfrm>
          <a:custGeom xmlns:a="http://schemas.openxmlformats.org/drawingml/2006/main">
            <a:rect l="l" t="t" r="r" b="b"/>
            <a:pathLst>
              <a:path w="1866900" h="723900">
                <a:moveTo>
                  <a:pt x="0" y="0"/>
                </a:moveTo>
                <a:lnTo>
                  <a:pt x="1866900" y="0"/>
                </a:lnTo>
                <a:lnTo>
                  <a:pt x="1866900" y="723900"/>
                </a:lnTo>
                <a:lnTo>
                  <a:pt x="0" y="723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0" t="-250" r="0" b="-250"/>
            </a:stretch>
          </a:blipFill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A9553A52-01DF-4C74-8537-C943E90B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6600" y="3800475"/>
            <a:ext cx="14001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95"/>
              </a:lnSpc>
              <a:buNone/>
            </a:pPr>
            <a:r>
              <a:rPr sz="1912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파이프라인</a:t>
            </a:r>
          </a:p>
        </p:txBody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9737B693-7CFA-4F3D-9642-A418E305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6525" y="4500562"/>
            <a:ext cx="1971675" cy="371475"/>
          </a:xfrm>
          <a:custGeom xmlns:a="http://schemas.openxmlformats.org/drawingml/2006/main">
            <a:rect l="l" t="t" r="r" b="b"/>
            <a:pathLst>
              <a:path w="2628900" h="495300">
                <a:moveTo>
                  <a:pt x="0" y="0"/>
                </a:moveTo>
                <a:lnTo>
                  <a:pt x="2628900" y="0"/>
                </a:lnTo>
                <a:lnTo>
                  <a:pt x="2628900" y="495300"/>
                </a:lnTo>
                <a:lnTo>
                  <a:pt x="0" y="4953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0" t="-53420" r="0" b="-53420"/>
            </a:stretch>
          </a:blipFill>
        </p:spPr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829E5FAF-736E-4DDC-83CE-E312A440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86525" y="4486275"/>
            <a:ext cx="1971675" cy="385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분류·필터·검색
답변·출처 설계</a:t>
            </a:r>
          </a:p>
        </p:txBody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FB0E292A-9668-40E2-9AE8-8C14A2EA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2862" y="4343400"/>
            <a:ext cx="1000125" cy="71438"/>
          </a:xfrm>
          <a:custGeom xmlns:a="http://schemas.openxmlformats.org/drawingml/2006/main">
            <a:rect l="l" t="t" r="r" b="b"/>
            <a:pathLst>
              <a:path w="1333500" h="95250">
                <a:moveTo>
                  <a:pt x="0" y="0"/>
                </a:moveTo>
                <a:lnTo>
                  <a:pt x="1333500" y="0"/>
                </a:lnTo>
                <a:lnTo>
                  <a:pt x="13335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9ED7D4"/>
          </a:solidFill>
        </p:spPr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0D86BE71-699C-4035-B424-8EE0EE31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08281" y="3636169"/>
            <a:ext cx="2443162" cy="1514475"/>
          </a:xfrm>
          <a:custGeom xmlns:a="http://schemas.openxmlformats.org/drawingml/2006/main">
            <a:rect l="l" t="t" r="r" b="b"/>
            <a:pathLst>
              <a:path w="3257550" h="2019300">
                <a:moveTo>
                  <a:pt x="0" y="230759"/>
                </a:moveTo>
                <a:cubicBezTo>
                  <a:pt x="0" y="103378"/>
                  <a:pt x="103378" y="0"/>
                  <a:pt x="230759" y="0"/>
                </a:cubicBezTo>
                <a:lnTo>
                  <a:pt x="3026791" y="0"/>
                </a:lnTo>
                <a:cubicBezTo>
                  <a:pt x="3154299" y="0"/>
                  <a:pt x="3257550" y="103378"/>
                  <a:pt x="3257550" y="230759"/>
                </a:cubicBezTo>
                <a:lnTo>
                  <a:pt x="3257550" y="1788541"/>
                </a:lnTo>
                <a:cubicBezTo>
                  <a:pt x="3257550" y="1916049"/>
                  <a:pt x="3154172" y="2019300"/>
                  <a:pt x="3026791" y="2019300"/>
                </a:cubicBezTo>
                <a:lnTo>
                  <a:pt x="230759" y="2019300"/>
                </a:lnTo>
                <a:cubicBezTo>
                  <a:pt x="103378" y="2019300"/>
                  <a:pt x="0" y="1915922"/>
                  <a:pt x="0" y="178854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73" name="Freeform 73">
            <a:extLst xmlns:a="http://schemas.openxmlformats.org/drawingml/2006/main">
              <a:ext uri="{FF2B5EF4-FFF2-40B4-BE49-F238E27FC236}">
                <a16:creationId xmlns:a16="http://schemas.microsoft.com/office/drawing/2014/main" id="{92C270F9-C475-4E89-BA94-74A2432D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44025" y="3871912"/>
            <a:ext cx="485775" cy="485775"/>
          </a:xfrm>
          <a:custGeom xmlns:a="http://schemas.openxmlformats.org/drawingml/2006/main">
            <a:rect l="l" t="t" r="r" b="b"/>
            <a:pathLst>
              <a:path w="647700" h="647700">
                <a:moveTo>
                  <a:pt x="0" y="323850"/>
                </a:moveTo>
                <a:cubicBezTo>
                  <a:pt x="0" y="145034"/>
                  <a:pt x="145034" y="0"/>
                  <a:pt x="323850" y="0"/>
                </a:cubicBezTo>
                <a:cubicBezTo>
                  <a:pt x="502666" y="0"/>
                  <a:pt x="647700" y="145034"/>
                  <a:pt x="647700" y="323850"/>
                </a:cubicBezTo>
                <a:cubicBezTo>
                  <a:pt x="647700" y="502666"/>
                  <a:pt x="502666" y="647700"/>
                  <a:pt x="323850" y="647700"/>
                </a:cubicBezTo>
                <a:cubicBezTo>
                  <a:pt x="145034" y="647700"/>
                  <a:pt x="0" y="502666"/>
                  <a:pt x="0" y="323850"/>
                </a:cubicBezTo>
                <a:close/>
              </a:path>
            </a:pathLst>
          </a:custGeom>
          <a:solidFill xmlns:a="http://schemas.openxmlformats.org/drawingml/2006/main">
            <a:srgbClr val="2E63B7"/>
          </a:solidFill>
        </p:spPr>
      </p:sp>
      <p:sp>
        <p:nvSpPr>
          <p:cNvPr id="75" name="Freeform 75">
            <a:extLst xmlns:a="http://schemas.openxmlformats.org/drawingml/2006/main">
              <a:ext uri="{FF2B5EF4-FFF2-40B4-BE49-F238E27FC236}">
                <a16:creationId xmlns:a16="http://schemas.microsoft.com/office/drawing/2014/main" id="{F78946FE-28EA-49F1-8DAB-08EE1AEC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44025" y="3871912"/>
            <a:ext cx="485775" cy="485775"/>
          </a:xfrm>
          <a:custGeom xmlns:a="http://schemas.openxmlformats.org/drawingml/2006/main">
            <a:rect l="l" t="t" r="r" b="b"/>
            <a:pathLst>
              <a:path w="647700" h="647700">
                <a:moveTo>
                  <a:pt x="0" y="0"/>
                </a:moveTo>
                <a:lnTo>
                  <a:pt x="647700" y="0"/>
                </a:lnTo>
                <a:lnTo>
                  <a:pt x="647700" y="647700"/>
                </a:lnTo>
                <a:lnTo>
                  <a:pt x="0" y="647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-78303" t="0" r="-78303" b="0"/>
            </a:stretch>
          </a:blipFill>
        </p:spPr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9BA3082C-DCF9-4987-8759-3121BD8E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44025" y="3843337"/>
            <a:ext cx="4857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687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rPr>
              <a:t>4</a:t>
            </a:r>
          </a:p>
        </p:txBody>
      </p:sp>
      <p:sp>
        <p:nvSpPr>
          <p:cNvPr id="78" name="Freeform 78">
            <a:extLst xmlns:a="http://schemas.openxmlformats.org/drawingml/2006/main">
              <a:ext uri="{FF2B5EF4-FFF2-40B4-BE49-F238E27FC236}">
                <a16:creationId xmlns:a16="http://schemas.microsoft.com/office/drawing/2014/main" id="{863865C6-B5E5-45CB-95AE-CE1D8479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44100" y="3829050"/>
            <a:ext cx="1400175" cy="542925"/>
          </a:xfrm>
          <a:custGeom xmlns:a="http://schemas.openxmlformats.org/drawingml/2006/main">
            <a:rect l="l" t="t" r="r" b="b"/>
            <a:pathLst>
              <a:path w="1866900" h="723900">
                <a:moveTo>
                  <a:pt x="0" y="0"/>
                </a:moveTo>
                <a:lnTo>
                  <a:pt x="1866900" y="0"/>
                </a:lnTo>
                <a:lnTo>
                  <a:pt x="1866900" y="723900"/>
                </a:lnTo>
                <a:lnTo>
                  <a:pt x="0" y="723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0" t="-250" r="0" b="-250"/>
            </a:stretch>
          </a:blipFill>
        </p:spPr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97B0F55E-42BD-4B09-A1F1-FF567D43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44100" y="3800475"/>
            <a:ext cx="14001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95"/>
              </a:lnSpc>
              <a:buNone/>
            </a:pPr>
            <a:r>
              <a:rPr sz="1912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평가셋</a:t>
            </a:r>
          </a:p>
        </p:txBody>
      </p:sp>
      <p:sp>
        <p:nvSpPr>
          <p:cNvPr id="81" name="Freeform 81">
            <a:extLst xmlns:a="http://schemas.openxmlformats.org/drawingml/2006/main">
              <a:ext uri="{FF2B5EF4-FFF2-40B4-BE49-F238E27FC236}">
                <a16:creationId xmlns:a16="http://schemas.microsoft.com/office/drawing/2014/main" id="{DC5C7596-56B5-4F16-AF23-7FD811AC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44025" y="4500562"/>
            <a:ext cx="1971675" cy="371475"/>
          </a:xfrm>
          <a:custGeom xmlns:a="http://schemas.openxmlformats.org/drawingml/2006/main">
            <a:rect l="l" t="t" r="r" b="b"/>
            <a:pathLst>
              <a:path w="2628900" h="495300">
                <a:moveTo>
                  <a:pt x="0" y="0"/>
                </a:moveTo>
                <a:lnTo>
                  <a:pt x="2628900" y="0"/>
                </a:lnTo>
                <a:lnTo>
                  <a:pt x="2628900" y="495300"/>
                </a:lnTo>
                <a:lnTo>
                  <a:pt x="0" y="4953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0" t="-53420" r="0" b="-53420"/>
            </a:stretch>
          </a:blipFill>
        </p:spPr>
      </p:sp>
      <p:sp>
        <p:nvSpPr>
          <p:cNvPr id="82" name="TextBox 82">
            <a:extLst xmlns:a="http://schemas.openxmlformats.org/drawingml/2006/main">
              <a:ext uri="{FF2B5EF4-FFF2-40B4-BE49-F238E27FC236}">
                <a16:creationId xmlns:a16="http://schemas.microsoft.com/office/drawing/2014/main" id="{F5F1AA68-EB67-4A44-BA9D-C338ACB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44025" y="4486275"/>
            <a:ext cx="1971675" cy="385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질문·의도·Gold
정답 기준 구축</a:t>
            </a:r>
          </a:p>
        </p:txBody>
      </p:sp>
      <p:sp>
        <p:nvSpPr>
          <p:cNvPr id="84" name="Freeform 84">
            <a:extLst xmlns:a="http://schemas.openxmlformats.org/drawingml/2006/main">
              <a:ext uri="{FF2B5EF4-FFF2-40B4-BE49-F238E27FC236}">
                <a16:creationId xmlns:a16="http://schemas.microsoft.com/office/drawing/2014/main" id="{8B263C71-202B-4A27-ABC7-B03F060E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30362" y="4343400"/>
            <a:ext cx="1000125" cy="71438"/>
          </a:xfrm>
          <a:custGeom xmlns:a="http://schemas.openxmlformats.org/drawingml/2006/main">
            <a:rect l="l" t="t" r="r" b="b"/>
            <a:pathLst>
              <a:path w="1333500" h="95250">
                <a:moveTo>
                  <a:pt x="0" y="0"/>
                </a:moveTo>
                <a:lnTo>
                  <a:pt x="1333500" y="0"/>
                </a:lnTo>
                <a:lnTo>
                  <a:pt x="1333500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9ED7D4"/>
          </a:solidFill>
        </p:spPr>
      </p:sp>
      <p:sp>
        <p:nvSpPr>
          <p:cNvPr id="86" name="Freeform 86">
            <a:extLst xmlns:a="http://schemas.openxmlformats.org/drawingml/2006/main">
              <a:ext uri="{FF2B5EF4-FFF2-40B4-BE49-F238E27FC236}">
                <a16:creationId xmlns:a16="http://schemas.microsoft.com/office/drawing/2014/main" id="{DAFAB1DF-CDB1-4FBF-BFF7-A695F35B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65781" y="3636169"/>
            <a:ext cx="2443162" cy="1514475"/>
          </a:xfrm>
          <a:custGeom xmlns:a="http://schemas.openxmlformats.org/drawingml/2006/main">
            <a:rect l="l" t="t" r="r" b="b"/>
            <a:pathLst>
              <a:path w="3257550" h="2019300">
                <a:moveTo>
                  <a:pt x="0" y="230759"/>
                </a:moveTo>
                <a:cubicBezTo>
                  <a:pt x="0" y="103378"/>
                  <a:pt x="103378" y="0"/>
                  <a:pt x="230759" y="0"/>
                </a:cubicBezTo>
                <a:lnTo>
                  <a:pt x="3026791" y="0"/>
                </a:lnTo>
                <a:cubicBezTo>
                  <a:pt x="3154299" y="0"/>
                  <a:pt x="3257550" y="103378"/>
                  <a:pt x="3257550" y="230759"/>
                </a:cubicBezTo>
                <a:lnTo>
                  <a:pt x="3257550" y="1788541"/>
                </a:lnTo>
                <a:cubicBezTo>
                  <a:pt x="3257550" y="1916049"/>
                  <a:pt x="3154172" y="2019300"/>
                  <a:pt x="3026791" y="2019300"/>
                </a:cubicBezTo>
                <a:lnTo>
                  <a:pt x="230759" y="2019300"/>
                </a:lnTo>
                <a:cubicBezTo>
                  <a:pt x="103378" y="2019300"/>
                  <a:pt x="0" y="1915922"/>
                  <a:pt x="0" y="178854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88" name="Freeform 88">
            <a:extLst xmlns:a="http://schemas.openxmlformats.org/drawingml/2006/main">
              <a:ext uri="{FF2B5EF4-FFF2-40B4-BE49-F238E27FC236}">
                <a16:creationId xmlns:a16="http://schemas.microsoft.com/office/drawing/2014/main" id="{31A0A392-B9FD-45AE-93E5-4CE6ADB8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01525" y="3871912"/>
            <a:ext cx="485775" cy="485775"/>
          </a:xfrm>
          <a:custGeom xmlns:a="http://schemas.openxmlformats.org/drawingml/2006/main">
            <a:rect l="l" t="t" r="r" b="b"/>
            <a:pathLst>
              <a:path w="647700" h="647700">
                <a:moveTo>
                  <a:pt x="0" y="323850"/>
                </a:moveTo>
                <a:cubicBezTo>
                  <a:pt x="0" y="145034"/>
                  <a:pt x="145034" y="0"/>
                  <a:pt x="323850" y="0"/>
                </a:cubicBezTo>
                <a:cubicBezTo>
                  <a:pt x="502666" y="0"/>
                  <a:pt x="647700" y="145034"/>
                  <a:pt x="647700" y="323850"/>
                </a:cubicBezTo>
                <a:cubicBezTo>
                  <a:pt x="647700" y="502666"/>
                  <a:pt x="502666" y="647700"/>
                  <a:pt x="323850" y="647700"/>
                </a:cubicBezTo>
                <a:cubicBezTo>
                  <a:pt x="145034" y="647700"/>
                  <a:pt x="0" y="502666"/>
                  <a:pt x="0" y="323850"/>
                </a:cubicBezTo>
                <a:close/>
              </a:path>
            </a:pathLst>
          </a:custGeom>
          <a:solidFill xmlns:a="http://schemas.openxmlformats.org/drawingml/2006/main">
            <a:srgbClr val="2E63B7"/>
          </a:solidFill>
        </p:spPr>
      </p:sp>
      <p:sp>
        <p:nvSpPr>
          <p:cNvPr id="90" name="Freeform 90">
            <a:extLst xmlns:a="http://schemas.openxmlformats.org/drawingml/2006/main">
              <a:ext uri="{FF2B5EF4-FFF2-40B4-BE49-F238E27FC236}">
                <a16:creationId xmlns:a16="http://schemas.microsoft.com/office/drawing/2014/main" id="{6D23BADF-B76C-4F32-9BA0-D12C60A5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01525" y="3871912"/>
            <a:ext cx="485775" cy="485775"/>
          </a:xfrm>
          <a:custGeom xmlns:a="http://schemas.openxmlformats.org/drawingml/2006/main">
            <a:rect l="l" t="t" r="r" b="b"/>
            <a:pathLst>
              <a:path w="647700" h="647700">
                <a:moveTo>
                  <a:pt x="0" y="0"/>
                </a:moveTo>
                <a:lnTo>
                  <a:pt x="647700" y="0"/>
                </a:lnTo>
                <a:lnTo>
                  <a:pt x="647700" y="647700"/>
                </a:lnTo>
                <a:lnTo>
                  <a:pt x="0" y="647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-78303" t="0" r="-78303" b="0"/>
            </a:stretch>
          </a:blipFill>
        </p:spPr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470D0DC0-6882-491B-8981-8AE7E278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01525" y="3843337"/>
            <a:ext cx="4857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687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rPr>
              <a:t>5</a:t>
            </a:r>
          </a:p>
        </p:txBody>
      </p:sp>
      <p:sp>
        <p:nvSpPr>
          <p:cNvPr id="93" name="Freeform 93">
            <a:extLst xmlns:a="http://schemas.openxmlformats.org/drawingml/2006/main">
              <a:ext uri="{FF2B5EF4-FFF2-40B4-BE49-F238E27FC236}">
                <a16:creationId xmlns:a16="http://schemas.microsoft.com/office/drawing/2014/main" id="{F879A156-8B1B-446A-8281-121FF409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1600" y="3829050"/>
            <a:ext cx="1400175" cy="542925"/>
          </a:xfrm>
          <a:custGeom xmlns:a="http://schemas.openxmlformats.org/drawingml/2006/main">
            <a:rect l="l" t="t" r="r" b="b"/>
            <a:pathLst>
              <a:path w="1866900" h="723900">
                <a:moveTo>
                  <a:pt x="0" y="0"/>
                </a:moveTo>
                <a:lnTo>
                  <a:pt x="1866900" y="0"/>
                </a:lnTo>
                <a:lnTo>
                  <a:pt x="1866900" y="723900"/>
                </a:lnTo>
                <a:lnTo>
                  <a:pt x="0" y="723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0" t="-250" r="0" b="-250"/>
            </a:stretch>
          </a:blipFill>
        </p:spPr>
      </p:sp>
      <p:sp>
        <p:nvSpPr>
          <p:cNvPr id="94" name="TextBox 94">
            <a:extLst xmlns:a="http://schemas.openxmlformats.org/drawingml/2006/main">
              <a:ext uri="{FF2B5EF4-FFF2-40B4-BE49-F238E27FC236}">
                <a16:creationId xmlns:a16="http://schemas.microsoft.com/office/drawing/2014/main" id="{D8147E41-460A-418A-A7BE-FC5BB769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01600" y="3800475"/>
            <a:ext cx="14001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95"/>
              </a:lnSpc>
              <a:buNone/>
            </a:pPr>
            <a:r>
              <a:rPr sz="1912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검수</a:t>
            </a:r>
          </a:p>
        </p:txBody>
      </p:sp>
      <p:sp>
        <p:nvSpPr>
          <p:cNvPr id="96" name="Freeform 96">
            <a:extLst xmlns:a="http://schemas.openxmlformats.org/drawingml/2006/main">
              <a:ext uri="{FF2B5EF4-FFF2-40B4-BE49-F238E27FC236}">
                <a16:creationId xmlns:a16="http://schemas.microsoft.com/office/drawing/2014/main" id="{C6BEB1C9-60BE-46B2-929D-73F33DE0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01525" y="4500562"/>
            <a:ext cx="1971675" cy="371475"/>
          </a:xfrm>
          <a:custGeom xmlns:a="http://schemas.openxmlformats.org/drawingml/2006/main">
            <a:rect l="l" t="t" r="r" b="b"/>
            <a:pathLst>
              <a:path w="2628900" h="495300">
                <a:moveTo>
                  <a:pt x="0" y="0"/>
                </a:moveTo>
                <a:lnTo>
                  <a:pt x="2628900" y="0"/>
                </a:lnTo>
                <a:lnTo>
                  <a:pt x="2628900" y="495300"/>
                </a:lnTo>
                <a:lnTo>
                  <a:pt x="0" y="4953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0" t="-53420" r="0" b="-53420"/>
            </a:stretch>
          </a:blipFill>
        </p:spPr>
      </p:sp>
      <p:sp>
        <p:nvSpPr>
          <p:cNvPr id="97" name="TextBox 97">
            <a:extLst xmlns:a="http://schemas.openxmlformats.org/drawingml/2006/main">
              <a:ext uri="{FF2B5EF4-FFF2-40B4-BE49-F238E27FC236}">
                <a16:creationId xmlns:a16="http://schemas.microsoft.com/office/drawing/2014/main" id="{3C5B58C5-8A6B-4F24-A961-22D9514C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01525" y="4486275"/>
            <a:ext cx="1971675" cy="385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수기 + API 보조
HTML 청크 확인</a:t>
            </a:r>
          </a:p>
        </p:txBody>
      </p:sp>
      <p:sp>
        <p:nvSpPr>
          <p:cNvPr id="99" name="Freeform 99">
            <a:extLst xmlns:a="http://schemas.openxmlformats.org/drawingml/2006/main">
              <a:ext uri="{FF2B5EF4-FFF2-40B4-BE49-F238E27FC236}">
                <a16:creationId xmlns:a16="http://schemas.microsoft.com/office/drawing/2014/main" id="{EA97FD27-6924-486F-89A2-C39A18E0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23281" y="3636169"/>
            <a:ext cx="2443162" cy="1514475"/>
          </a:xfrm>
          <a:custGeom xmlns:a="http://schemas.openxmlformats.org/drawingml/2006/main">
            <a:rect l="l" t="t" r="r" b="b"/>
            <a:pathLst>
              <a:path w="3257550" h="2019300">
                <a:moveTo>
                  <a:pt x="0" y="230759"/>
                </a:moveTo>
                <a:cubicBezTo>
                  <a:pt x="0" y="103378"/>
                  <a:pt x="103378" y="0"/>
                  <a:pt x="230759" y="0"/>
                </a:cubicBezTo>
                <a:lnTo>
                  <a:pt x="3026791" y="0"/>
                </a:lnTo>
                <a:cubicBezTo>
                  <a:pt x="3154299" y="0"/>
                  <a:pt x="3257550" y="103378"/>
                  <a:pt x="3257550" y="230759"/>
                </a:cubicBezTo>
                <a:lnTo>
                  <a:pt x="3257550" y="1788541"/>
                </a:lnTo>
                <a:cubicBezTo>
                  <a:pt x="3257550" y="1916049"/>
                  <a:pt x="3154172" y="2019300"/>
                  <a:pt x="3026791" y="2019300"/>
                </a:cubicBezTo>
                <a:lnTo>
                  <a:pt x="230759" y="2019300"/>
                </a:lnTo>
                <a:cubicBezTo>
                  <a:pt x="103378" y="2019300"/>
                  <a:pt x="0" y="1915922"/>
                  <a:pt x="0" y="178854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101" name="Freeform 101">
            <a:extLst xmlns:a="http://schemas.openxmlformats.org/drawingml/2006/main">
              <a:ext uri="{FF2B5EF4-FFF2-40B4-BE49-F238E27FC236}">
                <a16:creationId xmlns:a16="http://schemas.microsoft.com/office/drawing/2014/main" id="{9BE9C13D-BA04-46D2-B977-6BE5F627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59025" y="3871912"/>
            <a:ext cx="485775" cy="485775"/>
          </a:xfrm>
          <a:custGeom xmlns:a="http://schemas.openxmlformats.org/drawingml/2006/main">
            <a:rect l="l" t="t" r="r" b="b"/>
            <a:pathLst>
              <a:path w="647700" h="647700">
                <a:moveTo>
                  <a:pt x="0" y="323850"/>
                </a:moveTo>
                <a:cubicBezTo>
                  <a:pt x="0" y="145034"/>
                  <a:pt x="145034" y="0"/>
                  <a:pt x="323850" y="0"/>
                </a:cubicBezTo>
                <a:cubicBezTo>
                  <a:pt x="502666" y="0"/>
                  <a:pt x="647700" y="145034"/>
                  <a:pt x="647700" y="323850"/>
                </a:cubicBezTo>
                <a:cubicBezTo>
                  <a:pt x="647700" y="502666"/>
                  <a:pt x="502666" y="647700"/>
                  <a:pt x="323850" y="647700"/>
                </a:cubicBezTo>
                <a:cubicBezTo>
                  <a:pt x="145034" y="647700"/>
                  <a:pt x="0" y="502666"/>
                  <a:pt x="0" y="323850"/>
                </a:cubicBezTo>
                <a:close/>
              </a:path>
            </a:pathLst>
          </a:custGeom>
          <a:solidFill xmlns:a="http://schemas.openxmlformats.org/drawingml/2006/main">
            <a:srgbClr val="2E63B7"/>
          </a:solidFill>
        </p:spPr>
      </p:sp>
      <p:sp>
        <p:nvSpPr>
          <p:cNvPr id="103" name="Freeform 103">
            <a:extLst xmlns:a="http://schemas.openxmlformats.org/drawingml/2006/main">
              <a:ext uri="{FF2B5EF4-FFF2-40B4-BE49-F238E27FC236}">
                <a16:creationId xmlns:a16="http://schemas.microsoft.com/office/drawing/2014/main" id="{915406FC-98CC-4F7C-B2B7-E0B3D523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59025" y="3871912"/>
            <a:ext cx="485775" cy="485775"/>
          </a:xfrm>
          <a:custGeom xmlns:a="http://schemas.openxmlformats.org/drawingml/2006/main">
            <a:rect l="l" t="t" r="r" b="b"/>
            <a:pathLst>
              <a:path w="647700" h="647700">
                <a:moveTo>
                  <a:pt x="0" y="0"/>
                </a:moveTo>
                <a:lnTo>
                  <a:pt x="647700" y="0"/>
                </a:lnTo>
                <a:lnTo>
                  <a:pt x="647700" y="647700"/>
                </a:lnTo>
                <a:lnTo>
                  <a:pt x="0" y="647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-78303" t="0" r="-78303" b="0"/>
            </a:stretch>
          </a:blipFill>
        </p:spPr>
      </p:sp>
      <p:sp>
        <p:nvSpPr>
          <p:cNvPr id="104" name="TextBox 104">
            <a:extLst xmlns:a="http://schemas.openxmlformats.org/drawingml/2006/main">
              <a:ext uri="{FF2B5EF4-FFF2-40B4-BE49-F238E27FC236}">
                <a16:creationId xmlns:a16="http://schemas.microsoft.com/office/drawing/2014/main" id="{D92CF769-F74B-46DE-90CB-71612929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59025" y="3843337"/>
            <a:ext cx="485775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025"/>
              </a:lnSpc>
              <a:buNone/>
            </a:pPr>
            <a:r>
              <a:rPr sz="1687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rPr>
              <a:t>6</a:t>
            </a:r>
          </a:p>
        </p:txBody>
      </p:sp>
      <p:sp>
        <p:nvSpPr>
          <p:cNvPr id="106" name="Freeform 106">
            <a:extLst xmlns:a="http://schemas.openxmlformats.org/drawingml/2006/main">
              <a:ext uri="{FF2B5EF4-FFF2-40B4-BE49-F238E27FC236}">
                <a16:creationId xmlns:a16="http://schemas.microsoft.com/office/drawing/2014/main" id="{60AD2679-FF3E-4D37-8611-D6512B6B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59100" y="3829050"/>
            <a:ext cx="1400175" cy="542925"/>
          </a:xfrm>
          <a:custGeom xmlns:a="http://schemas.openxmlformats.org/drawingml/2006/main">
            <a:rect l="l" t="t" r="r" b="b"/>
            <a:pathLst>
              <a:path w="1866900" h="723900">
                <a:moveTo>
                  <a:pt x="0" y="0"/>
                </a:moveTo>
                <a:lnTo>
                  <a:pt x="1866900" y="0"/>
                </a:lnTo>
                <a:lnTo>
                  <a:pt x="1866900" y="723900"/>
                </a:lnTo>
                <a:lnTo>
                  <a:pt x="0" y="723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0" t="-250" r="0" b="-250"/>
            </a:stretch>
          </a:blipFill>
        </p:spPr>
      </p:sp>
      <p:sp>
        <p:nvSpPr>
          <p:cNvPr id="107" name="TextBox 107">
            <a:extLst xmlns:a="http://schemas.openxmlformats.org/drawingml/2006/main">
              <a:ext uri="{FF2B5EF4-FFF2-40B4-BE49-F238E27FC236}">
                <a16:creationId xmlns:a16="http://schemas.microsoft.com/office/drawing/2014/main" id="{7C86A026-4777-4AF0-A485-A43FF527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659100" y="3800475"/>
            <a:ext cx="14001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295"/>
              </a:lnSpc>
              <a:buNone/>
            </a:pPr>
            <a:r>
              <a:rPr sz="1912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시연 준비</a:t>
            </a:r>
          </a:p>
        </p:txBody>
      </p:sp>
      <p:sp>
        <p:nvSpPr>
          <p:cNvPr id="109" name="Freeform 109">
            <a:extLst xmlns:a="http://schemas.openxmlformats.org/drawingml/2006/main">
              <a:ext uri="{FF2B5EF4-FFF2-40B4-BE49-F238E27FC236}">
                <a16:creationId xmlns:a16="http://schemas.microsoft.com/office/drawing/2014/main" id="{B7D4F594-8727-4170-91B5-0F4F571E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59025" y="4500562"/>
            <a:ext cx="1971675" cy="371475"/>
          </a:xfrm>
          <a:custGeom xmlns:a="http://schemas.openxmlformats.org/drawingml/2006/main">
            <a:rect l="l" t="t" r="r" b="b"/>
            <a:pathLst>
              <a:path w="2628900" h="495300">
                <a:moveTo>
                  <a:pt x="0" y="0"/>
                </a:moveTo>
                <a:lnTo>
                  <a:pt x="2628900" y="0"/>
                </a:lnTo>
                <a:lnTo>
                  <a:pt x="2628900" y="495300"/>
                </a:lnTo>
                <a:lnTo>
                  <a:pt x="0" y="4953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0" t="-53420" r="0" b="-53420"/>
            </a:stretch>
          </a:blipFill>
        </p:spPr>
      </p:sp>
      <p:sp>
        <p:nvSpPr>
          <p:cNvPr id="110" name="TextBox 110">
            <a:extLst xmlns:a="http://schemas.openxmlformats.org/drawingml/2006/main">
              <a:ext uri="{FF2B5EF4-FFF2-40B4-BE49-F238E27FC236}">
                <a16:creationId xmlns:a16="http://schemas.microsoft.com/office/drawing/2014/main" id="{82523CA6-1805-4B1D-9072-BED95EB3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059025" y="4486275"/>
            <a:ext cx="1971675" cy="385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대표 질문으로
화면·출처 시연</a:t>
            </a:r>
          </a:p>
        </p:txBody>
      </p:sp>
      <p:sp>
        <p:nvSpPr>
          <p:cNvPr id="112" name="Freeform 112">
            <a:extLst xmlns:a="http://schemas.openxmlformats.org/drawingml/2006/main">
              <a:ext uri="{FF2B5EF4-FFF2-40B4-BE49-F238E27FC236}">
                <a16:creationId xmlns:a16="http://schemas.microsoft.com/office/drawing/2014/main" id="{21E67AE7-0CDE-4723-B555-E92E041A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5850731"/>
            <a:ext cx="16587788" cy="3157538"/>
          </a:xfrm>
          <a:custGeom xmlns:a="http://schemas.openxmlformats.org/drawingml/2006/main">
            <a:rect l="l" t="t" r="r" b="b"/>
            <a:pathLst>
              <a:path w="22117050" h="4210050">
                <a:moveTo>
                  <a:pt x="0" y="229616"/>
                </a:moveTo>
                <a:cubicBezTo>
                  <a:pt x="0" y="102870"/>
                  <a:pt x="102870" y="0"/>
                  <a:pt x="229616" y="0"/>
                </a:cubicBezTo>
                <a:lnTo>
                  <a:pt x="21887435" y="0"/>
                </a:lnTo>
                <a:cubicBezTo>
                  <a:pt x="22014307" y="0"/>
                  <a:pt x="22117050" y="102870"/>
                  <a:pt x="22117050" y="229616"/>
                </a:cubicBezTo>
                <a:lnTo>
                  <a:pt x="22117050" y="3980434"/>
                </a:lnTo>
                <a:cubicBezTo>
                  <a:pt x="22117050" y="4107307"/>
                  <a:pt x="22014180" y="4210050"/>
                  <a:pt x="21887435" y="4210050"/>
                </a:cubicBezTo>
                <a:lnTo>
                  <a:pt x="229616" y="4210050"/>
                </a:lnTo>
                <a:cubicBezTo>
                  <a:pt x="102870" y="4210050"/>
                  <a:pt x="0" y="4107180"/>
                  <a:pt x="0" y="3980434"/>
                </a:cubicBezTo>
                <a:close/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114" name="Freeform 114">
            <a:extLst xmlns:a="http://schemas.openxmlformats.org/drawingml/2006/main">
              <a:ext uri="{FF2B5EF4-FFF2-40B4-BE49-F238E27FC236}">
                <a16:creationId xmlns:a16="http://schemas.microsoft.com/office/drawing/2014/main" id="{2503E2B4-4B69-4DA6-BABB-6362AC28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6057900"/>
            <a:ext cx="15944850" cy="428625"/>
          </a:xfrm>
          <a:custGeom xmlns:a="http://schemas.openxmlformats.org/drawingml/2006/main">
            <a:rect l="l" t="t" r="r" b="b"/>
            <a:pathLst>
              <a:path w="21259800" h="571500">
                <a:moveTo>
                  <a:pt x="0" y="0"/>
                </a:moveTo>
                <a:lnTo>
                  <a:pt x="21259800" y="0"/>
                </a:lnTo>
                <a:lnTo>
                  <a:pt x="212598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4e1dcb5d67f4e8d">
              <a:alphaModFix amt="0"/>
            </a:blip>
            <a:stretch>
              <a:fillRect l="0" t="-674843" r="0" b="-674843"/>
            </a:stretch>
          </a:blipFill>
        </p:spPr>
      </p:sp>
      <p:sp>
        <p:nvSpPr>
          <p:cNvPr id="115" name="TextBox 115">
            <a:extLst xmlns:a="http://schemas.openxmlformats.org/drawingml/2006/main">
              <a:ext uri="{FF2B5EF4-FFF2-40B4-BE49-F238E27FC236}">
                <a16:creationId xmlns:a16="http://schemas.microsoft.com/office/drawing/2014/main" id="{136595AA-D2D5-4465-A986-4344E160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6029325"/>
            <a:ext cx="15944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180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단계별 일정</a:t>
            </a:r>
          </a:p>
        </p:txBody>
      </p:sp>
      <p:sp>
        <p:nvSpPr>
          <p:cNvPr id="116" name="TextBox 116">
            <a:extLst xmlns:a="http://schemas.openxmlformats.org/drawingml/2006/main">
              <a:ext uri="{FF2B5EF4-FFF2-40B4-BE49-F238E27FC236}">
                <a16:creationId xmlns:a16="http://schemas.microsoft.com/office/drawing/2014/main" id="{8FC0729B-C30A-4F56-B6B0-F6550C27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6637020"/>
            <a:ext cx="15761970" cy="2061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2026.07.20–07.24  |  정책 결정 → Prototype V1 → 평가셋·Gold 검수 → 발표·시연</a:t>
            </a:r>
          </a:p>
        </p:txBody>
      </p:sp>
    </p:spTree>
    <p:extLst>
      <p:ext uri="{BB962C8B-B14F-4D97-AF65-F5344CB8AC3E}">
        <p14:creationId xmlns:p14="http://schemas.microsoft.com/office/powerpoint/2010/main" val="694529498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3D70C6">
                <a:alpha val="100000"/>
              </a:srgbClr>
            </a:gs>
            <a:gs pos="100000">
              <a:srgbClr val="17448F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42C90B2-1082-4B1F-9A4A-54BD9E34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906" y="335756"/>
            <a:ext cx="17502188" cy="9615488"/>
          </a:xfrm>
          <a:custGeom xmlns:a="http://schemas.openxmlformats.org/drawingml/2006/main">
            <a:rect l="l" t="t" r="r" b="b"/>
            <a:pathLst>
              <a:path w="23336250" h="12820650">
                <a:moveTo>
                  <a:pt x="0" y="305308"/>
                </a:moveTo>
                <a:cubicBezTo>
                  <a:pt x="0" y="136652"/>
                  <a:pt x="136652" y="0"/>
                  <a:pt x="305308" y="0"/>
                </a:cubicBezTo>
                <a:lnTo>
                  <a:pt x="23030942" y="0"/>
                </a:lnTo>
                <a:cubicBezTo>
                  <a:pt x="23199471" y="0"/>
                  <a:pt x="23336250" y="136652"/>
                  <a:pt x="23336250" y="305308"/>
                </a:cubicBezTo>
                <a:lnTo>
                  <a:pt x="23336250" y="12515342"/>
                </a:lnTo>
                <a:cubicBezTo>
                  <a:pt x="23336250" y="12683872"/>
                  <a:pt x="23199598" y="12820650"/>
                  <a:pt x="23030942" y="12820650"/>
                </a:cubicBezTo>
                <a:lnTo>
                  <a:pt x="305308" y="12820650"/>
                </a:lnTo>
                <a:cubicBezTo>
                  <a:pt x="136652" y="12820650"/>
                  <a:pt x="0" y="12683998"/>
                  <a:pt x="0" y="125153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EAF1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9774B52-395E-4373-ADE8-8FCDE16B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42925"/>
            <a:ext cx="16002000" cy="257175"/>
          </a:xfrm>
          <a:custGeom xmlns:a="http://schemas.openxmlformats.org/drawingml/2006/main">
            <a:rect l="l" t="t" r="r" b="b"/>
            <a:pathLst>
              <a:path w="21336000" h="342900">
                <a:moveTo>
                  <a:pt x="0" y="0"/>
                </a:moveTo>
                <a:lnTo>
                  <a:pt x="21336000" y="0"/>
                </a:lnTo>
                <a:lnTo>
                  <a:pt x="21336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61fe6aadf549f9">
              <a:alphaModFix amt="0"/>
            </a:blip>
            <a:stretch>
              <a:fillRect l="0" t="-1162402" r="0" b="-1162402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64085F4-92D6-4B3B-B08F-3094565D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28638"/>
            <a:ext cx="16002000" cy="2714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123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04 프로젝트 수행 결과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611DE504-D527-4D13-A81D-C1400B0E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842962"/>
            <a:ext cx="16002000" cy="771525"/>
          </a:xfrm>
          <a:custGeom xmlns:a="http://schemas.openxmlformats.org/drawingml/2006/main">
            <a:rect l="l" t="t" r="r" b="b"/>
            <a:pathLst>
              <a:path w="21336000" h="1028700">
                <a:moveTo>
                  <a:pt x="0" y="0"/>
                </a:moveTo>
                <a:lnTo>
                  <a:pt x="21336000" y="0"/>
                </a:lnTo>
                <a:lnTo>
                  <a:pt x="21336000" y="1028700"/>
                </a:lnTo>
                <a:lnTo>
                  <a:pt x="0" y="102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61fe6aadf549f9">
              <a:alphaModFix amt="0"/>
            </a:blip>
            <a:stretch>
              <a:fillRect l="0" t="-354134" r="0" b="-354134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8FE20BE-AFBB-4FF4-8D2C-E99C934C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85812"/>
            <a:ext cx="16002000" cy="82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455"/>
              </a:lnSpc>
              <a:buNone/>
            </a:pPr>
            <a:r>
              <a:rPr sz="3712">
                <a:solidFill>
                  <a:srgbClr val="202020"/>
                </a:solidFill>
                <a:latin typeface="Calibri (MS)"/>
                <a:ea typeface="Calibri (MS)"/>
                <a:cs typeface="Calibri (MS)"/>
              </a:rPr>
              <a:t>첫 화면은 사용자의 질문 부담부터 줄였습니다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2F3E049-6369-48C2-86C9-EEFE74EF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85912"/>
            <a:ext cx="14859000" cy="314325"/>
          </a:xfrm>
          <a:custGeom xmlns:a="http://schemas.openxmlformats.org/drawingml/2006/main">
            <a:rect l="l" t="t" r="r" b="b"/>
            <a:pathLst>
              <a:path w="19812000" h="419100">
                <a:moveTo>
                  <a:pt x="0" y="0"/>
                </a:moveTo>
                <a:lnTo>
                  <a:pt x="19812000" y="0"/>
                </a:lnTo>
                <a:lnTo>
                  <a:pt x="19812000" y="419100"/>
                </a:lnTo>
                <a:lnTo>
                  <a:pt x="0" y="419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61fe6aadf549f9">
              <a:alphaModFix amt="0"/>
            </a:blip>
            <a:stretch>
              <a:fillRect l="0" t="-871110" r="0" b="-87111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DE8AACDF-E1A3-43B6-B987-38DE74A0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71625"/>
            <a:ext cx="14859000" cy="3286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FAQ TOP 5를 바로 제공하고, 필요할 때만 업무·의도 선택을 펼칩니다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240C499-6081-4BA8-9299-EA2EC256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114550"/>
            <a:ext cx="16002000" cy="14288"/>
          </a:xfrm>
          <a:custGeom xmlns:a="http://schemas.openxmlformats.org/drawingml/2006/main">
            <a:rect l="l" t="t" r="r" b="b"/>
            <a:pathLst>
              <a:path w="21336000" h="19050">
                <a:moveTo>
                  <a:pt x="0" y="0"/>
                </a:moveTo>
                <a:lnTo>
                  <a:pt x="21336000" y="0"/>
                </a:lnTo>
                <a:lnTo>
                  <a:pt x="21336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39FA015-2FED-42FE-A81A-1E7E609D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9572625"/>
            <a:ext cx="16630650" cy="14288"/>
          </a:xfrm>
          <a:custGeom xmlns:a="http://schemas.openxmlformats.org/drawingml/2006/main">
            <a:rect l="l" t="t" r="r" b="b"/>
            <a:pathLst>
              <a:path w="22174200" h="19050">
                <a:moveTo>
                  <a:pt x="0" y="0"/>
                </a:moveTo>
                <a:lnTo>
                  <a:pt x="22174200" y="0"/>
                </a:lnTo>
                <a:lnTo>
                  <a:pt x="221742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B1DAAB93-BC4F-41A7-897B-CD3C3624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44062"/>
            <a:ext cx="8286750" cy="257175"/>
          </a:xfrm>
          <a:custGeom xmlns:a="http://schemas.openxmlformats.org/drawingml/2006/main">
            <a:rect l="l" t="t" r="r" b="b"/>
            <a:pathLst>
              <a:path w="11049000" h="342900">
                <a:moveTo>
                  <a:pt x="0" y="0"/>
                </a:moveTo>
                <a:lnTo>
                  <a:pt x="11049000" y="0"/>
                </a:lnTo>
                <a:lnTo>
                  <a:pt x="11049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61fe6aadf549f9">
              <a:alphaModFix amt="0"/>
            </a:blip>
            <a:stretch>
              <a:fillRect l="0" t="-577851" r="0" b="-577851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4F4D99A-FB83-446A-B06D-FEAFA22D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22631"/>
            <a:ext cx="8286750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1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KDIC AI 챗봇 | 와쿠와쿠 6조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582730D-167C-4015-AA23-8A5D9966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44062"/>
            <a:ext cx="1000125" cy="257175"/>
          </a:xfrm>
          <a:custGeom xmlns:a="http://schemas.openxmlformats.org/drawingml/2006/main">
            <a:rect l="l" t="t" r="r" b="b"/>
            <a:pathLst>
              <a:path w="1333500" h="342900">
                <a:moveTo>
                  <a:pt x="0" y="0"/>
                </a:moveTo>
                <a:lnTo>
                  <a:pt x="1333500" y="0"/>
                </a:lnTo>
                <a:lnTo>
                  <a:pt x="13335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61fe6aadf549f9">
              <a:alphaModFix amt="0"/>
            </a:blip>
            <a:stretch>
              <a:fillRect l="0" t="-25775" r="0" b="-25775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97458F6B-C403-46A6-ADC8-108B24AA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22631"/>
            <a:ext cx="1000125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350"/>
              </a:lnSpc>
              <a:buNone/>
            </a:pPr>
            <a:r>
              <a:rPr sz="11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07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7E81528-B36B-48B4-9B32-16C89457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2707481"/>
            <a:ext cx="10872788" cy="6015038"/>
          </a:xfrm>
          <a:custGeom xmlns:a="http://schemas.openxmlformats.org/drawingml/2006/main">
            <a:rect l="l" t="t" r="r" b="b"/>
            <a:pathLst>
              <a:path w="14497050" h="8020050">
                <a:moveTo>
                  <a:pt x="0" y="229108"/>
                </a:moveTo>
                <a:cubicBezTo>
                  <a:pt x="0" y="102616"/>
                  <a:pt x="102616" y="0"/>
                  <a:pt x="229108" y="0"/>
                </a:cubicBezTo>
                <a:lnTo>
                  <a:pt x="14267942" y="0"/>
                </a:lnTo>
                <a:cubicBezTo>
                  <a:pt x="14394433" y="0"/>
                  <a:pt x="14497050" y="102616"/>
                  <a:pt x="14497050" y="229108"/>
                </a:cubicBezTo>
                <a:lnTo>
                  <a:pt x="14497050" y="7790942"/>
                </a:lnTo>
                <a:cubicBezTo>
                  <a:pt x="14497050" y="7917435"/>
                  <a:pt x="14394433" y="8020050"/>
                  <a:pt x="14267942" y="8020050"/>
                </a:cubicBezTo>
                <a:lnTo>
                  <a:pt x="229108" y="8020050"/>
                </a:lnTo>
                <a:cubicBezTo>
                  <a:pt x="102616" y="8020050"/>
                  <a:pt x="0" y="7917434"/>
                  <a:pt x="0" y="7790942"/>
                </a:cubicBezTo>
                <a:close/>
              </a:path>
            </a:pathLst>
          </a:custGeom>
          <a:solidFill xmlns:a="http://schemas.openxmlformats.org/drawingml/2006/main">
            <a:srgbClr val="0B2F6B"/>
          </a:solidFill>
          <a:ln xmlns:a="http://schemas.openxmlformats.org/drawingml/2006/main" w="14288">
            <a:solidFill>
              <a:srgbClr val="2E63B7"/>
            </a:solidFill>
            <a:prstDash val="solid"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DA5F1AA-A9E2-482F-97B1-38F07BFB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2914650"/>
            <a:ext cx="10229850" cy="428625"/>
          </a:xfrm>
          <a:custGeom xmlns:a="http://schemas.openxmlformats.org/drawingml/2006/main">
            <a:rect l="l" t="t" r="r" b="b"/>
            <a:pathLst>
              <a:path w="13639800" h="571500">
                <a:moveTo>
                  <a:pt x="0" y="0"/>
                </a:moveTo>
                <a:lnTo>
                  <a:pt x="13639800" y="0"/>
                </a:lnTo>
                <a:lnTo>
                  <a:pt x="136398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61fe6aadf549f9">
              <a:alphaModFix amt="0"/>
            </a:blip>
            <a:stretch>
              <a:fillRect l="0" t="-415042" r="0" b="-415042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B7302655-8164-4968-AA5A-68C46692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2886075"/>
            <a:ext cx="10229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4B7BC9"/>
                </a:solidFill>
                <a:latin typeface="Calibri (MS) Bold"/>
                <a:ea typeface="Calibri (MS) Bold"/>
                <a:cs typeface="Calibri (MS) Bold"/>
              </a:rPr>
              <a:t>04 프로젝트 수행 결과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A99783CF-7027-41E0-BAC3-AD8D745A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3493770"/>
            <a:ext cx="10046970" cy="49187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t/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C395673-240A-402E-AB54-C3DBB9CF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2919" y="2707481"/>
            <a:ext cx="5229225" cy="3729038"/>
          </a:xfrm>
          <a:custGeom xmlns:a="http://schemas.openxmlformats.org/drawingml/2006/main">
            <a:rect l="l" t="t" r="r" b="b"/>
            <a:pathLst>
              <a:path w="6972300" h="4972050">
                <a:moveTo>
                  <a:pt x="0" y="229489"/>
                </a:moveTo>
                <a:cubicBezTo>
                  <a:pt x="0" y="102743"/>
                  <a:pt x="102743" y="0"/>
                  <a:pt x="229489" y="0"/>
                </a:cubicBezTo>
                <a:lnTo>
                  <a:pt x="6742811" y="0"/>
                </a:lnTo>
                <a:cubicBezTo>
                  <a:pt x="6869557" y="0"/>
                  <a:pt x="6972300" y="102743"/>
                  <a:pt x="6972300" y="229489"/>
                </a:cubicBezTo>
                <a:lnTo>
                  <a:pt x="6972300" y="4742561"/>
                </a:lnTo>
                <a:cubicBezTo>
                  <a:pt x="6972300" y="4869307"/>
                  <a:pt x="6869557" y="4972050"/>
                  <a:pt x="6742811" y="4972050"/>
                </a:cubicBezTo>
                <a:lnTo>
                  <a:pt x="229489" y="4972050"/>
                </a:lnTo>
                <a:cubicBezTo>
                  <a:pt x="102743" y="4972050"/>
                  <a:pt x="0" y="4869307"/>
                  <a:pt x="0" y="4742561"/>
                </a:cubicBezTo>
                <a:close/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5E6F6893-B9EC-41E4-9DE5-3B1ACBBA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44388" y="2914650"/>
            <a:ext cx="4586288" cy="428625"/>
          </a:xfrm>
          <a:custGeom xmlns:a="http://schemas.openxmlformats.org/drawingml/2006/main">
            <a:rect l="l" t="t" r="r" b="b"/>
            <a:pathLst>
              <a:path w="6115050" h="571500">
                <a:moveTo>
                  <a:pt x="0" y="0"/>
                </a:moveTo>
                <a:lnTo>
                  <a:pt x="6115050" y="0"/>
                </a:lnTo>
                <a:lnTo>
                  <a:pt x="611505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61fe6aadf549f9">
              <a:alphaModFix amt="0"/>
            </a:blip>
            <a:stretch>
              <a:fillRect l="0" t="-158489" r="0" b="-158489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40BCE8C-CB56-4BE6-96CC-2CC6504B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44388" y="2886075"/>
            <a:ext cx="4586288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화면에서 확인할 것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5EB69AAC-9FB1-447F-8F0C-40C9D6AA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35828" y="3493770"/>
            <a:ext cx="4403408" cy="26327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① 자주 묻는 질문 TOP 5</a:t>
            </a:r>
          </a:p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② 업무·의도 선택 버튼</a:t>
            </a:r>
          </a:p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③ 쉬운 설명 모드</a:t>
            </a:r>
          </a:p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④ 자유 질문 입력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42910882-FB7E-46EF-B7C5-E6C7EA8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2919" y="6779419"/>
            <a:ext cx="5229225" cy="1943100"/>
          </a:xfrm>
          <a:custGeom xmlns:a="http://schemas.openxmlformats.org/drawingml/2006/main">
            <a:rect l="l" t="t" r="r" b="b"/>
            <a:pathLst>
              <a:path w="6972300" h="259080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6742049" y="0"/>
                </a:lnTo>
                <a:cubicBezTo>
                  <a:pt x="6869176" y="0"/>
                  <a:pt x="6972300" y="103124"/>
                  <a:pt x="6972300" y="230251"/>
                </a:cubicBezTo>
                <a:lnTo>
                  <a:pt x="6972300" y="2360549"/>
                </a:lnTo>
                <a:cubicBezTo>
                  <a:pt x="6972300" y="2487676"/>
                  <a:pt x="6869176" y="2590800"/>
                  <a:pt x="6742049" y="2590800"/>
                </a:cubicBezTo>
                <a:lnTo>
                  <a:pt x="230251" y="2590800"/>
                </a:lnTo>
                <a:cubicBezTo>
                  <a:pt x="103124" y="2590800"/>
                  <a:pt x="0" y="2487676"/>
                  <a:pt x="0" y="2360549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11E29E10-4986-42A8-8345-7D5ECE81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44388" y="6986588"/>
            <a:ext cx="4586288" cy="428625"/>
          </a:xfrm>
          <a:custGeom xmlns:a="http://schemas.openxmlformats.org/drawingml/2006/main">
            <a:rect l="l" t="t" r="r" b="b"/>
            <a:pathLst>
              <a:path w="6115050" h="571500">
                <a:moveTo>
                  <a:pt x="0" y="0"/>
                </a:moveTo>
                <a:lnTo>
                  <a:pt x="6115050" y="0"/>
                </a:lnTo>
                <a:lnTo>
                  <a:pt x="611505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61fe6aadf549f9">
              <a:alphaModFix amt="0"/>
            </a:blip>
            <a:stretch>
              <a:fillRect l="0" t="-158489" r="0" b="-158489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8DD21A9C-7DDF-470A-8F8B-7418A6EA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44388" y="6958013"/>
            <a:ext cx="4586288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설계 원칙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F3E7ED41-7354-43FE-8A49-A25DAC82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35828" y="7565707"/>
            <a:ext cx="4403408" cy="8467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선택을 강요하지 않고
필요할 때만 보정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55c23371c47ae"/>
          <a:stretch xmlns:a="http://schemas.openxmlformats.org/drawingml/2006/main"/>
        </p:blipFill>
        <p:spPr>
          <a:xfrm xmlns:a="http://schemas.openxmlformats.org/drawingml/2006/main">
            <a:off x="3960279" y="3493770"/>
            <a:ext cx="4080943" cy="4918710"/>
          </a:xfrm>
          <a:prstGeom xmlns:a="http://schemas.openxmlformats.org/drawingml/2006/main" prst="roundRect">
            <a:avLst>
              <a:gd name="adj" fmla="val 2324"/>
            </a:avLst>
          </a:prstGeom>
        </p:spPr>
      </p:pic>
    </p:spTree>
    <p:extLst>
      <p:ext uri="{BB962C8B-B14F-4D97-AF65-F5344CB8AC3E}">
        <p14:creationId xmlns:p14="http://schemas.microsoft.com/office/powerpoint/2010/main" val="96693079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3D70C6">
                <a:alpha val="100000"/>
              </a:srgbClr>
            </a:gs>
            <a:gs pos="100000">
              <a:srgbClr val="17448F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42C90B2-1082-4B1F-9A4A-54BD9E34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906" y="335756"/>
            <a:ext cx="17502188" cy="9615488"/>
          </a:xfrm>
          <a:custGeom xmlns:a="http://schemas.openxmlformats.org/drawingml/2006/main">
            <a:rect l="l" t="t" r="r" b="b"/>
            <a:pathLst>
              <a:path w="23336250" h="12820650">
                <a:moveTo>
                  <a:pt x="0" y="305308"/>
                </a:moveTo>
                <a:cubicBezTo>
                  <a:pt x="0" y="136652"/>
                  <a:pt x="136652" y="0"/>
                  <a:pt x="305308" y="0"/>
                </a:cubicBezTo>
                <a:lnTo>
                  <a:pt x="23030942" y="0"/>
                </a:lnTo>
                <a:cubicBezTo>
                  <a:pt x="23199471" y="0"/>
                  <a:pt x="23336250" y="136652"/>
                  <a:pt x="23336250" y="305308"/>
                </a:cubicBezTo>
                <a:lnTo>
                  <a:pt x="23336250" y="12515342"/>
                </a:lnTo>
                <a:cubicBezTo>
                  <a:pt x="23336250" y="12683872"/>
                  <a:pt x="23199598" y="12820650"/>
                  <a:pt x="23030942" y="12820650"/>
                </a:cubicBezTo>
                <a:lnTo>
                  <a:pt x="305308" y="12820650"/>
                </a:lnTo>
                <a:cubicBezTo>
                  <a:pt x="136652" y="12820650"/>
                  <a:pt x="0" y="12683998"/>
                  <a:pt x="0" y="125153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EAF1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9774B52-395E-4373-ADE8-8FCDE16B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42925"/>
            <a:ext cx="16002000" cy="257175"/>
          </a:xfrm>
          <a:custGeom xmlns:a="http://schemas.openxmlformats.org/drawingml/2006/main">
            <a:rect l="l" t="t" r="r" b="b"/>
            <a:pathLst>
              <a:path w="21336000" h="342900">
                <a:moveTo>
                  <a:pt x="0" y="0"/>
                </a:moveTo>
                <a:lnTo>
                  <a:pt x="21336000" y="0"/>
                </a:lnTo>
                <a:lnTo>
                  <a:pt x="21336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ea015f5803f4abd">
              <a:alphaModFix amt="0"/>
            </a:blip>
            <a:stretch>
              <a:fillRect l="0" t="-1162402" r="0" b="-1162402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64085F4-92D6-4B3B-B08F-3094565D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28638"/>
            <a:ext cx="16002000" cy="2714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123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04 프로젝트 수행 결과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611DE504-D527-4D13-A81D-C1400B0E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842962"/>
            <a:ext cx="16002000" cy="771525"/>
          </a:xfrm>
          <a:custGeom xmlns:a="http://schemas.openxmlformats.org/drawingml/2006/main">
            <a:rect l="l" t="t" r="r" b="b"/>
            <a:pathLst>
              <a:path w="21336000" h="1028700">
                <a:moveTo>
                  <a:pt x="0" y="0"/>
                </a:moveTo>
                <a:lnTo>
                  <a:pt x="21336000" y="0"/>
                </a:lnTo>
                <a:lnTo>
                  <a:pt x="21336000" y="1028700"/>
                </a:lnTo>
                <a:lnTo>
                  <a:pt x="0" y="102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ea015f5803f4abd">
              <a:alphaModFix amt="0"/>
            </a:blip>
            <a:stretch>
              <a:fillRect l="0" t="-354134" r="0" b="-354134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8FE20BE-AFBB-4FF4-8D2C-E99C934C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85812"/>
            <a:ext cx="16002000" cy="82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455"/>
              </a:lnSpc>
              <a:buNone/>
            </a:pPr>
            <a:r>
              <a:rPr sz="3712">
                <a:solidFill>
                  <a:srgbClr val="202020"/>
                </a:solidFill>
                <a:latin typeface="Calibri (MS)"/>
                <a:ea typeface="Calibri (MS)"/>
                <a:cs typeface="Calibri (MS)"/>
              </a:rPr>
              <a:t>답변은 절차·서류·공식 출처까지 한 번에 연결합니다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2F3E049-6369-48C2-86C9-EEFE74EF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85912"/>
            <a:ext cx="14859000" cy="314325"/>
          </a:xfrm>
          <a:custGeom xmlns:a="http://schemas.openxmlformats.org/drawingml/2006/main">
            <a:rect l="l" t="t" r="r" b="b"/>
            <a:pathLst>
              <a:path w="19812000" h="419100">
                <a:moveTo>
                  <a:pt x="0" y="0"/>
                </a:moveTo>
                <a:lnTo>
                  <a:pt x="19812000" y="0"/>
                </a:lnTo>
                <a:lnTo>
                  <a:pt x="19812000" y="419100"/>
                </a:lnTo>
                <a:lnTo>
                  <a:pt x="0" y="419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ea015f5803f4abd">
              <a:alphaModFix amt="0"/>
            </a:blip>
            <a:stretch>
              <a:fillRect l="0" t="-871110" r="0" b="-87111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DE8AACDF-E1A3-43B6-B987-38DE74A0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71625"/>
            <a:ext cx="14859000" cy="3286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답만 제시하지 않고 사용자가 다음 행동을 할 수 있도록 구성했습니다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240C499-6081-4BA8-9299-EA2EC256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114550"/>
            <a:ext cx="16002000" cy="14288"/>
          </a:xfrm>
          <a:custGeom xmlns:a="http://schemas.openxmlformats.org/drawingml/2006/main">
            <a:rect l="l" t="t" r="r" b="b"/>
            <a:pathLst>
              <a:path w="21336000" h="19050">
                <a:moveTo>
                  <a:pt x="0" y="0"/>
                </a:moveTo>
                <a:lnTo>
                  <a:pt x="21336000" y="0"/>
                </a:lnTo>
                <a:lnTo>
                  <a:pt x="21336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39FA015-2FED-42FE-A81A-1E7E609D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9572625"/>
            <a:ext cx="16630650" cy="14288"/>
          </a:xfrm>
          <a:custGeom xmlns:a="http://schemas.openxmlformats.org/drawingml/2006/main">
            <a:rect l="l" t="t" r="r" b="b"/>
            <a:pathLst>
              <a:path w="22174200" h="19050">
                <a:moveTo>
                  <a:pt x="0" y="0"/>
                </a:moveTo>
                <a:lnTo>
                  <a:pt x="22174200" y="0"/>
                </a:lnTo>
                <a:lnTo>
                  <a:pt x="221742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B1DAAB93-BC4F-41A7-897B-CD3C3624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44062"/>
            <a:ext cx="8286750" cy="257175"/>
          </a:xfrm>
          <a:custGeom xmlns:a="http://schemas.openxmlformats.org/drawingml/2006/main">
            <a:rect l="l" t="t" r="r" b="b"/>
            <a:pathLst>
              <a:path w="11049000" h="342900">
                <a:moveTo>
                  <a:pt x="0" y="0"/>
                </a:moveTo>
                <a:lnTo>
                  <a:pt x="11049000" y="0"/>
                </a:lnTo>
                <a:lnTo>
                  <a:pt x="11049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ea015f5803f4abd">
              <a:alphaModFix amt="0"/>
            </a:blip>
            <a:stretch>
              <a:fillRect l="0" t="-577851" r="0" b="-577851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4F4D99A-FB83-446A-B06D-FEAFA22D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22631"/>
            <a:ext cx="8286750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1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KDIC AI 챗봇 | 와쿠와쿠 6조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582730D-167C-4015-AA23-8A5D9966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44062"/>
            <a:ext cx="1000125" cy="257175"/>
          </a:xfrm>
          <a:custGeom xmlns:a="http://schemas.openxmlformats.org/drawingml/2006/main">
            <a:rect l="l" t="t" r="r" b="b"/>
            <a:pathLst>
              <a:path w="1333500" h="342900">
                <a:moveTo>
                  <a:pt x="0" y="0"/>
                </a:moveTo>
                <a:lnTo>
                  <a:pt x="1333500" y="0"/>
                </a:lnTo>
                <a:lnTo>
                  <a:pt x="13335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ea015f5803f4abd">
              <a:alphaModFix amt="0"/>
            </a:blip>
            <a:stretch>
              <a:fillRect l="0" t="-25775" r="0" b="-25775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97458F6B-C403-46A6-ADC8-108B24AA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22631"/>
            <a:ext cx="1000125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350"/>
              </a:lnSpc>
              <a:buNone/>
            </a:pPr>
            <a:r>
              <a:rPr sz="11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08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7E81528-B36B-48B4-9B32-16C89457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2707481"/>
            <a:ext cx="10872788" cy="6015038"/>
          </a:xfrm>
          <a:custGeom xmlns:a="http://schemas.openxmlformats.org/drawingml/2006/main">
            <a:rect l="l" t="t" r="r" b="b"/>
            <a:pathLst>
              <a:path w="14497050" h="8020050">
                <a:moveTo>
                  <a:pt x="0" y="229108"/>
                </a:moveTo>
                <a:cubicBezTo>
                  <a:pt x="0" y="102616"/>
                  <a:pt x="102616" y="0"/>
                  <a:pt x="229108" y="0"/>
                </a:cubicBezTo>
                <a:lnTo>
                  <a:pt x="14267942" y="0"/>
                </a:lnTo>
                <a:cubicBezTo>
                  <a:pt x="14394433" y="0"/>
                  <a:pt x="14497050" y="102616"/>
                  <a:pt x="14497050" y="229108"/>
                </a:cubicBezTo>
                <a:lnTo>
                  <a:pt x="14497050" y="7790942"/>
                </a:lnTo>
                <a:cubicBezTo>
                  <a:pt x="14497050" y="7917435"/>
                  <a:pt x="14394433" y="8020050"/>
                  <a:pt x="14267942" y="8020050"/>
                </a:cubicBezTo>
                <a:lnTo>
                  <a:pt x="229108" y="8020050"/>
                </a:lnTo>
                <a:cubicBezTo>
                  <a:pt x="102616" y="8020050"/>
                  <a:pt x="0" y="7917434"/>
                  <a:pt x="0" y="7790942"/>
                </a:cubicBezTo>
                <a:close/>
              </a:path>
            </a:pathLst>
          </a:custGeom>
          <a:solidFill xmlns:a="http://schemas.openxmlformats.org/drawingml/2006/main">
            <a:srgbClr val="0B2F6B"/>
          </a:solidFill>
          <a:ln xmlns:a="http://schemas.openxmlformats.org/drawingml/2006/main" w="14288">
            <a:solidFill>
              <a:srgbClr val="2E63B7"/>
            </a:solidFill>
            <a:prstDash val="solid"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DA5F1AA-A9E2-482F-97B1-38F07BFB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2914650"/>
            <a:ext cx="10229850" cy="428625"/>
          </a:xfrm>
          <a:custGeom xmlns:a="http://schemas.openxmlformats.org/drawingml/2006/main">
            <a:rect l="l" t="t" r="r" b="b"/>
            <a:pathLst>
              <a:path w="13639800" h="571500">
                <a:moveTo>
                  <a:pt x="0" y="0"/>
                </a:moveTo>
                <a:lnTo>
                  <a:pt x="13639800" y="0"/>
                </a:lnTo>
                <a:lnTo>
                  <a:pt x="136398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ea015f5803f4abd">
              <a:alphaModFix amt="0"/>
            </a:blip>
            <a:stretch>
              <a:fillRect l="0" t="-415042" r="0" b="-415042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B7302655-8164-4968-AA5A-68C46692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2886075"/>
            <a:ext cx="10229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4B7BC9"/>
                </a:solidFill>
                <a:latin typeface="Calibri (MS) Bold"/>
                <a:ea typeface="Calibri (MS) Bold"/>
                <a:cs typeface="Calibri (MS) Bold"/>
              </a:rPr>
              <a:t>04 프로젝트 수행 결과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A99783CF-7027-41E0-BAC3-AD8D745A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3493770"/>
            <a:ext cx="10046970" cy="49187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t/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C395673-240A-402E-AB54-C3DBB9CF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2919" y="2707481"/>
            <a:ext cx="5229225" cy="3729038"/>
          </a:xfrm>
          <a:custGeom xmlns:a="http://schemas.openxmlformats.org/drawingml/2006/main">
            <a:rect l="l" t="t" r="r" b="b"/>
            <a:pathLst>
              <a:path w="6972300" h="4972050">
                <a:moveTo>
                  <a:pt x="0" y="229489"/>
                </a:moveTo>
                <a:cubicBezTo>
                  <a:pt x="0" y="102743"/>
                  <a:pt x="102743" y="0"/>
                  <a:pt x="229489" y="0"/>
                </a:cubicBezTo>
                <a:lnTo>
                  <a:pt x="6742811" y="0"/>
                </a:lnTo>
                <a:cubicBezTo>
                  <a:pt x="6869557" y="0"/>
                  <a:pt x="6972300" y="102743"/>
                  <a:pt x="6972300" y="229489"/>
                </a:cubicBezTo>
                <a:lnTo>
                  <a:pt x="6972300" y="4742561"/>
                </a:lnTo>
                <a:cubicBezTo>
                  <a:pt x="6972300" y="4869307"/>
                  <a:pt x="6869557" y="4972050"/>
                  <a:pt x="6742811" y="4972050"/>
                </a:cubicBezTo>
                <a:lnTo>
                  <a:pt x="229489" y="4972050"/>
                </a:lnTo>
                <a:cubicBezTo>
                  <a:pt x="102743" y="4972050"/>
                  <a:pt x="0" y="4869307"/>
                  <a:pt x="0" y="4742561"/>
                </a:cubicBezTo>
                <a:close/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5E6F6893-B9EC-41E4-9DE5-3B1ACBBA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44388" y="2914650"/>
            <a:ext cx="4586288" cy="428625"/>
          </a:xfrm>
          <a:custGeom xmlns:a="http://schemas.openxmlformats.org/drawingml/2006/main">
            <a:rect l="l" t="t" r="r" b="b"/>
            <a:pathLst>
              <a:path w="6115050" h="571500">
                <a:moveTo>
                  <a:pt x="0" y="0"/>
                </a:moveTo>
                <a:lnTo>
                  <a:pt x="6115050" y="0"/>
                </a:lnTo>
                <a:lnTo>
                  <a:pt x="611505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ea015f5803f4abd">
              <a:alphaModFix amt="0"/>
            </a:blip>
            <a:stretch>
              <a:fillRect l="0" t="-158489" r="0" b="-158489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40BCE8C-CB56-4BE6-96CC-2CC6504B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44388" y="2886075"/>
            <a:ext cx="4586288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답변 원칙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5EB69AAC-9FB1-447F-8F0C-40C9D6AA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35828" y="3493770"/>
            <a:ext cx="4403408" cy="26327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① 질문에 대한 직접 답변</a:t>
            </a:r>
          </a:p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② 대상·절차·준비 서류</a:t>
            </a:r>
          </a:p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③ 공식 근거와 원문 URL</a:t>
            </a:r>
          </a:p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④ 이어서 볼 질문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42910882-FB7E-46EF-B7C5-E6C7EA8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2919" y="6779419"/>
            <a:ext cx="5229225" cy="1943100"/>
          </a:xfrm>
          <a:custGeom xmlns:a="http://schemas.openxmlformats.org/drawingml/2006/main">
            <a:rect l="l" t="t" r="r" b="b"/>
            <a:pathLst>
              <a:path w="6972300" h="259080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6742049" y="0"/>
                </a:lnTo>
                <a:cubicBezTo>
                  <a:pt x="6869176" y="0"/>
                  <a:pt x="6972300" y="103124"/>
                  <a:pt x="6972300" y="230251"/>
                </a:cubicBezTo>
                <a:lnTo>
                  <a:pt x="6972300" y="2360549"/>
                </a:lnTo>
                <a:cubicBezTo>
                  <a:pt x="6972300" y="2487676"/>
                  <a:pt x="6869176" y="2590800"/>
                  <a:pt x="6742049" y="2590800"/>
                </a:cubicBezTo>
                <a:lnTo>
                  <a:pt x="230251" y="2590800"/>
                </a:lnTo>
                <a:cubicBezTo>
                  <a:pt x="103124" y="2590800"/>
                  <a:pt x="0" y="2487676"/>
                  <a:pt x="0" y="2360549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11E29E10-4986-42A8-8345-7D5ECE81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44388" y="6986588"/>
            <a:ext cx="4586288" cy="428625"/>
          </a:xfrm>
          <a:custGeom xmlns:a="http://schemas.openxmlformats.org/drawingml/2006/main">
            <a:rect l="l" t="t" r="r" b="b"/>
            <a:pathLst>
              <a:path w="6115050" h="571500">
                <a:moveTo>
                  <a:pt x="0" y="0"/>
                </a:moveTo>
                <a:lnTo>
                  <a:pt x="6115050" y="0"/>
                </a:lnTo>
                <a:lnTo>
                  <a:pt x="611505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ea015f5803f4abd">
              <a:alphaModFix amt="0"/>
            </a:blip>
            <a:stretch>
              <a:fillRect l="0" t="-158489" r="0" b="-158489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8DD21A9C-7DDF-470A-8F8B-7418A6EA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44388" y="6958013"/>
            <a:ext cx="4586288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민원 질문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F3E7ED41-7354-43FE-8A49-A25DAC82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35828" y="7565707"/>
            <a:ext cx="4403408" cy="8467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절차 → 서류 →
신청 페이지까지 연결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a763f7c2444d8"/>
          <a:stretch xmlns:a="http://schemas.openxmlformats.org/drawingml/2006/main"/>
        </p:blipFill>
        <p:spPr>
          <a:xfrm xmlns:a="http://schemas.openxmlformats.org/drawingml/2006/main">
            <a:off x="3224268" y="3493770"/>
            <a:ext cx="5552965" cy="4918710"/>
          </a:xfrm>
          <a:prstGeom xmlns:a="http://schemas.openxmlformats.org/drawingml/2006/main" prst="roundRect">
            <a:avLst>
              <a:gd name="adj" fmla="val 2324"/>
            </a:avLst>
          </a:prstGeom>
        </p:spPr>
      </p:pic>
    </p:spTree>
    <p:extLst>
      <p:ext uri="{BB962C8B-B14F-4D97-AF65-F5344CB8AC3E}">
        <p14:creationId xmlns:p14="http://schemas.microsoft.com/office/powerpoint/2010/main" val="96693079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3D70C6">
                <a:alpha val="100000"/>
              </a:srgbClr>
            </a:gs>
            <a:gs pos="100000">
              <a:srgbClr val="17448F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8EAB553-FD6F-4134-924B-B59CA950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906" y="335756"/>
            <a:ext cx="17502188" cy="9615488"/>
          </a:xfrm>
          <a:custGeom xmlns:a="http://schemas.openxmlformats.org/drawingml/2006/main">
            <a:rect l="l" t="t" r="r" b="b"/>
            <a:pathLst>
              <a:path w="23336250" h="12820650">
                <a:moveTo>
                  <a:pt x="0" y="305308"/>
                </a:moveTo>
                <a:cubicBezTo>
                  <a:pt x="0" y="136652"/>
                  <a:pt x="136652" y="0"/>
                  <a:pt x="305308" y="0"/>
                </a:cubicBezTo>
                <a:lnTo>
                  <a:pt x="23030942" y="0"/>
                </a:lnTo>
                <a:cubicBezTo>
                  <a:pt x="23199471" y="0"/>
                  <a:pt x="23336250" y="136652"/>
                  <a:pt x="23336250" y="305308"/>
                </a:cubicBezTo>
                <a:lnTo>
                  <a:pt x="23336250" y="12515342"/>
                </a:lnTo>
                <a:cubicBezTo>
                  <a:pt x="23336250" y="12683872"/>
                  <a:pt x="23199598" y="12820650"/>
                  <a:pt x="23030942" y="12820650"/>
                </a:cubicBezTo>
                <a:lnTo>
                  <a:pt x="305308" y="12820650"/>
                </a:lnTo>
                <a:cubicBezTo>
                  <a:pt x="136652" y="12820650"/>
                  <a:pt x="0" y="12683998"/>
                  <a:pt x="0" y="125153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EAF1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37C7816-CD6B-47D4-AC46-E39C135F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42925"/>
            <a:ext cx="16002000" cy="257175"/>
          </a:xfrm>
          <a:custGeom xmlns:a="http://schemas.openxmlformats.org/drawingml/2006/main">
            <a:rect l="l" t="t" r="r" b="b"/>
            <a:pathLst>
              <a:path w="21336000" h="342900">
                <a:moveTo>
                  <a:pt x="0" y="0"/>
                </a:moveTo>
                <a:lnTo>
                  <a:pt x="21336000" y="0"/>
                </a:lnTo>
                <a:lnTo>
                  <a:pt x="21336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0" t="-1162402" r="0" b="-1162402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5BA6795-05CC-49B4-AAC5-4B9A431B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28638"/>
            <a:ext cx="16002000" cy="2714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123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03 프로젝트 수행 절차 및 방법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69FB5E31-EFBA-4235-99AE-FDEEC5BE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842962"/>
            <a:ext cx="16002000" cy="771525"/>
          </a:xfrm>
          <a:custGeom xmlns:a="http://schemas.openxmlformats.org/drawingml/2006/main">
            <a:rect l="l" t="t" r="r" b="b"/>
            <a:pathLst>
              <a:path w="21336000" h="1028700">
                <a:moveTo>
                  <a:pt x="0" y="0"/>
                </a:moveTo>
                <a:lnTo>
                  <a:pt x="21336000" y="0"/>
                </a:lnTo>
                <a:lnTo>
                  <a:pt x="21336000" y="1028700"/>
                </a:lnTo>
                <a:lnTo>
                  <a:pt x="0" y="102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0" t="-354134" r="0" b="-354134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8BCF623C-0811-42CC-ACEE-1EED3221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85812"/>
            <a:ext cx="16002000" cy="82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455"/>
              </a:lnSpc>
              <a:buNone/>
            </a:pPr>
            <a:r>
              <a:rPr sz="3712">
                <a:solidFill>
                  <a:srgbClr val="202020"/>
                </a:solidFill>
                <a:latin typeface="Calibri (MS)"/>
                <a:ea typeface="Calibri (MS)"/>
                <a:cs typeface="Calibri (MS)"/>
              </a:rPr>
              <a:t>사용자 질문은 이 파이프라인을 따라 근거 답변으로 바뀝니다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A47B566A-7002-4568-8989-89082345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85912"/>
            <a:ext cx="14859000" cy="314325"/>
          </a:xfrm>
          <a:custGeom xmlns:a="http://schemas.openxmlformats.org/drawingml/2006/main">
            <a:rect l="l" t="t" r="r" b="b"/>
            <a:pathLst>
              <a:path w="19812000" h="419100">
                <a:moveTo>
                  <a:pt x="0" y="0"/>
                </a:moveTo>
                <a:lnTo>
                  <a:pt x="19812000" y="0"/>
                </a:lnTo>
                <a:lnTo>
                  <a:pt x="19812000" y="419100"/>
                </a:lnTo>
                <a:lnTo>
                  <a:pt x="0" y="419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0" t="-871110" r="0" b="-87111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038E62C-26D6-4972-849F-7AF425D0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71625"/>
            <a:ext cx="14859000" cy="3286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다른 업무의 비슷한 표현이 섞이지 않도록 업무 분류를 검색보다 먼저 수행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6D6C030-6536-4765-BAE5-8593F452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114550"/>
            <a:ext cx="16002000" cy="14288"/>
          </a:xfrm>
          <a:custGeom xmlns:a="http://schemas.openxmlformats.org/drawingml/2006/main">
            <a:rect l="l" t="t" r="r" b="b"/>
            <a:pathLst>
              <a:path w="21336000" h="19050">
                <a:moveTo>
                  <a:pt x="0" y="0"/>
                </a:moveTo>
                <a:lnTo>
                  <a:pt x="21336000" y="0"/>
                </a:lnTo>
                <a:lnTo>
                  <a:pt x="21336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8897C9A-2048-4D35-9BC4-139E7417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9572625"/>
            <a:ext cx="16630650" cy="14288"/>
          </a:xfrm>
          <a:custGeom xmlns:a="http://schemas.openxmlformats.org/drawingml/2006/main">
            <a:rect l="l" t="t" r="r" b="b"/>
            <a:pathLst>
              <a:path w="22174200" h="19050">
                <a:moveTo>
                  <a:pt x="0" y="0"/>
                </a:moveTo>
                <a:lnTo>
                  <a:pt x="22174200" y="0"/>
                </a:lnTo>
                <a:lnTo>
                  <a:pt x="221742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62B7232-4449-4BCD-8B88-1C7032B9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44062"/>
            <a:ext cx="8286750" cy="257175"/>
          </a:xfrm>
          <a:custGeom xmlns:a="http://schemas.openxmlformats.org/drawingml/2006/main">
            <a:rect l="l" t="t" r="r" b="b"/>
            <a:pathLst>
              <a:path w="11049000" h="342900">
                <a:moveTo>
                  <a:pt x="0" y="0"/>
                </a:moveTo>
                <a:lnTo>
                  <a:pt x="11049000" y="0"/>
                </a:lnTo>
                <a:lnTo>
                  <a:pt x="11049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0" t="-577851" r="0" b="-577851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410828B-CEEC-4CC0-9DF5-E9A8AE7C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22631"/>
            <a:ext cx="8286750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1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KDIC AI 챗봇 | 와쿠와쿠 6조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75CCB6C-5701-414B-A3D0-ABD761E6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44062"/>
            <a:ext cx="1000125" cy="257175"/>
          </a:xfrm>
          <a:custGeom xmlns:a="http://schemas.openxmlformats.org/drawingml/2006/main">
            <a:rect l="l" t="t" r="r" b="b"/>
            <a:pathLst>
              <a:path w="1333500" h="342900">
                <a:moveTo>
                  <a:pt x="0" y="0"/>
                </a:moveTo>
                <a:lnTo>
                  <a:pt x="1333500" y="0"/>
                </a:lnTo>
                <a:lnTo>
                  <a:pt x="13335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0" t="-25775" r="0" b="-25775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5F6BC1CC-A528-4B24-A9B0-D4541402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22631"/>
            <a:ext cx="1000125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350"/>
              </a:lnSpc>
              <a:buNone/>
            </a:pPr>
            <a:r>
              <a:rPr sz="11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09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875D7107-17B9-481E-8735-32337202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928" y="3420428"/>
            <a:ext cx="2374583" cy="2446020"/>
          </a:xfrm>
          <a:custGeom xmlns:a="http://schemas.openxmlformats.org/drawingml/2006/main">
            <a:rect l="l" t="t" r="r" b="b"/>
            <a:pathLst>
              <a:path w="3166110" h="326136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2935859" y="0"/>
                </a:lnTo>
                <a:cubicBezTo>
                  <a:pt x="3062986" y="0"/>
                  <a:pt x="3166110" y="103124"/>
                  <a:pt x="3166110" y="230251"/>
                </a:cubicBezTo>
                <a:lnTo>
                  <a:pt x="3166110" y="3031109"/>
                </a:lnTo>
                <a:cubicBezTo>
                  <a:pt x="3166110" y="3158236"/>
                  <a:pt x="3062986" y="3261360"/>
                  <a:pt x="2935859" y="3261360"/>
                </a:cubicBezTo>
                <a:lnTo>
                  <a:pt x="230251" y="3261360"/>
                </a:lnTo>
                <a:cubicBezTo>
                  <a:pt x="103124" y="3261360"/>
                  <a:pt x="0" y="3158236"/>
                  <a:pt x="0" y="30311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8DCE3"/>
            </a:solidFill>
            <a:prstDash val="solid"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4669B168-3271-4A2C-ABF5-4B023E89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3686175"/>
            <a:ext cx="714375" cy="400050"/>
          </a:xfrm>
          <a:custGeom xmlns:a="http://schemas.openxmlformats.org/drawingml/2006/main">
            <a:rect l="l" t="t" r="r" b="b"/>
            <a:pathLst>
              <a:path w="952500" h="533400">
                <a:moveTo>
                  <a:pt x="0" y="0"/>
                </a:moveTo>
                <a:lnTo>
                  <a:pt x="952500" y="0"/>
                </a:lnTo>
                <a:lnTo>
                  <a:pt x="952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-21849" t="0" r="-21849" b="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841BDC71-6E41-400E-88A2-4D8CBFD8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3657600"/>
            <a:ext cx="714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01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F1A1B2A7-81BD-481C-82B7-AD4A5E3D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4214812"/>
            <a:ext cx="1857375" cy="600075"/>
          </a:xfrm>
          <a:custGeom xmlns:a="http://schemas.openxmlformats.org/drawingml/2006/main">
            <a:rect l="l" t="t" r="r" b="b"/>
            <a:pathLst>
              <a:path w="2476500" h="800100">
                <a:moveTo>
                  <a:pt x="0" y="0"/>
                </a:moveTo>
                <a:lnTo>
                  <a:pt x="2476500" y="0"/>
                </a:lnTo>
                <a:lnTo>
                  <a:pt x="2476500" y="800100"/>
                </a:lnTo>
                <a:lnTo>
                  <a:pt x="0" y="800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0" t="-10310" r="0" b="-10310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F7DC69C-B00C-4DAE-ABBF-A226828D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4186237"/>
            <a:ext cx="18573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1800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질문 입력</a:t>
            </a: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B86D64D-7C94-4C5D-88E2-B63B273F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5029200"/>
            <a:ext cx="1857375" cy="400050"/>
          </a:xfrm>
          <a:custGeom xmlns:a="http://schemas.openxmlformats.org/drawingml/2006/main">
            <a:rect l="l" t="t" r="r" b="b"/>
            <a:pathLst>
              <a:path w="2476500" h="533400">
                <a:moveTo>
                  <a:pt x="0" y="0"/>
                </a:moveTo>
                <a:lnTo>
                  <a:pt x="2476500" y="0"/>
                </a:lnTo>
                <a:lnTo>
                  <a:pt x="2476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0" t="-40466" r="0" b="-40466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76554B1-8E48-4D1D-8A24-9759B084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5014913"/>
            <a:ext cx="1857375" cy="414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FAQ 선택 또는
자유 질문</a:t>
            </a: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FA884965-9FA5-46B1-A5F1-371B5568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8938" y="4157662"/>
            <a:ext cx="500062" cy="714375"/>
          </a:xfrm>
          <a:custGeom xmlns:a="http://schemas.openxmlformats.org/drawingml/2006/main">
            <a:rect l="l" t="t" r="r" b="b"/>
            <a:pathLst>
              <a:path w="666750" h="952500">
                <a:moveTo>
                  <a:pt x="0" y="0"/>
                </a:moveTo>
                <a:lnTo>
                  <a:pt x="666750" y="0"/>
                </a:lnTo>
                <a:lnTo>
                  <a:pt x="666750" y="952500"/>
                </a:lnTo>
                <a:lnTo>
                  <a:pt x="0" y="952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-133290" t="0" r="-133290" b="0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2C73452D-2FDC-4C71-94C6-7CAA0252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8938" y="4107656"/>
            <a:ext cx="500062" cy="764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</a:pPr>
            <a:r>
              <a:rPr sz="31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→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DAF1F4A-BE71-4238-8F7E-14B00D92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20428" y="3420428"/>
            <a:ext cx="2374583" cy="2446020"/>
          </a:xfrm>
          <a:custGeom xmlns:a="http://schemas.openxmlformats.org/drawingml/2006/main">
            <a:rect l="l" t="t" r="r" b="b"/>
            <a:pathLst>
              <a:path w="3166110" h="326136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2935859" y="0"/>
                </a:lnTo>
                <a:cubicBezTo>
                  <a:pt x="3062986" y="0"/>
                  <a:pt x="3166110" y="103124"/>
                  <a:pt x="3166110" y="230251"/>
                </a:cubicBezTo>
                <a:lnTo>
                  <a:pt x="3166110" y="3031109"/>
                </a:lnTo>
                <a:cubicBezTo>
                  <a:pt x="3166110" y="3158236"/>
                  <a:pt x="3062986" y="3261360"/>
                  <a:pt x="2935859" y="3261360"/>
                </a:cubicBezTo>
                <a:lnTo>
                  <a:pt x="230251" y="3261360"/>
                </a:lnTo>
                <a:cubicBezTo>
                  <a:pt x="103124" y="3261360"/>
                  <a:pt x="0" y="3158236"/>
                  <a:pt x="0" y="30311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8DCE3"/>
            </a:solidFill>
            <a:prstDash val="solid"/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C0B9F790-AC8A-47BF-9C03-6735F289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175" y="3686175"/>
            <a:ext cx="714375" cy="400050"/>
          </a:xfrm>
          <a:custGeom xmlns:a="http://schemas.openxmlformats.org/drawingml/2006/main">
            <a:rect l="l" t="t" r="r" b="b"/>
            <a:pathLst>
              <a:path w="952500" h="533400">
                <a:moveTo>
                  <a:pt x="0" y="0"/>
                </a:moveTo>
                <a:lnTo>
                  <a:pt x="952500" y="0"/>
                </a:lnTo>
                <a:lnTo>
                  <a:pt x="952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-21849" t="0" r="-21849" b="0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F6CF0A1D-550D-4E8E-9B30-B1A243F9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175" y="3657600"/>
            <a:ext cx="714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02</a:t>
            </a:r>
          </a:p>
        </p:txBody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5250612C-B7CF-4367-8CF8-18D91187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175" y="4214812"/>
            <a:ext cx="1857375" cy="600075"/>
          </a:xfrm>
          <a:custGeom xmlns:a="http://schemas.openxmlformats.org/drawingml/2006/main">
            <a:rect l="l" t="t" r="r" b="b"/>
            <a:pathLst>
              <a:path w="2476500" h="800100">
                <a:moveTo>
                  <a:pt x="0" y="0"/>
                </a:moveTo>
                <a:lnTo>
                  <a:pt x="2476500" y="0"/>
                </a:lnTo>
                <a:lnTo>
                  <a:pt x="2476500" y="800100"/>
                </a:lnTo>
                <a:lnTo>
                  <a:pt x="0" y="800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0" t="-10310" r="0" b="-10310"/>
            </a:stretch>
          </a:blipFill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16E0C182-CA23-494C-A1A2-29EA5285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175" y="4186237"/>
            <a:ext cx="18573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1800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업무·의도</a:t>
            </a:r>
          </a:p>
        </p:txBody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9AD99925-5400-4357-9766-CC720F79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175" y="5029200"/>
            <a:ext cx="1857375" cy="400050"/>
          </a:xfrm>
          <a:custGeom xmlns:a="http://schemas.openxmlformats.org/drawingml/2006/main">
            <a:rect l="l" t="t" r="r" b="b"/>
            <a:pathLst>
              <a:path w="2476500" h="533400">
                <a:moveTo>
                  <a:pt x="0" y="0"/>
                </a:moveTo>
                <a:lnTo>
                  <a:pt x="2476500" y="0"/>
                </a:lnTo>
                <a:lnTo>
                  <a:pt x="2476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0" t="-40466" r="0" b="-40466"/>
            </a:stretch>
          </a:blipFill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87081469-54D3-4A4B-B6FC-B7C56CB5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175" y="5014913"/>
            <a:ext cx="1857375" cy="414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6개 업무 분류
INFORMATION/ACTION</a:t>
            </a:r>
          </a:p>
        </p:txBody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F34F75DE-B1D8-4B2D-8514-CAA011D3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86438" y="4157662"/>
            <a:ext cx="500062" cy="714375"/>
          </a:xfrm>
          <a:custGeom xmlns:a="http://schemas.openxmlformats.org/drawingml/2006/main">
            <a:rect l="l" t="t" r="r" b="b"/>
            <a:pathLst>
              <a:path w="666750" h="952500">
                <a:moveTo>
                  <a:pt x="0" y="0"/>
                </a:moveTo>
                <a:lnTo>
                  <a:pt x="666750" y="0"/>
                </a:lnTo>
                <a:lnTo>
                  <a:pt x="666750" y="952500"/>
                </a:lnTo>
                <a:lnTo>
                  <a:pt x="0" y="952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-133290" t="0" r="-133290" b="0"/>
            </a:stretch>
          </a:blipFill>
        </p:spPr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F099237A-41F4-415F-9159-076A5BDD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86438" y="4107656"/>
            <a:ext cx="500062" cy="764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</a:pPr>
            <a:r>
              <a:rPr sz="31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→</a:t>
            </a:r>
          </a:p>
        </p:txBody>
      </p:sp>
      <p:sp>
        <p:nvSpPr>
          <p:cNvPr id="52" name="Freeform 52">
            <a:extLst xmlns:a="http://schemas.openxmlformats.org/drawingml/2006/main">
              <a:ext uri="{FF2B5EF4-FFF2-40B4-BE49-F238E27FC236}">
                <a16:creationId xmlns:a16="http://schemas.microsoft.com/office/drawing/2014/main" id="{EA239372-D5AA-4481-A0C9-0EEDD300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7928" y="3420428"/>
            <a:ext cx="2374583" cy="2446020"/>
          </a:xfrm>
          <a:custGeom xmlns:a="http://schemas.openxmlformats.org/drawingml/2006/main">
            <a:rect l="l" t="t" r="r" b="b"/>
            <a:pathLst>
              <a:path w="3166110" h="326136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2935859" y="0"/>
                </a:lnTo>
                <a:cubicBezTo>
                  <a:pt x="3062986" y="0"/>
                  <a:pt x="3166110" y="103124"/>
                  <a:pt x="3166110" y="230251"/>
                </a:cubicBezTo>
                <a:lnTo>
                  <a:pt x="3166110" y="3031109"/>
                </a:lnTo>
                <a:cubicBezTo>
                  <a:pt x="3166110" y="3158236"/>
                  <a:pt x="3062986" y="3261360"/>
                  <a:pt x="2935859" y="3261360"/>
                </a:cubicBezTo>
                <a:lnTo>
                  <a:pt x="230251" y="3261360"/>
                </a:lnTo>
                <a:cubicBezTo>
                  <a:pt x="103124" y="3261360"/>
                  <a:pt x="0" y="3158236"/>
                  <a:pt x="0" y="30311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8DCE3"/>
            </a:solidFill>
            <a:prstDash val="solid"/>
          </a:ln>
        </p:spPr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8CFF0709-923F-40C5-B406-7ADAAE71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3675" y="3686175"/>
            <a:ext cx="714375" cy="400050"/>
          </a:xfrm>
          <a:custGeom xmlns:a="http://schemas.openxmlformats.org/drawingml/2006/main">
            <a:rect l="l" t="t" r="r" b="b"/>
            <a:pathLst>
              <a:path w="952500" h="533400">
                <a:moveTo>
                  <a:pt x="0" y="0"/>
                </a:moveTo>
                <a:lnTo>
                  <a:pt x="952500" y="0"/>
                </a:lnTo>
                <a:lnTo>
                  <a:pt x="952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-21849" t="0" r="-21849" b="0"/>
            </a:stretch>
          </a:blipFill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8718964E-9EF3-4703-826C-86997769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3675" y="3657600"/>
            <a:ext cx="714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03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F17FAFB0-934A-4C22-9DA2-A3F86941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3675" y="4214812"/>
            <a:ext cx="1857375" cy="600075"/>
          </a:xfrm>
          <a:custGeom xmlns:a="http://schemas.openxmlformats.org/drawingml/2006/main">
            <a:rect l="l" t="t" r="r" b="b"/>
            <a:pathLst>
              <a:path w="2476500" h="800100">
                <a:moveTo>
                  <a:pt x="0" y="0"/>
                </a:moveTo>
                <a:lnTo>
                  <a:pt x="2476500" y="0"/>
                </a:lnTo>
                <a:lnTo>
                  <a:pt x="2476500" y="800100"/>
                </a:lnTo>
                <a:lnTo>
                  <a:pt x="0" y="800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0" t="-10310" r="0" b="-10310"/>
            </a:stretch>
          </a:blipFill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91E328F8-01AF-4B95-8C8B-4B6257F7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3675" y="4186237"/>
            <a:ext cx="18573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1800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추가 질문</a:t>
            </a:r>
          </a:p>
        </p:txBody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58A2ED96-6B0F-4445-AA43-C420E607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3675" y="5029200"/>
            <a:ext cx="1857375" cy="400050"/>
          </a:xfrm>
          <a:custGeom xmlns:a="http://schemas.openxmlformats.org/drawingml/2006/main">
            <a:rect l="l" t="t" r="r" b="b"/>
            <a:pathLst>
              <a:path w="2476500" h="533400">
                <a:moveTo>
                  <a:pt x="0" y="0"/>
                </a:moveTo>
                <a:lnTo>
                  <a:pt x="2476500" y="0"/>
                </a:lnTo>
                <a:lnTo>
                  <a:pt x="2476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0" t="-40466" r="0" b="-40466"/>
            </a:stretch>
          </a:blipFill>
        </p:spPr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FB5730B4-562B-4748-BBE3-BA25C84E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3675" y="5014913"/>
            <a:ext cx="1857375" cy="414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대상·기간·상태 등
부족 조건 확인</a:t>
            </a:r>
          </a:p>
        </p:txBody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335DB173-EDA2-417B-A05B-C50B1D26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3938" y="4157662"/>
            <a:ext cx="500062" cy="714375"/>
          </a:xfrm>
          <a:custGeom xmlns:a="http://schemas.openxmlformats.org/drawingml/2006/main">
            <a:rect l="l" t="t" r="r" b="b"/>
            <a:pathLst>
              <a:path w="666750" h="952500">
                <a:moveTo>
                  <a:pt x="0" y="0"/>
                </a:moveTo>
                <a:lnTo>
                  <a:pt x="666750" y="0"/>
                </a:lnTo>
                <a:lnTo>
                  <a:pt x="666750" y="952500"/>
                </a:lnTo>
                <a:lnTo>
                  <a:pt x="0" y="952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-133290" t="0" r="-133290" b="0"/>
            </a:stretch>
          </a:blipFill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E8736F05-2FBD-4A29-A75A-F6A82BAA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3938" y="4107656"/>
            <a:ext cx="500062" cy="764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</a:pPr>
            <a:r>
              <a:rPr sz="31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→</a:t>
            </a:r>
          </a:p>
        </p:txBody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A4179BA7-E76D-4C83-8601-7DC1C613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5428" y="3420428"/>
            <a:ext cx="2374583" cy="2446020"/>
          </a:xfrm>
          <a:custGeom xmlns:a="http://schemas.openxmlformats.org/drawingml/2006/main">
            <a:rect l="l" t="t" r="r" b="b"/>
            <a:pathLst>
              <a:path w="3166110" h="326136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2935859" y="0"/>
                </a:lnTo>
                <a:cubicBezTo>
                  <a:pt x="3062986" y="0"/>
                  <a:pt x="3166110" y="103124"/>
                  <a:pt x="3166110" y="230251"/>
                </a:cubicBezTo>
                <a:lnTo>
                  <a:pt x="3166110" y="3031109"/>
                </a:lnTo>
                <a:cubicBezTo>
                  <a:pt x="3166110" y="3158236"/>
                  <a:pt x="3062986" y="3261360"/>
                  <a:pt x="2935859" y="3261360"/>
                </a:cubicBezTo>
                <a:lnTo>
                  <a:pt x="230251" y="3261360"/>
                </a:lnTo>
                <a:cubicBezTo>
                  <a:pt x="103124" y="3261360"/>
                  <a:pt x="0" y="3158236"/>
                  <a:pt x="0" y="3031109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7145">
            <a:solidFill>
              <a:srgbClr val="2E63B7"/>
            </a:solidFill>
            <a:prstDash val="solid"/>
          </a:ln>
        </p:spPr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B04C2D91-1808-4069-BC52-431BDC1D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1175" y="3686175"/>
            <a:ext cx="714375" cy="400050"/>
          </a:xfrm>
          <a:custGeom xmlns:a="http://schemas.openxmlformats.org/drawingml/2006/main">
            <a:rect l="l" t="t" r="r" b="b"/>
            <a:pathLst>
              <a:path w="952500" h="533400">
                <a:moveTo>
                  <a:pt x="0" y="0"/>
                </a:moveTo>
                <a:lnTo>
                  <a:pt x="952500" y="0"/>
                </a:lnTo>
                <a:lnTo>
                  <a:pt x="952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-21849" t="0" r="-21849" b="0"/>
            </a:stretch>
          </a:blipFill>
        </p:spPr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06958AAD-B5CC-4811-8046-00E02E37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1175" y="3657600"/>
            <a:ext cx="714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04</a:t>
            </a:r>
          </a:p>
        </p:txBody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F8940D8E-B037-47DA-B19A-4BBB2686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1175" y="4214812"/>
            <a:ext cx="1857375" cy="600075"/>
          </a:xfrm>
          <a:custGeom xmlns:a="http://schemas.openxmlformats.org/drawingml/2006/main">
            <a:rect l="l" t="t" r="r" b="b"/>
            <a:pathLst>
              <a:path w="2476500" h="800100">
                <a:moveTo>
                  <a:pt x="0" y="0"/>
                </a:moveTo>
                <a:lnTo>
                  <a:pt x="2476500" y="0"/>
                </a:lnTo>
                <a:lnTo>
                  <a:pt x="2476500" y="800100"/>
                </a:lnTo>
                <a:lnTo>
                  <a:pt x="0" y="800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0" t="-10310" r="0" b="-10310"/>
            </a:stretch>
          </a:blipFill>
        </p:spPr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E0BE517A-652D-46DE-BAE5-1D46A1F1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1175" y="4186237"/>
            <a:ext cx="18573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1800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업무 필터</a:t>
            </a:r>
          </a:p>
        </p:txBody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BC454E6C-3AE4-490B-9BB3-B13D81EF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1175" y="5029200"/>
            <a:ext cx="1857375" cy="400050"/>
          </a:xfrm>
          <a:custGeom xmlns:a="http://schemas.openxmlformats.org/drawingml/2006/main">
            <a:rect l="l" t="t" r="r" b="b"/>
            <a:pathLst>
              <a:path w="2476500" h="533400">
                <a:moveTo>
                  <a:pt x="0" y="0"/>
                </a:moveTo>
                <a:lnTo>
                  <a:pt x="2476500" y="0"/>
                </a:lnTo>
                <a:lnTo>
                  <a:pt x="2476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0" t="-40466" r="0" b="-40466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BA5A9148-8AE7-463F-B906-F38B5535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1175" y="5014913"/>
            <a:ext cx="1857375" cy="414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business_function
검색 범위 제한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9F74ECAB-4C54-4719-BD7D-BD039E17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01438" y="4157662"/>
            <a:ext cx="500062" cy="714375"/>
          </a:xfrm>
          <a:custGeom xmlns:a="http://schemas.openxmlformats.org/drawingml/2006/main">
            <a:rect l="l" t="t" r="r" b="b"/>
            <a:pathLst>
              <a:path w="666750" h="952500">
                <a:moveTo>
                  <a:pt x="0" y="0"/>
                </a:moveTo>
                <a:lnTo>
                  <a:pt x="666750" y="0"/>
                </a:lnTo>
                <a:lnTo>
                  <a:pt x="666750" y="952500"/>
                </a:lnTo>
                <a:lnTo>
                  <a:pt x="0" y="952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-133290" t="0" r="-133290" b="0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07D04698-79D2-4632-8E3E-FB2BCFE7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01438" y="4107656"/>
            <a:ext cx="500062" cy="764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</a:pPr>
            <a:r>
              <a:rPr sz="31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→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A2AEA6D8-3466-4CF6-9769-3F5AEA68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92928" y="3420428"/>
            <a:ext cx="2374583" cy="2446020"/>
          </a:xfrm>
          <a:custGeom xmlns:a="http://schemas.openxmlformats.org/drawingml/2006/main">
            <a:rect l="l" t="t" r="r" b="b"/>
            <a:pathLst>
              <a:path w="3166110" h="326136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2935859" y="0"/>
                </a:lnTo>
                <a:cubicBezTo>
                  <a:pt x="3062986" y="0"/>
                  <a:pt x="3166110" y="103124"/>
                  <a:pt x="3166110" y="230251"/>
                </a:cubicBezTo>
                <a:lnTo>
                  <a:pt x="3166110" y="3031109"/>
                </a:lnTo>
                <a:cubicBezTo>
                  <a:pt x="3166110" y="3158236"/>
                  <a:pt x="3062986" y="3261360"/>
                  <a:pt x="2935859" y="3261360"/>
                </a:cubicBezTo>
                <a:lnTo>
                  <a:pt x="230251" y="3261360"/>
                </a:lnTo>
                <a:cubicBezTo>
                  <a:pt x="103124" y="3261360"/>
                  <a:pt x="0" y="3158236"/>
                  <a:pt x="0" y="3031109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7145">
            <a:solidFill>
              <a:srgbClr val="2E63B7"/>
            </a:solidFill>
            <a:prstDash val="solid"/>
          </a:ln>
        </p:spPr>
      </p:sp>
      <p:sp>
        <p:nvSpPr>
          <p:cNvPr id="82" name="Freeform 82">
            <a:extLst xmlns:a="http://schemas.openxmlformats.org/drawingml/2006/main">
              <a:ext uri="{FF2B5EF4-FFF2-40B4-BE49-F238E27FC236}">
                <a16:creationId xmlns:a16="http://schemas.microsoft.com/office/drawing/2014/main" id="{B56C0177-07B2-4F3E-8C1B-BFB057DE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8675" y="3686175"/>
            <a:ext cx="714375" cy="400050"/>
          </a:xfrm>
          <a:custGeom xmlns:a="http://schemas.openxmlformats.org/drawingml/2006/main">
            <a:rect l="l" t="t" r="r" b="b"/>
            <a:pathLst>
              <a:path w="952500" h="533400">
                <a:moveTo>
                  <a:pt x="0" y="0"/>
                </a:moveTo>
                <a:lnTo>
                  <a:pt x="952500" y="0"/>
                </a:lnTo>
                <a:lnTo>
                  <a:pt x="952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-21849" t="0" r="-21849" b="0"/>
            </a:stretch>
          </a:blipFill>
        </p:spPr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4E8B482F-304A-4B26-AD97-9C712896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8675" y="3657600"/>
            <a:ext cx="714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05</a:t>
            </a:r>
          </a:p>
        </p:txBody>
      </p:sp>
      <p:sp>
        <p:nvSpPr>
          <p:cNvPr id="85" name="Freeform 85">
            <a:extLst xmlns:a="http://schemas.openxmlformats.org/drawingml/2006/main">
              <a:ext uri="{FF2B5EF4-FFF2-40B4-BE49-F238E27FC236}">
                <a16:creationId xmlns:a16="http://schemas.microsoft.com/office/drawing/2014/main" id="{DA09F453-DE17-42E8-A78F-D4B2F4AA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8675" y="4214812"/>
            <a:ext cx="1857375" cy="600075"/>
          </a:xfrm>
          <a:custGeom xmlns:a="http://schemas.openxmlformats.org/drawingml/2006/main">
            <a:rect l="l" t="t" r="r" b="b"/>
            <a:pathLst>
              <a:path w="2476500" h="800100">
                <a:moveTo>
                  <a:pt x="0" y="0"/>
                </a:moveTo>
                <a:lnTo>
                  <a:pt x="2476500" y="0"/>
                </a:lnTo>
                <a:lnTo>
                  <a:pt x="2476500" y="800100"/>
                </a:lnTo>
                <a:lnTo>
                  <a:pt x="0" y="800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0" t="-10310" r="0" b="-10310"/>
            </a:stretch>
          </a:blipFill>
        </p:spPr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251EDB20-E89E-4155-A6C5-79CDADA3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8675" y="4186237"/>
            <a:ext cx="18573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1800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검색·생성</a:t>
            </a:r>
          </a:p>
        </p:txBody>
      </p:sp>
      <p:sp>
        <p:nvSpPr>
          <p:cNvPr id="88" name="Freeform 88">
            <a:extLst xmlns:a="http://schemas.openxmlformats.org/drawingml/2006/main">
              <a:ext uri="{FF2B5EF4-FFF2-40B4-BE49-F238E27FC236}">
                <a16:creationId xmlns:a16="http://schemas.microsoft.com/office/drawing/2014/main" id="{7A9B83F8-3DE8-4922-909A-74137821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8675" y="5029200"/>
            <a:ext cx="1857375" cy="400050"/>
          </a:xfrm>
          <a:custGeom xmlns:a="http://schemas.openxmlformats.org/drawingml/2006/main">
            <a:rect l="l" t="t" r="r" b="b"/>
            <a:pathLst>
              <a:path w="2476500" h="533400">
                <a:moveTo>
                  <a:pt x="0" y="0"/>
                </a:moveTo>
                <a:lnTo>
                  <a:pt x="2476500" y="0"/>
                </a:lnTo>
                <a:lnTo>
                  <a:pt x="2476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0" t="-40466" r="0" b="-40466"/>
            </a:stretch>
          </a:blipFill>
        </p:spPr>
      </p:sp>
      <p:sp>
        <p:nvSpPr>
          <p:cNvPr id="89" name="TextBox 89">
            <a:extLst xmlns:a="http://schemas.openxmlformats.org/drawingml/2006/main">
              <a:ext uri="{FF2B5EF4-FFF2-40B4-BE49-F238E27FC236}">
                <a16:creationId xmlns:a16="http://schemas.microsoft.com/office/drawing/2014/main" id="{BB795C5B-0989-4A56-92A7-1E1BD0E1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8675" y="5014913"/>
            <a:ext cx="1857375" cy="414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Child 검색·Parent 문맥
LLM 근거 답변</a:t>
            </a:r>
          </a:p>
        </p:txBody>
      </p:sp>
      <p:sp>
        <p:nvSpPr>
          <p:cNvPr id="91" name="Freeform 91">
            <a:extLst xmlns:a="http://schemas.openxmlformats.org/drawingml/2006/main">
              <a:ext uri="{FF2B5EF4-FFF2-40B4-BE49-F238E27FC236}">
                <a16:creationId xmlns:a16="http://schemas.microsoft.com/office/drawing/2014/main" id="{E4266959-D36B-4605-ADA6-0DDA3BCD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58938" y="4157662"/>
            <a:ext cx="500062" cy="714375"/>
          </a:xfrm>
          <a:custGeom xmlns:a="http://schemas.openxmlformats.org/drawingml/2006/main">
            <a:rect l="l" t="t" r="r" b="b"/>
            <a:pathLst>
              <a:path w="666750" h="952500">
                <a:moveTo>
                  <a:pt x="0" y="0"/>
                </a:moveTo>
                <a:lnTo>
                  <a:pt x="666750" y="0"/>
                </a:lnTo>
                <a:lnTo>
                  <a:pt x="666750" y="952500"/>
                </a:lnTo>
                <a:lnTo>
                  <a:pt x="0" y="952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-133290" t="0" r="-133290" b="0"/>
            </a:stretch>
          </a:blipFill>
        </p:spPr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76826F19-9047-49AB-B779-59111D6D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58938" y="4107656"/>
            <a:ext cx="500062" cy="764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</a:pPr>
            <a:r>
              <a:rPr sz="31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→</a:t>
            </a:r>
          </a:p>
        </p:txBody>
      </p:sp>
      <p:sp>
        <p:nvSpPr>
          <p:cNvPr id="94" name="Freeform 94">
            <a:extLst xmlns:a="http://schemas.openxmlformats.org/drawingml/2006/main">
              <a:ext uri="{FF2B5EF4-FFF2-40B4-BE49-F238E27FC236}">
                <a16:creationId xmlns:a16="http://schemas.microsoft.com/office/drawing/2014/main" id="{66318EDB-754E-4F56-9E2A-F5468CF7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50427" y="3420428"/>
            <a:ext cx="2374583" cy="2446020"/>
          </a:xfrm>
          <a:custGeom xmlns:a="http://schemas.openxmlformats.org/drawingml/2006/main">
            <a:rect l="l" t="t" r="r" b="b"/>
            <a:pathLst>
              <a:path w="3166110" h="326136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2935859" y="0"/>
                </a:lnTo>
                <a:cubicBezTo>
                  <a:pt x="3062986" y="0"/>
                  <a:pt x="3166110" y="103124"/>
                  <a:pt x="3166110" y="230251"/>
                </a:cubicBezTo>
                <a:lnTo>
                  <a:pt x="3166110" y="3031109"/>
                </a:lnTo>
                <a:cubicBezTo>
                  <a:pt x="3166110" y="3158236"/>
                  <a:pt x="3062986" y="3261360"/>
                  <a:pt x="2935859" y="3261360"/>
                </a:cubicBezTo>
                <a:lnTo>
                  <a:pt x="230251" y="3261360"/>
                </a:lnTo>
                <a:cubicBezTo>
                  <a:pt x="103124" y="3261360"/>
                  <a:pt x="0" y="3158236"/>
                  <a:pt x="0" y="3031109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7145">
            <a:solidFill>
              <a:srgbClr val="2E63B7"/>
            </a:solidFill>
            <a:prstDash val="solid"/>
          </a:ln>
        </p:spPr>
      </p:sp>
      <p:sp>
        <p:nvSpPr>
          <p:cNvPr id="96" name="Freeform 96">
            <a:extLst xmlns:a="http://schemas.openxmlformats.org/drawingml/2006/main">
              <a:ext uri="{FF2B5EF4-FFF2-40B4-BE49-F238E27FC236}">
                <a16:creationId xmlns:a16="http://schemas.microsoft.com/office/drawing/2014/main" id="{BC7A3BE8-625A-48CF-B07C-A74E163A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6175" y="3686175"/>
            <a:ext cx="714375" cy="400050"/>
          </a:xfrm>
          <a:custGeom xmlns:a="http://schemas.openxmlformats.org/drawingml/2006/main">
            <a:rect l="l" t="t" r="r" b="b"/>
            <a:pathLst>
              <a:path w="952500" h="533400">
                <a:moveTo>
                  <a:pt x="0" y="0"/>
                </a:moveTo>
                <a:lnTo>
                  <a:pt x="952500" y="0"/>
                </a:lnTo>
                <a:lnTo>
                  <a:pt x="952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-21849" t="0" r="-21849" b="0"/>
            </a:stretch>
          </a:blipFill>
        </p:spPr>
      </p:sp>
      <p:sp>
        <p:nvSpPr>
          <p:cNvPr id="97" name="TextBox 97">
            <a:extLst xmlns:a="http://schemas.openxmlformats.org/drawingml/2006/main">
              <a:ext uri="{FF2B5EF4-FFF2-40B4-BE49-F238E27FC236}">
                <a16:creationId xmlns:a16="http://schemas.microsoft.com/office/drawing/2014/main" id="{97A30583-543B-460D-93A9-7CB7E3BC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6175" y="3657600"/>
            <a:ext cx="714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06</a:t>
            </a:r>
          </a:p>
        </p:txBody>
      </p:sp>
      <p:sp>
        <p:nvSpPr>
          <p:cNvPr id="99" name="Freeform 99">
            <a:extLst xmlns:a="http://schemas.openxmlformats.org/drawingml/2006/main">
              <a:ext uri="{FF2B5EF4-FFF2-40B4-BE49-F238E27FC236}">
                <a16:creationId xmlns:a16="http://schemas.microsoft.com/office/drawing/2014/main" id="{EDBE48AA-D13A-48C0-9E07-DF2A3DD1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6175" y="4214812"/>
            <a:ext cx="1857375" cy="600075"/>
          </a:xfrm>
          <a:custGeom xmlns:a="http://schemas.openxmlformats.org/drawingml/2006/main">
            <a:rect l="l" t="t" r="r" b="b"/>
            <a:pathLst>
              <a:path w="2476500" h="800100">
                <a:moveTo>
                  <a:pt x="0" y="0"/>
                </a:moveTo>
                <a:lnTo>
                  <a:pt x="2476500" y="0"/>
                </a:lnTo>
                <a:lnTo>
                  <a:pt x="2476500" y="800100"/>
                </a:lnTo>
                <a:lnTo>
                  <a:pt x="0" y="800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0" t="-10310" r="0" b="-10310"/>
            </a:stretch>
          </a:blipFill>
        </p:spPr>
      </p:sp>
      <p:sp>
        <p:nvSpPr>
          <p:cNvPr id="100" name="TextBox 100">
            <a:extLst xmlns:a="http://schemas.openxmlformats.org/drawingml/2006/main">
              <a:ext uri="{FF2B5EF4-FFF2-40B4-BE49-F238E27FC236}">
                <a16:creationId xmlns:a16="http://schemas.microsoft.com/office/drawing/2014/main" id="{FF8C57DD-67E8-4742-9F58-182A0DA5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6175" y="4186237"/>
            <a:ext cx="18573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1800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출처·링크</a:t>
            </a:r>
          </a:p>
        </p:txBody>
      </p:sp>
      <p:sp>
        <p:nvSpPr>
          <p:cNvPr id="102" name="Freeform 102">
            <a:extLst xmlns:a="http://schemas.openxmlformats.org/drawingml/2006/main">
              <a:ext uri="{FF2B5EF4-FFF2-40B4-BE49-F238E27FC236}">
                <a16:creationId xmlns:a16="http://schemas.microsoft.com/office/drawing/2014/main" id="{DC099322-3929-40B0-BE7F-57AE54AF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6175" y="5029200"/>
            <a:ext cx="1857375" cy="400050"/>
          </a:xfrm>
          <a:custGeom xmlns:a="http://schemas.openxmlformats.org/drawingml/2006/main">
            <a:rect l="l" t="t" r="r" b="b"/>
            <a:pathLst>
              <a:path w="2476500" h="533400">
                <a:moveTo>
                  <a:pt x="0" y="0"/>
                </a:moveTo>
                <a:lnTo>
                  <a:pt x="2476500" y="0"/>
                </a:lnTo>
                <a:lnTo>
                  <a:pt x="2476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0" t="-40466" r="0" b="-40466"/>
            </a:stretch>
          </a:blipFill>
        </p:spPr>
      </p:sp>
      <p:sp>
        <p:nvSpPr>
          <p:cNvPr id="103" name="TextBox 103">
            <a:extLst xmlns:a="http://schemas.openxmlformats.org/drawingml/2006/main">
              <a:ext uri="{FF2B5EF4-FFF2-40B4-BE49-F238E27FC236}">
                <a16:creationId xmlns:a16="http://schemas.microsoft.com/office/drawing/2014/main" id="{C1360FDE-970F-4498-A0F1-37097CC7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6175" y="5014913"/>
            <a:ext cx="1857375" cy="414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URL·브레드크럼
서류·신청 페이지</a:t>
            </a:r>
          </a:p>
        </p:txBody>
      </p:sp>
      <p:sp>
        <p:nvSpPr>
          <p:cNvPr id="105" name="Freeform 105">
            <a:extLst xmlns:a="http://schemas.openxmlformats.org/drawingml/2006/main">
              <a:ext uri="{FF2B5EF4-FFF2-40B4-BE49-F238E27FC236}">
                <a16:creationId xmlns:a16="http://schemas.microsoft.com/office/drawing/2014/main" id="{82FD1B01-3A80-4832-BC8B-C19A81E9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6636544"/>
            <a:ext cx="16587788" cy="2300288"/>
          </a:xfrm>
          <a:custGeom xmlns:a="http://schemas.openxmlformats.org/drawingml/2006/main">
            <a:rect l="l" t="t" r="r" b="b"/>
            <a:pathLst>
              <a:path w="22117050" h="3067050">
                <a:moveTo>
                  <a:pt x="0" y="229997"/>
                </a:moveTo>
                <a:cubicBezTo>
                  <a:pt x="0" y="102997"/>
                  <a:pt x="102997" y="0"/>
                  <a:pt x="229997" y="0"/>
                </a:cubicBezTo>
                <a:lnTo>
                  <a:pt x="21887053" y="0"/>
                </a:lnTo>
                <a:cubicBezTo>
                  <a:pt x="22014053" y="0"/>
                  <a:pt x="22117050" y="102997"/>
                  <a:pt x="22117050" y="229997"/>
                </a:cubicBezTo>
                <a:lnTo>
                  <a:pt x="22117050" y="2837053"/>
                </a:lnTo>
                <a:cubicBezTo>
                  <a:pt x="22117050" y="2964053"/>
                  <a:pt x="22014053" y="3067050"/>
                  <a:pt x="21887053" y="3067050"/>
                </a:cubicBezTo>
                <a:lnTo>
                  <a:pt x="229997" y="3067050"/>
                </a:lnTo>
                <a:cubicBezTo>
                  <a:pt x="102997" y="3067050"/>
                  <a:pt x="0" y="2964053"/>
                  <a:pt x="0" y="2837053"/>
                </a:cubicBezTo>
                <a:close/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107" name="Freeform 107">
            <a:extLst xmlns:a="http://schemas.openxmlformats.org/drawingml/2006/main">
              <a:ext uri="{FF2B5EF4-FFF2-40B4-BE49-F238E27FC236}">
                <a16:creationId xmlns:a16="http://schemas.microsoft.com/office/drawing/2014/main" id="{AED65E8F-C228-4938-A543-1583F5CC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6843712"/>
            <a:ext cx="15944850" cy="428625"/>
          </a:xfrm>
          <a:custGeom xmlns:a="http://schemas.openxmlformats.org/drawingml/2006/main">
            <a:rect l="l" t="t" r="r" b="b"/>
            <a:pathLst>
              <a:path w="21259800" h="571500">
                <a:moveTo>
                  <a:pt x="0" y="0"/>
                </a:moveTo>
                <a:lnTo>
                  <a:pt x="21259800" y="0"/>
                </a:lnTo>
                <a:lnTo>
                  <a:pt x="212598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9f78574ad4b0d">
              <a:alphaModFix amt="0"/>
            </a:blip>
            <a:stretch>
              <a:fillRect l="0" t="-674843" r="0" b="-674843"/>
            </a:stretch>
          </a:blipFill>
        </p:spPr>
      </p:sp>
      <p:sp>
        <p:nvSpPr>
          <p:cNvPr id="108" name="TextBox 108">
            <a:extLst xmlns:a="http://schemas.openxmlformats.org/drawingml/2006/main">
              <a:ext uri="{FF2B5EF4-FFF2-40B4-BE49-F238E27FC236}">
                <a16:creationId xmlns:a16="http://schemas.microsoft.com/office/drawing/2014/main" id="{B78E2AAC-B27B-4D9E-A396-CF183D3D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6815137"/>
            <a:ext cx="15944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180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설계 결정 및 근거</a:t>
            </a:r>
          </a:p>
        </p:txBody>
      </p:sp>
      <p:sp>
        <p:nvSpPr>
          <p:cNvPr id="109" name="TextBox 109">
            <a:extLst xmlns:a="http://schemas.openxmlformats.org/drawingml/2006/main">
              <a:ext uri="{FF2B5EF4-FFF2-40B4-BE49-F238E27FC236}">
                <a16:creationId xmlns:a16="http://schemas.microsoft.com/office/drawing/2014/main" id="{4465A1D1-6A68-4573-9C9C-C7C103F7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7422832"/>
            <a:ext cx="15761970" cy="1203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안전장치  |  근거가 부족하면 임의 생성하지 않고 추가 질문 또는 공식 문의 경로 안내</a:t>
            </a:r>
          </a:p>
        </p:txBody>
      </p:sp>
    </p:spTree>
    <p:extLst>
      <p:ext uri="{BB962C8B-B14F-4D97-AF65-F5344CB8AC3E}">
        <p14:creationId xmlns:p14="http://schemas.microsoft.com/office/powerpoint/2010/main" val="308858068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3D70C6">
                <a:alpha val="100000"/>
              </a:srgbClr>
            </a:gs>
            <a:gs pos="100000">
              <a:srgbClr val="17448F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FA3F7E8-71A8-4343-A645-3039FE17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906" y="335756"/>
            <a:ext cx="17502188" cy="9615488"/>
          </a:xfrm>
          <a:custGeom xmlns:a="http://schemas.openxmlformats.org/drawingml/2006/main">
            <a:rect l="l" t="t" r="r" b="b"/>
            <a:pathLst>
              <a:path w="23336250" h="12820650">
                <a:moveTo>
                  <a:pt x="0" y="305308"/>
                </a:moveTo>
                <a:cubicBezTo>
                  <a:pt x="0" y="136652"/>
                  <a:pt x="136652" y="0"/>
                  <a:pt x="305308" y="0"/>
                </a:cubicBezTo>
                <a:lnTo>
                  <a:pt x="23030942" y="0"/>
                </a:lnTo>
                <a:cubicBezTo>
                  <a:pt x="23199471" y="0"/>
                  <a:pt x="23336250" y="136652"/>
                  <a:pt x="23336250" y="305308"/>
                </a:cubicBezTo>
                <a:lnTo>
                  <a:pt x="23336250" y="12515342"/>
                </a:lnTo>
                <a:cubicBezTo>
                  <a:pt x="23336250" y="12683872"/>
                  <a:pt x="23199598" y="12820650"/>
                  <a:pt x="23030942" y="12820650"/>
                </a:cubicBezTo>
                <a:lnTo>
                  <a:pt x="305308" y="12820650"/>
                </a:lnTo>
                <a:cubicBezTo>
                  <a:pt x="136652" y="12820650"/>
                  <a:pt x="0" y="12683998"/>
                  <a:pt x="0" y="125153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EAF1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3D20D-6EF2-43E8-95A3-D470A1BE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42925"/>
            <a:ext cx="16002000" cy="257175"/>
          </a:xfrm>
          <a:custGeom xmlns:a="http://schemas.openxmlformats.org/drawingml/2006/main">
            <a:rect l="l" t="t" r="r" b="b"/>
            <a:pathLst>
              <a:path w="21336000" h="342900">
                <a:moveTo>
                  <a:pt x="0" y="0"/>
                </a:moveTo>
                <a:lnTo>
                  <a:pt x="21336000" y="0"/>
                </a:lnTo>
                <a:lnTo>
                  <a:pt x="21336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ebf7b1c4b14c66">
              <a:alphaModFix amt="0"/>
            </a:blip>
            <a:stretch>
              <a:fillRect l="0" t="-1162402" r="0" b="-1162402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0EB33FF-04AB-4F22-AB62-142C4E75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42925"/>
            <a:ext cx="160020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1237">
                <a:solidFill>
                  <a:srgbClr val="2E63B7"/>
                </a:solidFill>
                <a:latin typeface="JASO Sans"/>
                <a:ea typeface="JASO Sans"/>
                <a:cs typeface="JASO Sans"/>
              </a:rPr>
              <a:t>04 프로젝트 수행 결과 | 평가 데이터셋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0F75CC89-B4BC-40BD-93B4-B5D9ECCA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028700"/>
            <a:ext cx="16002000" cy="1012338"/>
          </a:xfrm>
          <a:custGeom xmlns:a="http://schemas.openxmlformats.org/drawingml/2006/main">
            <a:rect l="l" t="t" r="r" b="b"/>
            <a:pathLst>
              <a:path w="21336000" h="1349786">
                <a:moveTo>
                  <a:pt x="0" y="0"/>
                </a:moveTo>
                <a:lnTo>
                  <a:pt x="21336000" y="0"/>
                </a:lnTo>
                <a:lnTo>
                  <a:pt x="21336000" y="1349786"/>
                </a:lnTo>
                <a:lnTo>
                  <a:pt x="0" y="134978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ebf7b1c4b14c66">
              <a:alphaModFix amt="0"/>
            </a:blip>
            <a:stretch>
              <a:fillRect l="0" t="-269893" r="0" b="-246105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B2A45E6-DA65-408A-80D3-B0009AE7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028700"/>
            <a:ext cx="16002000" cy="1012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54"/>
              </a:lnSpc>
              <a:buNone/>
            </a:pPr>
            <a:r>
              <a:rPr sz="5212" b="1">
                <a:solidFill>
                  <a:srgbClr val="202020"/>
                </a:solidFill>
                <a:latin typeface="JASO Sans Bold"/>
                <a:ea typeface="JASO Sans Bold"/>
                <a:cs typeface="JASO Sans Bold"/>
              </a:rPr>
              <a:t>평가셋 없이는 실패 지점을 찾을 수 없습니다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3EDB0A0-B113-438E-99E6-FF824F3B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114550"/>
            <a:ext cx="16002000" cy="14288"/>
          </a:xfrm>
          <a:custGeom xmlns:a="http://schemas.openxmlformats.org/drawingml/2006/main">
            <a:rect l="l" t="t" r="r" b="b"/>
            <a:pathLst>
              <a:path w="21336000" h="19050">
                <a:moveTo>
                  <a:pt x="0" y="0"/>
                </a:moveTo>
                <a:lnTo>
                  <a:pt x="21336000" y="0"/>
                </a:lnTo>
                <a:lnTo>
                  <a:pt x="21336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CAF2D3A4-26CF-4933-9615-CA121303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9572625"/>
            <a:ext cx="16630650" cy="14288"/>
          </a:xfrm>
          <a:custGeom xmlns:a="http://schemas.openxmlformats.org/drawingml/2006/main">
            <a:rect l="l" t="t" r="r" b="b"/>
            <a:pathLst>
              <a:path w="22174200" h="19050">
                <a:moveTo>
                  <a:pt x="0" y="0"/>
                </a:moveTo>
                <a:lnTo>
                  <a:pt x="22174200" y="0"/>
                </a:lnTo>
                <a:lnTo>
                  <a:pt x="221742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F8E73E10-338A-42A4-A81C-9FE5B596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44062"/>
            <a:ext cx="1000125" cy="257175"/>
          </a:xfrm>
          <a:custGeom xmlns:a="http://schemas.openxmlformats.org/drawingml/2006/main">
            <a:rect l="l" t="t" r="r" b="b"/>
            <a:pathLst>
              <a:path w="1333500" h="342900">
                <a:moveTo>
                  <a:pt x="0" y="0"/>
                </a:moveTo>
                <a:lnTo>
                  <a:pt x="1333500" y="0"/>
                </a:lnTo>
                <a:lnTo>
                  <a:pt x="13335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ebf7b1c4b14c66">
              <a:alphaModFix amt="0"/>
            </a:blip>
            <a:stretch>
              <a:fillRect l="0" t="-25775" r="0" b="-25775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D00C9E9-22DE-4B96-A5D9-DC260DCA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44062"/>
            <a:ext cx="100012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350"/>
              </a:lnSpc>
              <a:buNone/>
            </a:pPr>
            <a:r>
              <a:rPr sz="1125">
                <a:solidFill>
                  <a:srgbClr val="2E63B7"/>
                </a:solidFill>
                <a:latin typeface="JASO Sans"/>
                <a:ea typeface="JASO Sans"/>
                <a:cs typeface="JASO Sans"/>
              </a:rPr>
              <a:t>10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4932DFF8-B4FA-4DBD-9B7E-FA233F4C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4592" y="2921794"/>
            <a:ext cx="7520350" cy="4729162"/>
          </a:xfrm>
          <a:custGeom xmlns:a="http://schemas.openxmlformats.org/drawingml/2006/main">
            <a:rect l="l" t="t" r="r" b="b"/>
            <a:pathLst>
              <a:path w="10027134" h="6305550">
                <a:moveTo>
                  <a:pt x="0" y="229235"/>
                </a:moveTo>
                <a:cubicBezTo>
                  <a:pt x="0" y="102616"/>
                  <a:pt x="153883" y="0"/>
                  <a:pt x="343760" y="0"/>
                </a:cubicBezTo>
                <a:lnTo>
                  <a:pt x="9683374" y="0"/>
                </a:lnTo>
                <a:cubicBezTo>
                  <a:pt x="9873251" y="0"/>
                  <a:pt x="10027134" y="102616"/>
                  <a:pt x="10027134" y="229235"/>
                </a:cubicBezTo>
                <a:lnTo>
                  <a:pt x="10027134" y="6076315"/>
                </a:lnTo>
                <a:cubicBezTo>
                  <a:pt x="10027134" y="6202934"/>
                  <a:pt x="9873251" y="6305550"/>
                  <a:pt x="9683374" y="6305550"/>
                </a:cubicBezTo>
                <a:lnTo>
                  <a:pt x="343760" y="6305550"/>
                </a:lnTo>
                <a:cubicBezTo>
                  <a:pt x="153883" y="6305550"/>
                  <a:pt x="0" y="6202934"/>
                  <a:pt x="0" y="60763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D6D218B9-2D20-4DAB-9566-AF029CE4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3970" y="3128963"/>
            <a:ext cx="4213104" cy="660597"/>
          </a:xfrm>
          <a:custGeom xmlns:a="http://schemas.openxmlformats.org/drawingml/2006/main">
            <a:rect l="l" t="t" r="r" b="b"/>
            <a:pathLst>
              <a:path w="5617473" h="880796">
                <a:moveTo>
                  <a:pt x="0" y="0"/>
                </a:moveTo>
                <a:lnTo>
                  <a:pt x="5617473" y="0"/>
                </a:lnTo>
                <a:lnTo>
                  <a:pt x="5617473" y="880796"/>
                </a:lnTo>
                <a:lnTo>
                  <a:pt x="0" y="8807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ebf7b1c4b14c66">
              <a:alphaModFix amt="0"/>
            </a:blip>
            <a:stretch>
              <a:fillRect l="0" t="-96513" r="-3770" b="-61398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B310A48-F406-4CA4-A5D9-4F573E7C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3970" y="3128963"/>
            <a:ext cx="4213105" cy="6605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124"/>
              </a:lnSpc>
              <a:buNone/>
            </a:pPr>
            <a:r>
              <a:rPr sz="2250" b="1">
                <a:solidFill>
                  <a:srgbClr val="2E63B7"/>
                </a:solidFill>
                <a:latin typeface="JASO Sans Bold"/>
                <a:ea typeface="JASO Sans Bold"/>
                <a:cs typeface="JASO Sans Bold"/>
              </a:rPr>
              <a:t>평가셋이 없을 때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705A773-FD34-4EEA-AE5C-91B52022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024" y="3936206"/>
            <a:ext cx="6892478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sz="2100">
                <a:solidFill>
                  <a:srgbClr val="9299A3"/>
                </a:solidFill>
                <a:latin typeface="JASO Sans"/>
                <a:ea typeface="JASO Sans"/>
                <a:cs typeface="JASO Sans"/>
              </a:rPr>
              <a:t>답변이 틀렸다는 결과만 보임</a:t>
            </a:r>
          </a:p>
          <a:p xmlns:a="http://schemas.openxmlformats.org/drawingml/2006/main"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sz="2100">
                <a:solidFill>
                  <a:srgbClr val="9299A3"/>
                </a:solidFill>
                <a:latin typeface="JASO Sans"/>
                <a:ea typeface="JASO Sans"/>
                <a:cs typeface="JASO Sans"/>
              </a:rPr>
              <a:t>분류·검색·생성 중 원인을 모름</a:t>
            </a:r>
          </a:p>
          <a:p xmlns:a="http://schemas.openxmlformats.org/drawingml/2006/main"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sz="2100">
                <a:solidFill>
                  <a:srgbClr val="9299A3"/>
                </a:solidFill>
                <a:latin typeface="JASO Sans"/>
                <a:ea typeface="JASO Sans"/>
                <a:cs typeface="JASO Sans"/>
              </a:rPr>
              <a:t>사람마다 좋은 답변 기준이 달라짐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BD2652E-861F-40B5-88B1-5A853467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18339" y="2921794"/>
            <a:ext cx="7352805" cy="4729162"/>
          </a:xfrm>
          <a:custGeom xmlns:a="http://schemas.openxmlformats.org/drawingml/2006/main">
            <a:rect l="l" t="t" r="r" b="b"/>
            <a:pathLst>
              <a:path w="9803740" h="6305550">
                <a:moveTo>
                  <a:pt x="0" y="229235"/>
                </a:moveTo>
                <a:cubicBezTo>
                  <a:pt x="0" y="102616"/>
                  <a:pt x="150454" y="0"/>
                  <a:pt x="336102" y="0"/>
                </a:cubicBezTo>
                <a:lnTo>
                  <a:pt x="9467638" y="0"/>
                </a:lnTo>
                <a:cubicBezTo>
                  <a:pt x="9653285" y="0"/>
                  <a:pt x="9803740" y="102616"/>
                  <a:pt x="9803740" y="229235"/>
                </a:cubicBezTo>
                <a:lnTo>
                  <a:pt x="9803740" y="6076315"/>
                </a:lnTo>
                <a:cubicBezTo>
                  <a:pt x="9803740" y="6202934"/>
                  <a:pt x="9653285" y="6305550"/>
                  <a:pt x="9467638" y="6305550"/>
                </a:cubicBezTo>
                <a:lnTo>
                  <a:pt x="336102" y="6305550"/>
                </a:lnTo>
                <a:cubicBezTo>
                  <a:pt x="150454" y="6305550"/>
                  <a:pt x="0" y="6202934"/>
                  <a:pt x="0" y="6076315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279CEB19-4F55-41CF-8076-C20923F4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45697" y="3128963"/>
            <a:ext cx="6067269" cy="660597"/>
          </a:xfrm>
          <a:custGeom xmlns:a="http://schemas.openxmlformats.org/drawingml/2006/main">
            <a:rect l="l" t="t" r="r" b="b"/>
            <a:pathLst>
              <a:path w="8089692" h="880796">
                <a:moveTo>
                  <a:pt x="0" y="0"/>
                </a:moveTo>
                <a:lnTo>
                  <a:pt x="8089692" y="0"/>
                </a:lnTo>
                <a:lnTo>
                  <a:pt x="8089692" y="880796"/>
                </a:lnTo>
                <a:lnTo>
                  <a:pt x="0" y="8807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ebf7b1c4b14c66">
              <a:alphaModFix amt="0"/>
            </a:blip>
            <a:stretch>
              <a:fillRect l="0" t="-96513" r="27941" b="-61398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FC9FD327-4F9B-4DA4-B702-F4AB0DE1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45697" y="3128963"/>
            <a:ext cx="6067269" cy="6605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124"/>
              </a:lnSpc>
              <a:buNone/>
            </a:pPr>
            <a:r>
              <a:rPr sz="2250" b="1">
                <a:solidFill>
                  <a:srgbClr val="2E63B7"/>
                </a:solidFill>
                <a:latin typeface="JASO Sans Bold"/>
                <a:ea typeface="JASO Sans Bold"/>
                <a:cs typeface="JASO Sans Bold"/>
              </a:rPr>
              <a:t>평가셋이 있을 때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B3E4546A-01B2-4FE2-A1B1-25C77F89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9463" y="3936206"/>
            <a:ext cx="6759737" cy="3067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sz="2100">
                <a:solidFill>
                  <a:srgbClr val="9299A3"/>
                </a:solidFill>
                <a:latin typeface="JASO Sans"/>
                <a:ea typeface="JASO Sans"/>
                <a:cs typeface="JASO Sans"/>
              </a:rPr>
              <a:t>업무 분류 정답을 별도 비교</a:t>
            </a:r>
          </a:p>
          <a:p xmlns:a="http://schemas.openxmlformats.org/drawingml/2006/main"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sz="2100">
                <a:solidFill>
                  <a:srgbClr val="9299A3"/>
                </a:solidFill>
                <a:latin typeface="JASO Sans"/>
                <a:ea typeface="JASO Sans"/>
                <a:cs typeface="JASO Sans"/>
              </a:rPr>
              <a:t>정답 문서·섹션·청크를 확인</a:t>
            </a:r>
          </a:p>
          <a:p xmlns:a="http://schemas.openxmlformats.org/drawingml/2006/main"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sz="2100">
                <a:solidFill>
                  <a:srgbClr val="9299A3"/>
                </a:solidFill>
                <a:latin typeface="JASO Sans"/>
                <a:ea typeface="JASO Sans"/>
                <a:cs typeface="JASO Sans"/>
              </a:rPr>
              <a:t>필수응답요소와 출처를 검증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7CE33D39-C9EC-430D-9AC0-D7EAD539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8065294"/>
            <a:ext cx="16159162" cy="1243012"/>
          </a:xfrm>
          <a:custGeom xmlns:a="http://schemas.openxmlformats.org/drawingml/2006/main">
            <a:rect l="l" t="t" r="r" b="b"/>
            <a:pathLst>
              <a:path w="21545550" h="1657350">
                <a:moveTo>
                  <a:pt x="0" y="231267"/>
                </a:moveTo>
                <a:cubicBezTo>
                  <a:pt x="0" y="103505"/>
                  <a:pt x="103505" y="0"/>
                  <a:pt x="231267" y="0"/>
                </a:cubicBezTo>
                <a:lnTo>
                  <a:pt x="21314283" y="0"/>
                </a:lnTo>
                <a:cubicBezTo>
                  <a:pt x="21442046" y="0"/>
                  <a:pt x="21545550" y="103505"/>
                  <a:pt x="21545550" y="231267"/>
                </a:cubicBezTo>
                <a:lnTo>
                  <a:pt x="21545550" y="1426083"/>
                </a:lnTo>
                <a:cubicBezTo>
                  <a:pt x="21545550" y="1553845"/>
                  <a:pt x="21442046" y="1657350"/>
                  <a:pt x="21314283" y="1657350"/>
                </a:cubicBezTo>
                <a:lnTo>
                  <a:pt x="231267" y="1657350"/>
                </a:lnTo>
                <a:cubicBezTo>
                  <a:pt x="103505" y="1657350"/>
                  <a:pt x="0" y="1553845"/>
                  <a:pt x="0" y="1426083"/>
                </a:cubicBezTo>
                <a:close/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7264C3B-D060-4254-AD04-AA85A3E2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8433651"/>
            <a:ext cx="15630525" cy="1022452"/>
          </a:xfrm>
          <a:custGeom xmlns:a="http://schemas.openxmlformats.org/drawingml/2006/main">
            <a:rect l="l" t="t" r="r" b="b"/>
            <a:pathLst>
              <a:path w="20840700" h="1363269">
                <a:moveTo>
                  <a:pt x="0" y="0"/>
                </a:moveTo>
                <a:lnTo>
                  <a:pt x="20840700" y="0"/>
                </a:lnTo>
                <a:lnTo>
                  <a:pt x="20840700" y="1363269"/>
                </a:lnTo>
                <a:lnTo>
                  <a:pt x="0" y="136326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ebf7b1c4b14c66">
              <a:alphaModFix amt="0"/>
            </a:blip>
            <a:stretch>
              <a:fillRect l="0" t="-246170" r="0" b="-249576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3FC42F8-898E-43BA-93A5-C6321A82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8433651"/>
            <a:ext cx="15630525" cy="10224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584"/>
              </a:lnSpc>
              <a:buNone/>
            </a:pPr>
            <a:r>
              <a:rPr sz="2100" b="1">
                <a:solidFill>
                  <a:srgbClr val="2E63B7"/>
                </a:solidFill>
                <a:latin typeface="JASO Sans Bold"/>
                <a:ea typeface="JASO Sans Bold"/>
                <a:cs typeface="JASO Sans Bold"/>
              </a:rPr>
              <a:t>평가 목표  |  ‘틀렸다’에서 끝내지 않고 어느 단계에서 실패했는지 찾는 것</a:t>
            </a: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7523ED84-8748-4219-B1F2-8ADDF7D1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756172"/>
            <a:ext cx="16002000" cy="771525"/>
          </a:xfrm>
          <a:custGeom xmlns:a="http://schemas.openxmlformats.org/drawingml/2006/main">
            <a:rect l="l" t="t" r="r" b="b"/>
            <a:pathLst>
              <a:path w="21336000" h="1028700">
                <a:moveTo>
                  <a:pt x="0" y="0"/>
                </a:moveTo>
                <a:lnTo>
                  <a:pt x="21336000" y="0"/>
                </a:lnTo>
                <a:lnTo>
                  <a:pt x="21336000" y="1028700"/>
                </a:lnTo>
                <a:lnTo>
                  <a:pt x="0" y="102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ebf7b1c4b14c66">
              <a:alphaModFix amt="0"/>
            </a:blip>
            <a:stretch>
              <a:fillRect l="0" t="-354134" r="0" b="-354134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E76497B4-3532-400F-B4B0-EE50EF4D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749029"/>
            <a:ext cx="16002000" cy="778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640"/>
              </a:lnSpc>
              <a:buNone/>
            </a:pPr>
            <a:r>
              <a:rPr sz="2100">
                <a:solidFill>
                  <a:srgbClr val="202020"/>
                </a:solidFill>
                <a:latin typeface="JASO Sans"/>
                <a:ea typeface="JASO Sans"/>
                <a:cs typeface="JASO Sans"/>
              </a:rPr>
              <a:t>왜 평가셋이 필요한가</a:t>
            </a:r>
          </a:p>
        </p:txBody>
      </p:sp>
    </p:spTree>
    <p:extLst>
      <p:ext uri="{BB962C8B-B14F-4D97-AF65-F5344CB8AC3E}">
        <p14:creationId xmlns:p14="http://schemas.microsoft.com/office/powerpoint/2010/main" val="2130857775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3D70C6">
                <a:alpha val="100000"/>
              </a:srgbClr>
            </a:gs>
            <a:gs pos="100000">
              <a:srgbClr val="17448F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19AADAA-ED06-4893-B4E5-1877E929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906" y="335756"/>
            <a:ext cx="17502188" cy="9615488"/>
          </a:xfrm>
          <a:custGeom xmlns:a="http://schemas.openxmlformats.org/drawingml/2006/main">
            <a:rect l="l" t="t" r="r" b="b"/>
            <a:pathLst>
              <a:path w="23336250" h="12820650">
                <a:moveTo>
                  <a:pt x="0" y="305308"/>
                </a:moveTo>
                <a:cubicBezTo>
                  <a:pt x="0" y="136652"/>
                  <a:pt x="136652" y="0"/>
                  <a:pt x="305308" y="0"/>
                </a:cubicBezTo>
                <a:lnTo>
                  <a:pt x="23030942" y="0"/>
                </a:lnTo>
                <a:cubicBezTo>
                  <a:pt x="23199471" y="0"/>
                  <a:pt x="23336250" y="136652"/>
                  <a:pt x="23336250" y="305308"/>
                </a:cubicBezTo>
                <a:lnTo>
                  <a:pt x="23336250" y="12515342"/>
                </a:lnTo>
                <a:cubicBezTo>
                  <a:pt x="23336250" y="12683872"/>
                  <a:pt x="23199598" y="12820650"/>
                  <a:pt x="23030942" y="12820650"/>
                </a:cubicBezTo>
                <a:lnTo>
                  <a:pt x="305308" y="12820650"/>
                </a:lnTo>
                <a:cubicBezTo>
                  <a:pt x="136652" y="12820650"/>
                  <a:pt x="0" y="12683998"/>
                  <a:pt x="0" y="125153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EAF1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B392D60-87E4-4579-A0C4-332490B7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42925"/>
            <a:ext cx="16002000" cy="257175"/>
          </a:xfrm>
          <a:custGeom xmlns:a="http://schemas.openxmlformats.org/drawingml/2006/main">
            <a:rect l="l" t="t" r="r" b="b"/>
            <a:pathLst>
              <a:path w="21336000" h="342900">
                <a:moveTo>
                  <a:pt x="0" y="0"/>
                </a:moveTo>
                <a:lnTo>
                  <a:pt x="21336000" y="0"/>
                </a:lnTo>
                <a:lnTo>
                  <a:pt x="21336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040d3155af4b32">
              <a:alphaModFix amt="0"/>
            </a:blip>
            <a:stretch>
              <a:fillRect l="0" t="-1162402" r="0" b="-1162402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C613BD6-5403-4F27-8606-D0568DC9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28638"/>
            <a:ext cx="16002000" cy="2714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123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04 프로젝트 수행 결과 | 평가 데이터셋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47798170-1ED7-4D4E-8CD7-9CCED9A1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842962"/>
            <a:ext cx="16002000" cy="771525"/>
          </a:xfrm>
          <a:custGeom xmlns:a="http://schemas.openxmlformats.org/drawingml/2006/main">
            <a:rect l="l" t="t" r="r" b="b"/>
            <a:pathLst>
              <a:path w="21336000" h="1028700">
                <a:moveTo>
                  <a:pt x="0" y="0"/>
                </a:moveTo>
                <a:lnTo>
                  <a:pt x="21336000" y="0"/>
                </a:lnTo>
                <a:lnTo>
                  <a:pt x="21336000" y="1028700"/>
                </a:lnTo>
                <a:lnTo>
                  <a:pt x="0" y="102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040d3155af4b32">
              <a:alphaModFix amt="0"/>
            </a:blip>
            <a:stretch>
              <a:fillRect l="0" t="-354134" r="0" b="-354134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3AEBF2F-A8B4-408A-9789-005C59EE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85812"/>
            <a:ext cx="16002000" cy="82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455"/>
              </a:lnSpc>
              <a:buNone/>
            </a:pPr>
            <a:r>
              <a:rPr sz="3712">
                <a:solidFill>
                  <a:srgbClr val="202020"/>
                </a:solidFill>
                <a:latin typeface="Calibri (MS)"/>
                <a:ea typeface="Calibri (MS)"/>
                <a:cs typeface="Calibri (MS)"/>
              </a:rPr>
              <a:t>그래서 질문마다 4종 정답을 함께 정의했습니다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22E89E4-C143-4B04-BDB4-79012866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85912"/>
            <a:ext cx="14859000" cy="314325"/>
          </a:xfrm>
          <a:custGeom xmlns:a="http://schemas.openxmlformats.org/drawingml/2006/main">
            <a:rect l="l" t="t" r="r" b="b"/>
            <a:pathLst>
              <a:path w="19812000" h="419100">
                <a:moveTo>
                  <a:pt x="0" y="0"/>
                </a:moveTo>
                <a:lnTo>
                  <a:pt x="19812000" y="0"/>
                </a:lnTo>
                <a:lnTo>
                  <a:pt x="19812000" y="419100"/>
                </a:lnTo>
                <a:lnTo>
                  <a:pt x="0" y="419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040d3155af4b32">
              <a:alphaModFix amt="0"/>
            </a:blip>
            <a:stretch>
              <a:fillRect l="0" t="-871110" r="0" b="-87111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2EB16C89-31CC-4F35-B90B-CD8AE243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71625"/>
            <a:ext cx="14859000" cy="3286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한 질문을 네 층으로 나누면 실패 지점을 단계별로 평가할 수 있습니다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70750110-7D13-4E4F-B697-B4599F10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114550"/>
            <a:ext cx="16002000" cy="14288"/>
          </a:xfrm>
          <a:custGeom xmlns:a="http://schemas.openxmlformats.org/drawingml/2006/main">
            <a:rect l="l" t="t" r="r" b="b"/>
            <a:pathLst>
              <a:path w="21336000" h="19050">
                <a:moveTo>
                  <a:pt x="0" y="0"/>
                </a:moveTo>
                <a:lnTo>
                  <a:pt x="21336000" y="0"/>
                </a:lnTo>
                <a:lnTo>
                  <a:pt x="21336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671EB878-DE93-4A31-AF30-BC36CDC4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9572625"/>
            <a:ext cx="16630650" cy="14288"/>
          </a:xfrm>
          <a:custGeom xmlns:a="http://schemas.openxmlformats.org/drawingml/2006/main">
            <a:rect l="l" t="t" r="r" b="b"/>
            <a:pathLst>
              <a:path w="22174200" h="19050">
                <a:moveTo>
                  <a:pt x="0" y="0"/>
                </a:moveTo>
                <a:lnTo>
                  <a:pt x="22174200" y="0"/>
                </a:lnTo>
                <a:lnTo>
                  <a:pt x="221742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5C73AE39-D19D-4786-A5A5-8387401C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44062"/>
            <a:ext cx="8286750" cy="257175"/>
          </a:xfrm>
          <a:custGeom xmlns:a="http://schemas.openxmlformats.org/drawingml/2006/main">
            <a:rect l="l" t="t" r="r" b="b"/>
            <a:pathLst>
              <a:path w="11049000" h="342900">
                <a:moveTo>
                  <a:pt x="0" y="0"/>
                </a:moveTo>
                <a:lnTo>
                  <a:pt x="11049000" y="0"/>
                </a:lnTo>
                <a:lnTo>
                  <a:pt x="11049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040d3155af4b32">
              <a:alphaModFix amt="0"/>
            </a:blip>
            <a:stretch>
              <a:fillRect l="0" t="-577851" r="0" b="-577851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F9AD2B2-2AC3-4992-B624-EA9AE5D2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22631"/>
            <a:ext cx="8286750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1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KDIC AI 챗봇 | 와쿠와쿠 6조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6A364623-23B8-45AF-8165-948BACF9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44062"/>
            <a:ext cx="1000125" cy="257175"/>
          </a:xfrm>
          <a:custGeom xmlns:a="http://schemas.openxmlformats.org/drawingml/2006/main">
            <a:rect l="l" t="t" r="r" b="b"/>
            <a:pathLst>
              <a:path w="1333500" h="342900">
                <a:moveTo>
                  <a:pt x="0" y="0"/>
                </a:moveTo>
                <a:lnTo>
                  <a:pt x="1333500" y="0"/>
                </a:lnTo>
                <a:lnTo>
                  <a:pt x="13335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040d3155af4b32">
              <a:alphaModFix amt="0"/>
            </a:blip>
            <a:stretch>
              <a:fillRect l="0" t="-25775" r="0" b="-25775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F364B86D-4C49-45EA-B51E-C4E54F597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22631"/>
            <a:ext cx="1000125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350"/>
              </a:lnSpc>
              <a:buNone/>
            </a:pPr>
            <a:r>
              <a:rPr sz="11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11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E8739581-ED41-47D7-8A9A-DD2CC535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3064669"/>
            <a:ext cx="3871911" cy="3943350"/>
          </a:xfrm>
          <a:custGeom xmlns:a="http://schemas.openxmlformats.org/drawingml/2006/main">
            <a:rect l="l" t="t" r="r" b="b"/>
            <a:pathLst>
              <a:path w="5162550" h="5257800">
                <a:moveTo>
                  <a:pt x="0" y="229362"/>
                </a:moveTo>
                <a:cubicBezTo>
                  <a:pt x="0" y="102743"/>
                  <a:pt x="102743" y="0"/>
                  <a:pt x="229362" y="0"/>
                </a:cubicBezTo>
                <a:lnTo>
                  <a:pt x="4933188" y="0"/>
                </a:lnTo>
                <a:cubicBezTo>
                  <a:pt x="5059934" y="0"/>
                  <a:pt x="5162550" y="102743"/>
                  <a:pt x="5162550" y="229362"/>
                </a:cubicBezTo>
                <a:lnTo>
                  <a:pt x="5162550" y="5028438"/>
                </a:lnTo>
                <a:cubicBezTo>
                  <a:pt x="5162550" y="5155184"/>
                  <a:pt x="5059807" y="5257800"/>
                  <a:pt x="4933188" y="5257800"/>
                </a:cubicBezTo>
                <a:lnTo>
                  <a:pt x="229362" y="5257800"/>
                </a:lnTo>
                <a:cubicBezTo>
                  <a:pt x="102743" y="5257800"/>
                  <a:pt x="0" y="5155057"/>
                  <a:pt x="0" y="502843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84FA01AA-A6D5-48F9-80D7-7C2E02B8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3271838"/>
            <a:ext cx="3228975" cy="428625"/>
          </a:xfrm>
          <a:custGeom xmlns:a="http://schemas.openxmlformats.org/drawingml/2006/main">
            <a:rect l="l" t="t" r="r" b="b"/>
            <a:pathLst>
              <a:path w="4305300" h="571500">
                <a:moveTo>
                  <a:pt x="0" y="0"/>
                </a:moveTo>
                <a:lnTo>
                  <a:pt x="4305300" y="0"/>
                </a:lnTo>
                <a:lnTo>
                  <a:pt x="43053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040d3155af4b32">
              <a:alphaModFix amt="0"/>
            </a:blip>
            <a:stretch>
              <a:fillRect l="0" t="-96787" r="0" b="-96787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EEBF3281-AB79-40C8-9673-44FD272B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3243263"/>
            <a:ext cx="32289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① 질의 정답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6F488AA6-7804-4797-9BEE-FFE531AC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3850958"/>
            <a:ext cx="3046095" cy="28470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업무·범위
복잡도·중요도
사용자 역할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0F10D12B-81A4-4208-9B35-9371724C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850606" y="3064669"/>
            <a:ext cx="3871911" cy="3943350"/>
          </a:xfrm>
          <a:custGeom xmlns:a="http://schemas.openxmlformats.org/drawingml/2006/main">
            <a:rect l="l" t="t" r="r" b="b"/>
            <a:pathLst>
              <a:path w="5162550" h="5257800">
                <a:moveTo>
                  <a:pt x="0" y="229362"/>
                </a:moveTo>
                <a:cubicBezTo>
                  <a:pt x="0" y="102743"/>
                  <a:pt x="102743" y="0"/>
                  <a:pt x="229362" y="0"/>
                </a:cubicBezTo>
                <a:lnTo>
                  <a:pt x="4933188" y="0"/>
                </a:lnTo>
                <a:cubicBezTo>
                  <a:pt x="5059934" y="0"/>
                  <a:pt x="5162550" y="102743"/>
                  <a:pt x="5162550" y="229362"/>
                </a:cubicBezTo>
                <a:lnTo>
                  <a:pt x="5162550" y="5028438"/>
                </a:lnTo>
                <a:cubicBezTo>
                  <a:pt x="5162550" y="5155184"/>
                  <a:pt x="5059807" y="5257800"/>
                  <a:pt x="4933188" y="5257800"/>
                </a:cubicBezTo>
                <a:lnTo>
                  <a:pt x="229362" y="5257800"/>
                </a:lnTo>
                <a:cubicBezTo>
                  <a:pt x="102743" y="5257800"/>
                  <a:pt x="0" y="5155057"/>
                  <a:pt x="0" y="502843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9FF892DC-C70D-435D-997E-4D0C90CA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075" y="3271838"/>
            <a:ext cx="3228975" cy="428625"/>
          </a:xfrm>
          <a:custGeom xmlns:a="http://schemas.openxmlformats.org/drawingml/2006/main">
            <a:rect l="l" t="t" r="r" b="b"/>
            <a:pathLst>
              <a:path w="4305300" h="571500">
                <a:moveTo>
                  <a:pt x="0" y="0"/>
                </a:moveTo>
                <a:lnTo>
                  <a:pt x="4305300" y="0"/>
                </a:lnTo>
                <a:lnTo>
                  <a:pt x="43053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040d3155af4b32">
              <a:alphaModFix amt="0"/>
            </a:blip>
            <a:stretch>
              <a:fillRect l="0" t="-96787" r="0" b="-96787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5EB5BA53-C576-45C4-91B8-D61A2084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72075" y="3243263"/>
            <a:ext cx="32289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② 의도 정답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24C40763-DE8C-49FF-932A-85B50873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63515" y="3850958"/>
            <a:ext cx="3046095" cy="28470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의도 그룹 5종
상세의도 주·부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374DDB06-39BC-4281-8888-8D2FC860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6856" y="3064669"/>
            <a:ext cx="3871911" cy="3943350"/>
          </a:xfrm>
          <a:custGeom xmlns:a="http://schemas.openxmlformats.org/drawingml/2006/main">
            <a:rect l="l" t="t" r="r" b="b"/>
            <a:pathLst>
              <a:path w="5162550" h="5257800">
                <a:moveTo>
                  <a:pt x="0" y="229362"/>
                </a:moveTo>
                <a:cubicBezTo>
                  <a:pt x="0" y="102743"/>
                  <a:pt x="102743" y="0"/>
                  <a:pt x="229362" y="0"/>
                </a:cubicBezTo>
                <a:lnTo>
                  <a:pt x="4933188" y="0"/>
                </a:lnTo>
                <a:cubicBezTo>
                  <a:pt x="5059934" y="0"/>
                  <a:pt x="5162550" y="102743"/>
                  <a:pt x="5162550" y="229362"/>
                </a:cubicBezTo>
                <a:lnTo>
                  <a:pt x="5162550" y="5028438"/>
                </a:lnTo>
                <a:cubicBezTo>
                  <a:pt x="5162550" y="5155184"/>
                  <a:pt x="5059807" y="5257800"/>
                  <a:pt x="4933188" y="5257800"/>
                </a:cubicBezTo>
                <a:lnTo>
                  <a:pt x="229362" y="5257800"/>
                </a:lnTo>
                <a:cubicBezTo>
                  <a:pt x="102743" y="5257800"/>
                  <a:pt x="0" y="5155057"/>
                  <a:pt x="0" y="5028438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D5E3CFD4-67E8-4CBA-B2AB-D807AE81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58325" y="3271838"/>
            <a:ext cx="3228975" cy="428625"/>
          </a:xfrm>
          <a:custGeom xmlns:a="http://schemas.openxmlformats.org/drawingml/2006/main">
            <a:rect l="l" t="t" r="r" b="b"/>
            <a:pathLst>
              <a:path w="4305300" h="571500">
                <a:moveTo>
                  <a:pt x="0" y="0"/>
                </a:moveTo>
                <a:lnTo>
                  <a:pt x="4305300" y="0"/>
                </a:lnTo>
                <a:lnTo>
                  <a:pt x="43053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040d3155af4b32">
              <a:alphaModFix amt="0"/>
            </a:blip>
            <a:stretch>
              <a:fillRect l="0" t="-96787" r="0" b="-96787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74B28743-8825-405B-9742-1330B595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58325" y="3243263"/>
            <a:ext cx="32289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③ 검색 Gold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F6F033B6-034A-496F-9276-9A58EE92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9765" y="3850958"/>
            <a:ext cx="3046095" cy="28470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업무·시나리오
문서·섹션·청크
원문 URL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762CEF9-2C83-4F07-86EF-7A9207CA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23106" y="3064669"/>
            <a:ext cx="3871911" cy="3943350"/>
          </a:xfrm>
          <a:custGeom xmlns:a="http://schemas.openxmlformats.org/drawingml/2006/main">
            <a:rect l="l" t="t" r="r" b="b"/>
            <a:pathLst>
              <a:path w="5162550" h="5257800">
                <a:moveTo>
                  <a:pt x="0" y="229362"/>
                </a:moveTo>
                <a:cubicBezTo>
                  <a:pt x="0" y="102743"/>
                  <a:pt x="102743" y="0"/>
                  <a:pt x="229362" y="0"/>
                </a:cubicBezTo>
                <a:lnTo>
                  <a:pt x="4933188" y="0"/>
                </a:lnTo>
                <a:cubicBezTo>
                  <a:pt x="5059934" y="0"/>
                  <a:pt x="5162550" y="102743"/>
                  <a:pt x="5162550" y="229362"/>
                </a:cubicBezTo>
                <a:lnTo>
                  <a:pt x="5162550" y="5028438"/>
                </a:lnTo>
                <a:cubicBezTo>
                  <a:pt x="5162550" y="5155184"/>
                  <a:pt x="5059807" y="5257800"/>
                  <a:pt x="4933188" y="5257800"/>
                </a:cubicBezTo>
                <a:lnTo>
                  <a:pt x="229362" y="5257800"/>
                </a:lnTo>
                <a:cubicBezTo>
                  <a:pt x="102743" y="5257800"/>
                  <a:pt x="0" y="5155057"/>
                  <a:pt x="0" y="502843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B0F3734E-5C9B-41FE-A94C-A747FCBD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44575" y="3271838"/>
            <a:ext cx="3228975" cy="428625"/>
          </a:xfrm>
          <a:custGeom xmlns:a="http://schemas.openxmlformats.org/drawingml/2006/main">
            <a:rect l="l" t="t" r="r" b="b"/>
            <a:pathLst>
              <a:path w="4305300" h="571500">
                <a:moveTo>
                  <a:pt x="0" y="0"/>
                </a:moveTo>
                <a:lnTo>
                  <a:pt x="4305300" y="0"/>
                </a:lnTo>
                <a:lnTo>
                  <a:pt x="43053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040d3155af4b32">
              <a:alphaModFix amt="0"/>
            </a:blip>
            <a:stretch>
              <a:fillRect l="0" t="-96787" r="0" b="-96787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7D1D47AC-A615-49D6-8990-77769A5F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44575" y="3243263"/>
            <a:ext cx="32289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④ 답변 Gold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3C63471A-EE8A-4F17-A9B1-24C03940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6015" y="3850958"/>
            <a:ext cx="3046095" cy="28470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답변 가능·추가 질문
정답 요약·필수요소
응답 정책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DEEF1DD3-12E5-4EC4-8F4A-68DDBA7D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7565231"/>
            <a:ext cx="16730662" cy="1585912"/>
          </a:xfrm>
          <a:custGeom xmlns:a="http://schemas.openxmlformats.org/drawingml/2006/main">
            <a:rect l="l" t="t" r="r" b="b"/>
            <a:pathLst>
              <a:path w="22307550" h="2114550">
                <a:moveTo>
                  <a:pt x="0" y="230632"/>
                </a:moveTo>
                <a:cubicBezTo>
                  <a:pt x="0" y="103251"/>
                  <a:pt x="103251" y="0"/>
                  <a:pt x="230632" y="0"/>
                </a:cubicBezTo>
                <a:lnTo>
                  <a:pt x="22076918" y="0"/>
                </a:lnTo>
                <a:cubicBezTo>
                  <a:pt x="22204299" y="0"/>
                  <a:pt x="22307550" y="103251"/>
                  <a:pt x="22307550" y="230632"/>
                </a:cubicBezTo>
                <a:lnTo>
                  <a:pt x="22307550" y="1883918"/>
                </a:lnTo>
                <a:cubicBezTo>
                  <a:pt x="22307550" y="2011299"/>
                  <a:pt x="22204299" y="2114550"/>
                  <a:pt x="22076918" y="2114550"/>
                </a:cubicBezTo>
                <a:lnTo>
                  <a:pt x="230632" y="2114550"/>
                </a:lnTo>
                <a:cubicBezTo>
                  <a:pt x="103251" y="2114550"/>
                  <a:pt x="0" y="2011299"/>
                  <a:pt x="0" y="1883918"/>
                </a:cubicBezTo>
                <a:close/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8CF8AE73-D818-4E8A-ABA2-2653C9BA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7772400"/>
            <a:ext cx="16087725" cy="428625"/>
          </a:xfrm>
          <a:custGeom xmlns:a="http://schemas.openxmlformats.org/drawingml/2006/main">
            <a:rect l="l" t="t" r="r" b="b"/>
            <a:pathLst>
              <a:path w="21450300" h="571500">
                <a:moveTo>
                  <a:pt x="0" y="0"/>
                </a:moveTo>
                <a:lnTo>
                  <a:pt x="21450300" y="0"/>
                </a:lnTo>
                <a:lnTo>
                  <a:pt x="214503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040d3155af4b32">
              <a:alphaModFix amt="0"/>
            </a:blip>
            <a:stretch>
              <a:fillRect l="0" t="-681338" r="0" b="-681338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A7E53A5F-2710-4B4D-9B8F-C27DF546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7743825"/>
            <a:ext cx="160877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데이터셋 관리 원칙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52CE952F-22CA-404C-A832-80DF50AF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8351520"/>
            <a:ext cx="15904845" cy="489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25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핵심  |  분류 정답 · 검색 정답 · 답변 정답을 분리해 검색과 LLM을 따로 개선</a:t>
            </a:r>
          </a:p>
        </p:txBody>
      </p:sp>
    </p:spTree>
    <p:extLst>
      <p:ext uri="{BB962C8B-B14F-4D97-AF65-F5344CB8AC3E}">
        <p14:creationId xmlns:p14="http://schemas.microsoft.com/office/powerpoint/2010/main" val="1486647691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3D70C6">
                <a:alpha val="100000"/>
              </a:srgbClr>
            </a:gs>
            <a:gs pos="100000">
              <a:srgbClr val="17448F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88EAB553-FD6F-4134-924B-B59CA950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906" y="335756"/>
            <a:ext cx="17502188" cy="9615488"/>
          </a:xfrm>
          <a:custGeom xmlns:a="http://schemas.openxmlformats.org/drawingml/2006/main">
            <a:rect l="l" t="t" r="r" b="b"/>
            <a:pathLst>
              <a:path w="23336250" h="12820650">
                <a:moveTo>
                  <a:pt x="0" y="305308"/>
                </a:moveTo>
                <a:cubicBezTo>
                  <a:pt x="0" y="136652"/>
                  <a:pt x="136652" y="0"/>
                  <a:pt x="305308" y="0"/>
                </a:cubicBezTo>
                <a:lnTo>
                  <a:pt x="23030942" y="0"/>
                </a:lnTo>
                <a:cubicBezTo>
                  <a:pt x="23199471" y="0"/>
                  <a:pt x="23336250" y="136652"/>
                  <a:pt x="23336250" y="305308"/>
                </a:cubicBezTo>
                <a:lnTo>
                  <a:pt x="23336250" y="12515342"/>
                </a:lnTo>
                <a:cubicBezTo>
                  <a:pt x="23336250" y="12683872"/>
                  <a:pt x="23199598" y="12820650"/>
                  <a:pt x="23030942" y="12820650"/>
                </a:cubicBezTo>
                <a:lnTo>
                  <a:pt x="305308" y="12820650"/>
                </a:lnTo>
                <a:cubicBezTo>
                  <a:pt x="136652" y="12820650"/>
                  <a:pt x="0" y="12683998"/>
                  <a:pt x="0" y="125153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EAF1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37C7816-CD6B-47D4-AC46-E39C135F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42925"/>
            <a:ext cx="16002000" cy="257175"/>
          </a:xfrm>
          <a:custGeom xmlns:a="http://schemas.openxmlformats.org/drawingml/2006/main">
            <a:rect l="l" t="t" r="r" b="b"/>
            <a:pathLst>
              <a:path w="21336000" h="342900">
                <a:moveTo>
                  <a:pt x="0" y="0"/>
                </a:moveTo>
                <a:lnTo>
                  <a:pt x="21336000" y="0"/>
                </a:lnTo>
                <a:lnTo>
                  <a:pt x="21336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0" t="-1162402" r="0" b="-1162402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65BA6795-05CC-49B4-AAC5-4B9A431B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28638"/>
            <a:ext cx="16002000" cy="2714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123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04 프로젝트 수행 결과 | 평가 데이터셋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69FB5E31-EFBA-4235-99AE-FDEEC5BE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842962"/>
            <a:ext cx="16002000" cy="771525"/>
          </a:xfrm>
          <a:custGeom xmlns:a="http://schemas.openxmlformats.org/drawingml/2006/main">
            <a:rect l="l" t="t" r="r" b="b"/>
            <a:pathLst>
              <a:path w="21336000" h="1028700">
                <a:moveTo>
                  <a:pt x="0" y="0"/>
                </a:moveTo>
                <a:lnTo>
                  <a:pt x="21336000" y="0"/>
                </a:lnTo>
                <a:lnTo>
                  <a:pt x="21336000" y="1028700"/>
                </a:lnTo>
                <a:lnTo>
                  <a:pt x="0" y="102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0" t="-354134" r="0" b="-354134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8BCF623C-0811-42CC-ACEE-1EED3221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85812"/>
            <a:ext cx="16002000" cy="82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455"/>
              </a:lnSpc>
              <a:buNone/>
            </a:pPr>
            <a:r>
              <a:rPr sz="3712">
                <a:solidFill>
                  <a:srgbClr val="202020"/>
                </a:solidFill>
                <a:latin typeface="Calibri (MS)"/>
                <a:ea typeface="Calibri (MS)"/>
                <a:cs typeface="Calibri (MS)"/>
              </a:rPr>
              <a:t>Gold는 문서 이름이 아니라 ‘정답 근거의 경로’입니다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A47B566A-7002-4568-8989-89082345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85912"/>
            <a:ext cx="14859000" cy="314325"/>
          </a:xfrm>
          <a:custGeom xmlns:a="http://schemas.openxmlformats.org/drawingml/2006/main">
            <a:rect l="l" t="t" r="r" b="b"/>
            <a:pathLst>
              <a:path w="19812000" h="419100">
                <a:moveTo>
                  <a:pt x="0" y="0"/>
                </a:moveTo>
                <a:lnTo>
                  <a:pt x="19812000" y="0"/>
                </a:lnTo>
                <a:lnTo>
                  <a:pt x="19812000" y="419100"/>
                </a:lnTo>
                <a:lnTo>
                  <a:pt x="0" y="419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0" t="-871110" r="0" b="-87111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038E62C-26D6-4972-849F-7AF425D0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71625"/>
            <a:ext cx="14859000" cy="3286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질문이 어느 업무의 어느 문서·섹션·청크를 근거로 해야 하는지 단계별로 연결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6D6C030-6536-4765-BAE5-8593F452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114550"/>
            <a:ext cx="16002000" cy="14288"/>
          </a:xfrm>
          <a:custGeom xmlns:a="http://schemas.openxmlformats.org/drawingml/2006/main">
            <a:rect l="l" t="t" r="r" b="b"/>
            <a:pathLst>
              <a:path w="21336000" h="19050">
                <a:moveTo>
                  <a:pt x="0" y="0"/>
                </a:moveTo>
                <a:lnTo>
                  <a:pt x="21336000" y="0"/>
                </a:lnTo>
                <a:lnTo>
                  <a:pt x="21336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38897C9A-2048-4D35-9BC4-139E7417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9572625"/>
            <a:ext cx="16630650" cy="14288"/>
          </a:xfrm>
          <a:custGeom xmlns:a="http://schemas.openxmlformats.org/drawingml/2006/main">
            <a:rect l="l" t="t" r="r" b="b"/>
            <a:pathLst>
              <a:path w="22174200" h="19050">
                <a:moveTo>
                  <a:pt x="0" y="0"/>
                </a:moveTo>
                <a:lnTo>
                  <a:pt x="22174200" y="0"/>
                </a:lnTo>
                <a:lnTo>
                  <a:pt x="221742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C62B7232-4449-4BCD-8B88-1C7032B9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44062"/>
            <a:ext cx="8286750" cy="257175"/>
          </a:xfrm>
          <a:custGeom xmlns:a="http://schemas.openxmlformats.org/drawingml/2006/main">
            <a:rect l="l" t="t" r="r" b="b"/>
            <a:pathLst>
              <a:path w="11049000" h="342900">
                <a:moveTo>
                  <a:pt x="0" y="0"/>
                </a:moveTo>
                <a:lnTo>
                  <a:pt x="11049000" y="0"/>
                </a:lnTo>
                <a:lnTo>
                  <a:pt x="11049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0" t="-577851" r="0" b="-577851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F410828B-CEEC-4CC0-9DF5-E9A8AE7C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22631"/>
            <a:ext cx="8286750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1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KDIC AI 챗봇 | 와쿠와쿠 6조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75CCB6C-5701-414B-A3D0-ABD761E6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44062"/>
            <a:ext cx="1000125" cy="257175"/>
          </a:xfrm>
          <a:custGeom xmlns:a="http://schemas.openxmlformats.org/drawingml/2006/main">
            <a:rect l="l" t="t" r="r" b="b"/>
            <a:pathLst>
              <a:path w="1333500" h="342900">
                <a:moveTo>
                  <a:pt x="0" y="0"/>
                </a:moveTo>
                <a:lnTo>
                  <a:pt x="1333500" y="0"/>
                </a:lnTo>
                <a:lnTo>
                  <a:pt x="13335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0" t="-25775" r="0" b="-25775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5F6BC1CC-A528-4B24-A9B0-D4541402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22631"/>
            <a:ext cx="1000125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350"/>
              </a:lnSpc>
              <a:buNone/>
            </a:pPr>
            <a:r>
              <a:rPr sz="11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12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875D7107-17B9-481E-8735-32337202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2928" y="3420428"/>
            <a:ext cx="2374583" cy="2446020"/>
          </a:xfrm>
          <a:custGeom xmlns:a="http://schemas.openxmlformats.org/drawingml/2006/main">
            <a:rect l="l" t="t" r="r" b="b"/>
            <a:pathLst>
              <a:path w="3166110" h="326136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2935859" y="0"/>
                </a:lnTo>
                <a:cubicBezTo>
                  <a:pt x="3062986" y="0"/>
                  <a:pt x="3166110" y="103124"/>
                  <a:pt x="3166110" y="230251"/>
                </a:cubicBezTo>
                <a:lnTo>
                  <a:pt x="3166110" y="3031109"/>
                </a:lnTo>
                <a:cubicBezTo>
                  <a:pt x="3166110" y="3158236"/>
                  <a:pt x="3062986" y="3261360"/>
                  <a:pt x="2935859" y="3261360"/>
                </a:cubicBezTo>
                <a:lnTo>
                  <a:pt x="230251" y="3261360"/>
                </a:lnTo>
                <a:cubicBezTo>
                  <a:pt x="103124" y="3261360"/>
                  <a:pt x="0" y="3158236"/>
                  <a:pt x="0" y="30311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8DCE3"/>
            </a:solidFill>
            <a:prstDash val="solid"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4669B168-3271-4A2C-ABF5-4B023E89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3686175"/>
            <a:ext cx="714375" cy="400050"/>
          </a:xfrm>
          <a:custGeom xmlns:a="http://schemas.openxmlformats.org/drawingml/2006/main">
            <a:rect l="l" t="t" r="r" b="b"/>
            <a:pathLst>
              <a:path w="952500" h="533400">
                <a:moveTo>
                  <a:pt x="0" y="0"/>
                </a:moveTo>
                <a:lnTo>
                  <a:pt x="952500" y="0"/>
                </a:lnTo>
                <a:lnTo>
                  <a:pt x="952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-21849" t="0" r="-21849" b="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841BDC71-6E41-400E-88A2-4D8CBFD8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3657600"/>
            <a:ext cx="714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01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F1A1B2A7-81BD-481C-82B7-AD4A5E3D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4214812"/>
            <a:ext cx="1857375" cy="600075"/>
          </a:xfrm>
          <a:custGeom xmlns:a="http://schemas.openxmlformats.org/drawingml/2006/main">
            <a:rect l="l" t="t" r="r" b="b"/>
            <a:pathLst>
              <a:path w="2476500" h="800100">
                <a:moveTo>
                  <a:pt x="0" y="0"/>
                </a:moveTo>
                <a:lnTo>
                  <a:pt x="2476500" y="0"/>
                </a:lnTo>
                <a:lnTo>
                  <a:pt x="2476500" y="800100"/>
                </a:lnTo>
                <a:lnTo>
                  <a:pt x="0" y="800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0" t="-10310" r="0" b="-10310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EF7DC69C-B00C-4DAE-ABBF-A226828D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4186237"/>
            <a:ext cx="18573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1800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업무</a:t>
            </a: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B86D64D-7C94-4C5D-88E2-B63B273F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5029200"/>
            <a:ext cx="1857375" cy="400050"/>
          </a:xfrm>
          <a:custGeom xmlns:a="http://schemas.openxmlformats.org/drawingml/2006/main">
            <a:rect l="l" t="t" r="r" b="b"/>
            <a:pathLst>
              <a:path w="2476500" h="533400">
                <a:moveTo>
                  <a:pt x="0" y="0"/>
                </a:moveTo>
                <a:lnTo>
                  <a:pt x="2476500" y="0"/>
                </a:lnTo>
                <a:lnTo>
                  <a:pt x="2476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0" t="-40466" r="0" b="-40466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76554B1-8E48-4D1D-8A24-9759B084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5014913"/>
            <a:ext cx="1857375" cy="414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gold_business_
function</a:t>
            </a: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FA884965-9FA5-46B1-A5F1-371B5568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8938" y="4157662"/>
            <a:ext cx="500062" cy="714375"/>
          </a:xfrm>
          <a:custGeom xmlns:a="http://schemas.openxmlformats.org/drawingml/2006/main">
            <a:rect l="l" t="t" r="r" b="b"/>
            <a:pathLst>
              <a:path w="666750" h="952500">
                <a:moveTo>
                  <a:pt x="0" y="0"/>
                </a:moveTo>
                <a:lnTo>
                  <a:pt x="666750" y="0"/>
                </a:lnTo>
                <a:lnTo>
                  <a:pt x="666750" y="952500"/>
                </a:lnTo>
                <a:lnTo>
                  <a:pt x="0" y="952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-133290" t="0" r="-133290" b="0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2C73452D-2FDC-4C71-94C6-7CAA0252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8938" y="4107656"/>
            <a:ext cx="500062" cy="764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</a:pPr>
            <a:r>
              <a:rPr sz="31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→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DAF1F4A-BE71-4238-8F7E-14B00D92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20428" y="3420428"/>
            <a:ext cx="2374583" cy="2446020"/>
          </a:xfrm>
          <a:custGeom xmlns:a="http://schemas.openxmlformats.org/drawingml/2006/main">
            <a:rect l="l" t="t" r="r" b="b"/>
            <a:pathLst>
              <a:path w="3166110" h="326136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2935859" y="0"/>
                </a:lnTo>
                <a:cubicBezTo>
                  <a:pt x="3062986" y="0"/>
                  <a:pt x="3166110" y="103124"/>
                  <a:pt x="3166110" y="230251"/>
                </a:cubicBezTo>
                <a:lnTo>
                  <a:pt x="3166110" y="3031109"/>
                </a:lnTo>
                <a:cubicBezTo>
                  <a:pt x="3166110" y="3158236"/>
                  <a:pt x="3062986" y="3261360"/>
                  <a:pt x="2935859" y="3261360"/>
                </a:cubicBezTo>
                <a:lnTo>
                  <a:pt x="230251" y="3261360"/>
                </a:lnTo>
                <a:cubicBezTo>
                  <a:pt x="103124" y="3261360"/>
                  <a:pt x="0" y="3158236"/>
                  <a:pt x="0" y="30311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8DCE3"/>
            </a:solidFill>
            <a:prstDash val="solid"/>
          </a:ln>
        </p:spPr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C0B9F790-AC8A-47BF-9C03-6735F289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175" y="3686175"/>
            <a:ext cx="714375" cy="400050"/>
          </a:xfrm>
          <a:custGeom xmlns:a="http://schemas.openxmlformats.org/drawingml/2006/main">
            <a:rect l="l" t="t" r="r" b="b"/>
            <a:pathLst>
              <a:path w="952500" h="533400">
                <a:moveTo>
                  <a:pt x="0" y="0"/>
                </a:moveTo>
                <a:lnTo>
                  <a:pt x="952500" y="0"/>
                </a:lnTo>
                <a:lnTo>
                  <a:pt x="952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-21849" t="0" r="-21849" b="0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F6CF0A1D-550D-4E8E-9B30-B1A243F9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175" y="3657600"/>
            <a:ext cx="714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02</a:t>
            </a:r>
          </a:p>
        </p:txBody>
      </p:sp>
      <p:sp>
        <p:nvSpPr>
          <p:cNvPr id="43" name="Freeform 43">
            <a:extLst xmlns:a="http://schemas.openxmlformats.org/drawingml/2006/main">
              <a:ext uri="{FF2B5EF4-FFF2-40B4-BE49-F238E27FC236}">
                <a16:creationId xmlns:a16="http://schemas.microsoft.com/office/drawing/2014/main" id="{5250612C-B7CF-4367-8CF8-18D91187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175" y="4214812"/>
            <a:ext cx="1857375" cy="600075"/>
          </a:xfrm>
          <a:custGeom xmlns:a="http://schemas.openxmlformats.org/drawingml/2006/main">
            <a:rect l="l" t="t" r="r" b="b"/>
            <a:pathLst>
              <a:path w="2476500" h="800100">
                <a:moveTo>
                  <a:pt x="0" y="0"/>
                </a:moveTo>
                <a:lnTo>
                  <a:pt x="2476500" y="0"/>
                </a:lnTo>
                <a:lnTo>
                  <a:pt x="2476500" y="800100"/>
                </a:lnTo>
                <a:lnTo>
                  <a:pt x="0" y="800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0" t="-10310" r="0" b="-10310"/>
            </a:stretch>
          </a:blipFill>
        </p:spPr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16E0C182-CA23-494C-A1A2-29EA5285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175" y="4186237"/>
            <a:ext cx="18573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1800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시나리오</a:t>
            </a:r>
          </a:p>
        </p:txBody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9AD99925-5400-4357-9766-CC720F79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175" y="5029200"/>
            <a:ext cx="1857375" cy="400050"/>
          </a:xfrm>
          <a:custGeom xmlns:a="http://schemas.openxmlformats.org/drawingml/2006/main">
            <a:rect l="l" t="t" r="r" b="b"/>
            <a:pathLst>
              <a:path w="2476500" h="533400">
                <a:moveTo>
                  <a:pt x="0" y="0"/>
                </a:moveTo>
                <a:lnTo>
                  <a:pt x="2476500" y="0"/>
                </a:lnTo>
                <a:lnTo>
                  <a:pt x="2476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0" t="-40466" r="0" b="-40466"/>
            </a:stretch>
          </a:blipFill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87081469-54D3-4A4B-B6FC-B7C56CB5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175" y="5014913"/>
            <a:ext cx="1857375" cy="414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gold_scenario</a:t>
            </a:r>
          </a:p>
        </p:txBody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F34F75DE-B1D8-4B2D-8514-CAA011D3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86438" y="4157662"/>
            <a:ext cx="500062" cy="714375"/>
          </a:xfrm>
          <a:custGeom xmlns:a="http://schemas.openxmlformats.org/drawingml/2006/main">
            <a:rect l="l" t="t" r="r" b="b"/>
            <a:pathLst>
              <a:path w="666750" h="952500">
                <a:moveTo>
                  <a:pt x="0" y="0"/>
                </a:moveTo>
                <a:lnTo>
                  <a:pt x="666750" y="0"/>
                </a:lnTo>
                <a:lnTo>
                  <a:pt x="666750" y="952500"/>
                </a:lnTo>
                <a:lnTo>
                  <a:pt x="0" y="952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-133290" t="0" r="-133290" b="0"/>
            </a:stretch>
          </a:blipFill>
        </p:spPr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F099237A-41F4-415F-9159-076A5BDD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86438" y="4107656"/>
            <a:ext cx="500062" cy="764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</a:pPr>
            <a:r>
              <a:rPr sz="31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→</a:t>
            </a:r>
          </a:p>
        </p:txBody>
      </p:sp>
      <p:sp>
        <p:nvSpPr>
          <p:cNvPr id="52" name="Freeform 52">
            <a:extLst xmlns:a="http://schemas.openxmlformats.org/drawingml/2006/main">
              <a:ext uri="{FF2B5EF4-FFF2-40B4-BE49-F238E27FC236}">
                <a16:creationId xmlns:a16="http://schemas.microsoft.com/office/drawing/2014/main" id="{EA239372-D5AA-4481-A0C9-0EEDD300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77928" y="3420428"/>
            <a:ext cx="2374583" cy="2446020"/>
          </a:xfrm>
          <a:custGeom xmlns:a="http://schemas.openxmlformats.org/drawingml/2006/main">
            <a:rect l="l" t="t" r="r" b="b"/>
            <a:pathLst>
              <a:path w="3166110" h="326136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2935859" y="0"/>
                </a:lnTo>
                <a:cubicBezTo>
                  <a:pt x="3062986" y="0"/>
                  <a:pt x="3166110" y="103124"/>
                  <a:pt x="3166110" y="230251"/>
                </a:cubicBezTo>
                <a:lnTo>
                  <a:pt x="3166110" y="3031109"/>
                </a:lnTo>
                <a:cubicBezTo>
                  <a:pt x="3166110" y="3158236"/>
                  <a:pt x="3062986" y="3261360"/>
                  <a:pt x="2935859" y="3261360"/>
                </a:cubicBezTo>
                <a:lnTo>
                  <a:pt x="230251" y="3261360"/>
                </a:lnTo>
                <a:cubicBezTo>
                  <a:pt x="103124" y="3261360"/>
                  <a:pt x="0" y="3158236"/>
                  <a:pt x="0" y="30311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8DCE3"/>
            </a:solidFill>
            <a:prstDash val="solid"/>
          </a:ln>
        </p:spPr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8CFF0709-923F-40C5-B406-7ADAAE71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3675" y="3686175"/>
            <a:ext cx="714375" cy="400050"/>
          </a:xfrm>
          <a:custGeom xmlns:a="http://schemas.openxmlformats.org/drawingml/2006/main">
            <a:rect l="l" t="t" r="r" b="b"/>
            <a:pathLst>
              <a:path w="952500" h="533400">
                <a:moveTo>
                  <a:pt x="0" y="0"/>
                </a:moveTo>
                <a:lnTo>
                  <a:pt x="952500" y="0"/>
                </a:lnTo>
                <a:lnTo>
                  <a:pt x="952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-21849" t="0" r="-21849" b="0"/>
            </a:stretch>
          </a:blipFill>
        </p:spPr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8718964E-9EF3-4703-826C-86997769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3675" y="3657600"/>
            <a:ext cx="714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03</a:t>
            </a:r>
          </a:p>
        </p:txBody>
      </p:sp>
      <p:sp>
        <p:nvSpPr>
          <p:cNvPr id="57" name="Freeform 57">
            <a:extLst xmlns:a="http://schemas.openxmlformats.org/drawingml/2006/main">
              <a:ext uri="{FF2B5EF4-FFF2-40B4-BE49-F238E27FC236}">
                <a16:creationId xmlns:a16="http://schemas.microsoft.com/office/drawing/2014/main" id="{F17FAFB0-934A-4C22-9DA2-A3F86941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3675" y="4214812"/>
            <a:ext cx="1857375" cy="600075"/>
          </a:xfrm>
          <a:custGeom xmlns:a="http://schemas.openxmlformats.org/drawingml/2006/main">
            <a:rect l="l" t="t" r="r" b="b"/>
            <a:pathLst>
              <a:path w="2476500" h="800100">
                <a:moveTo>
                  <a:pt x="0" y="0"/>
                </a:moveTo>
                <a:lnTo>
                  <a:pt x="2476500" y="0"/>
                </a:lnTo>
                <a:lnTo>
                  <a:pt x="2476500" y="800100"/>
                </a:lnTo>
                <a:lnTo>
                  <a:pt x="0" y="800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0" t="-10310" r="0" b="-10310"/>
            </a:stretch>
          </a:blipFill>
        </p:spPr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91E328F8-01AF-4B95-8C8B-4B6257F7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3675" y="4186237"/>
            <a:ext cx="18573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1800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문서</a:t>
            </a:r>
          </a:p>
        </p:txBody>
      </p:sp>
      <p:sp>
        <p:nvSpPr>
          <p:cNvPr id="60" name="Freeform 60">
            <a:extLst xmlns:a="http://schemas.openxmlformats.org/drawingml/2006/main">
              <a:ext uri="{FF2B5EF4-FFF2-40B4-BE49-F238E27FC236}">
                <a16:creationId xmlns:a16="http://schemas.microsoft.com/office/drawing/2014/main" id="{58A2ED96-6B0F-4445-AA43-C420E607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3675" y="5029200"/>
            <a:ext cx="1857375" cy="400050"/>
          </a:xfrm>
          <a:custGeom xmlns:a="http://schemas.openxmlformats.org/drawingml/2006/main">
            <a:rect l="l" t="t" r="r" b="b"/>
            <a:pathLst>
              <a:path w="2476500" h="533400">
                <a:moveTo>
                  <a:pt x="0" y="0"/>
                </a:moveTo>
                <a:lnTo>
                  <a:pt x="2476500" y="0"/>
                </a:lnTo>
                <a:lnTo>
                  <a:pt x="2476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0" t="-40466" r="0" b="-40466"/>
            </a:stretch>
          </a:blipFill>
        </p:spPr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FB5730B4-562B-4748-BBE3-BA25C84E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43675" y="5014913"/>
            <a:ext cx="1857375" cy="414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gold_document_
ids</a:t>
            </a:r>
          </a:p>
        </p:txBody>
      </p:sp>
      <p:sp>
        <p:nvSpPr>
          <p:cNvPr id="63" name="Freeform 63">
            <a:extLst xmlns:a="http://schemas.openxmlformats.org/drawingml/2006/main">
              <a:ext uri="{FF2B5EF4-FFF2-40B4-BE49-F238E27FC236}">
                <a16:creationId xmlns:a16="http://schemas.microsoft.com/office/drawing/2014/main" id="{335DB173-EDA2-417B-A05B-C50B1D26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3938" y="4157662"/>
            <a:ext cx="500062" cy="714375"/>
          </a:xfrm>
          <a:custGeom xmlns:a="http://schemas.openxmlformats.org/drawingml/2006/main">
            <a:rect l="l" t="t" r="r" b="b"/>
            <a:pathLst>
              <a:path w="666750" h="952500">
                <a:moveTo>
                  <a:pt x="0" y="0"/>
                </a:moveTo>
                <a:lnTo>
                  <a:pt x="666750" y="0"/>
                </a:lnTo>
                <a:lnTo>
                  <a:pt x="666750" y="952500"/>
                </a:lnTo>
                <a:lnTo>
                  <a:pt x="0" y="952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-133290" t="0" r="-133290" b="0"/>
            </a:stretch>
          </a:blipFill>
        </p:spPr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E8736F05-2FBD-4A29-A75A-F6A82BAA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3938" y="4107656"/>
            <a:ext cx="500062" cy="764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</a:pPr>
            <a:r>
              <a:rPr sz="31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→</a:t>
            </a:r>
          </a:p>
        </p:txBody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A4179BA7-E76D-4C83-8601-7DC1C613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35428" y="3420428"/>
            <a:ext cx="2374583" cy="2446020"/>
          </a:xfrm>
          <a:custGeom xmlns:a="http://schemas.openxmlformats.org/drawingml/2006/main">
            <a:rect l="l" t="t" r="r" b="b"/>
            <a:pathLst>
              <a:path w="3166110" h="326136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2935859" y="0"/>
                </a:lnTo>
                <a:cubicBezTo>
                  <a:pt x="3062986" y="0"/>
                  <a:pt x="3166110" y="103124"/>
                  <a:pt x="3166110" y="230251"/>
                </a:cubicBezTo>
                <a:lnTo>
                  <a:pt x="3166110" y="3031109"/>
                </a:lnTo>
                <a:cubicBezTo>
                  <a:pt x="3166110" y="3158236"/>
                  <a:pt x="3062986" y="3261360"/>
                  <a:pt x="2935859" y="3261360"/>
                </a:cubicBezTo>
                <a:lnTo>
                  <a:pt x="230251" y="3261360"/>
                </a:lnTo>
                <a:cubicBezTo>
                  <a:pt x="103124" y="3261360"/>
                  <a:pt x="0" y="3158236"/>
                  <a:pt x="0" y="3031109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7145">
            <a:solidFill>
              <a:srgbClr val="2E63B7"/>
            </a:solidFill>
            <a:prstDash val="solid"/>
          </a:ln>
        </p:spPr>
      </p:sp>
      <p:sp>
        <p:nvSpPr>
          <p:cNvPr id="68" name="Freeform 68">
            <a:extLst xmlns:a="http://schemas.openxmlformats.org/drawingml/2006/main">
              <a:ext uri="{FF2B5EF4-FFF2-40B4-BE49-F238E27FC236}">
                <a16:creationId xmlns:a16="http://schemas.microsoft.com/office/drawing/2014/main" id="{B04C2D91-1808-4069-BC52-431BDC1D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1175" y="3686175"/>
            <a:ext cx="714375" cy="400050"/>
          </a:xfrm>
          <a:custGeom xmlns:a="http://schemas.openxmlformats.org/drawingml/2006/main">
            <a:rect l="l" t="t" r="r" b="b"/>
            <a:pathLst>
              <a:path w="952500" h="533400">
                <a:moveTo>
                  <a:pt x="0" y="0"/>
                </a:moveTo>
                <a:lnTo>
                  <a:pt x="952500" y="0"/>
                </a:lnTo>
                <a:lnTo>
                  <a:pt x="952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-21849" t="0" r="-21849" b="0"/>
            </a:stretch>
          </a:blipFill>
        </p:spPr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06958AAD-B5CC-4811-8046-00E02E37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1175" y="3657600"/>
            <a:ext cx="714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04</a:t>
            </a:r>
          </a:p>
        </p:txBody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F8940D8E-B037-47DA-B19A-4BBB2686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1175" y="4214812"/>
            <a:ext cx="1857375" cy="600075"/>
          </a:xfrm>
          <a:custGeom xmlns:a="http://schemas.openxmlformats.org/drawingml/2006/main">
            <a:rect l="l" t="t" r="r" b="b"/>
            <a:pathLst>
              <a:path w="2476500" h="800100">
                <a:moveTo>
                  <a:pt x="0" y="0"/>
                </a:moveTo>
                <a:lnTo>
                  <a:pt x="2476500" y="0"/>
                </a:lnTo>
                <a:lnTo>
                  <a:pt x="2476500" y="800100"/>
                </a:lnTo>
                <a:lnTo>
                  <a:pt x="0" y="800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0" t="-10310" r="0" b="-10310"/>
            </a:stretch>
          </a:blipFill>
        </p:spPr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E0BE517A-652D-46DE-BAE5-1D46A1F1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1175" y="4186237"/>
            <a:ext cx="18573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1800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섹션</a:t>
            </a:r>
          </a:p>
        </p:txBody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BC454E6C-3AE4-490B-9BB3-B13D81EF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1175" y="5029200"/>
            <a:ext cx="1857375" cy="400050"/>
          </a:xfrm>
          <a:custGeom xmlns:a="http://schemas.openxmlformats.org/drawingml/2006/main">
            <a:rect l="l" t="t" r="r" b="b"/>
            <a:pathLst>
              <a:path w="2476500" h="533400">
                <a:moveTo>
                  <a:pt x="0" y="0"/>
                </a:moveTo>
                <a:lnTo>
                  <a:pt x="2476500" y="0"/>
                </a:lnTo>
                <a:lnTo>
                  <a:pt x="2476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0" t="-40466" r="0" b="-40466"/>
            </a:stretch>
          </a:blipFill>
        </p:spPr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BA5A9148-8AE7-463F-B906-F38B5535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01175" y="5014913"/>
            <a:ext cx="1857375" cy="414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gold_section_
titles</a:t>
            </a:r>
          </a:p>
        </p:txBody>
      </p:sp>
      <p:sp>
        <p:nvSpPr>
          <p:cNvPr id="77" name="Freeform 77">
            <a:extLst xmlns:a="http://schemas.openxmlformats.org/drawingml/2006/main">
              <a:ext uri="{FF2B5EF4-FFF2-40B4-BE49-F238E27FC236}">
                <a16:creationId xmlns:a16="http://schemas.microsoft.com/office/drawing/2014/main" id="{9F74ECAB-4C54-4719-BD7D-BD039E17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01438" y="4157662"/>
            <a:ext cx="500062" cy="714375"/>
          </a:xfrm>
          <a:custGeom xmlns:a="http://schemas.openxmlformats.org/drawingml/2006/main">
            <a:rect l="l" t="t" r="r" b="b"/>
            <a:pathLst>
              <a:path w="666750" h="952500">
                <a:moveTo>
                  <a:pt x="0" y="0"/>
                </a:moveTo>
                <a:lnTo>
                  <a:pt x="666750" y="0"/>
                </a:lnTo>
                <a:lnTo>
                  <a:pt x="666750" y="952500"/>
                </a:lnTo>
                <a:lnTo>
                  <a:pt x="0" y="952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-133290" t="0" r="-133290" b="0"/>
            </a:stretch>
          </a:blipFill>
        </p:spPr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07D04698-79D2-4632-8E3E-FB2BCFE7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01438" y="4107656"/>
            <a:ext cx="500062" cy="764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</a:pPr>
            <a:r>
              <a:rPr sz="31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→</a:t>
            </a:r>
          </a:p>
        </p:txBody>
      </p:sp>
      <p:sp>
        <p:nvSpPr>
          <p:cNvPr id="80" name="Freeform 80">
            <a:extLst xmlns:a="http://schemas.openxmlformats.org/drawingml/2006/main">
              <a:ext uri="{FF2B5EF4-FFF2-40B4-BE49-F238E27FC236}">
                <a16:creationId xmlns:a16="http://schemas.microsoft.com/office/drawing/2014/main" id="{A2AEA6D8-3466-4CF6-9769-3F5AEA68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92928" y="3420428"/>
            <a:ext cx="2374583" cy="2446020"/>
          </a:xfrm>
          <a:custGeom xmlns:a="http://schemas.openxmlformats.org/drawingml/2006/main">
            <a:rect l="l" t="t" r="r" b="b"/>
            <a:pathLst>
              <a:path w="3166110" h="326136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2935859" y="0"/>
                </a:lnTo>
                <a:cubicBezTo>
                  <a:pt x="3062986" y="0"/>
                  <a:pt x="3166110" y="103124"/>
                  <a:pt x="3166110" y="230251"/>
                </a:cubicBezTo>
                <a:lnTo>
                  <a:pt x="3166110" y="3031109"/>
                </a:lnTo>
                <a:cubicBezTo>
                  <a:pt x="3166110" y="3158236"/>
                  <a:pt x="3062986" y="3261360"/>
                  <a:pt x="2935859" y="3261360"/>
                </a:cubicBezTo>
                <a:lnTo>
                  <a:pt x="230251" y="3261360"/>
                </a:lnTo>
                <a:cubicBezTo>
                  <a:pt x="103124" y="3261360"/>
                  <a:pt x="0" y="3158236"/>
                  <a:pt x="0" y="3031109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7145">
            <a:solidFill>
              <a:srgbClr val="2E63B7"/>
            </a:solidFill>
            <a:prstDash val="solid"/>
          </a:ln>
        </p:spPr>
      </p:sp>
      <p:sp>
        <p:nvSpPr>
          <p:cNvPr id="82" name="Freeform 82">
            <a:extLst xmlns:a="http://schemas.openxmlformats.org/drawingml/2006/main">
              <a:ext uri="{FF2B5EF4-FFF2-40B4-BE49-F238E27FC236}">
                <a16:creationId xmlns:a16="http://schemas.microsoft.com/office/drawing/2014/main" id="{B56C0177-07B2-4F3E-8C1B-BFB057DE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8675" y="3686175"/>
            <a:ext cx="714375" cy="400050"/>
          </a:xfrm>
          <a:custGeom xmlns:a="http://schemas.openxmlformats.org/drawingml/2006/main">
            <a:rect l="l" t="t" r="r" b="b"/>
            <a:pathLst>
              <a:path w="952500" h="533400">
                <a:moveTo>
                  <a:pt x="0" y="0"/>
                </a:moveTo>
                <a:lnTo>
                  <a:pt x="952500" y="0"/>
                </a:lnTo>
                <a:lnTo>
                  <a:pt x="952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-21849" t="0" r="-21849" b="0"/>
            </a:stretch>
          </a:blipFill>
        </p:spPr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4E8B482F-304A-4B26-AD97-9C712896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8675" y="3657600"/>
            <a:ext cx="714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05</a:t>
            </a:r>
          </a:p>
        </p:txBody>
      </p:sp>
      <p:sp>
        <p:nvSpPr>
          <p:cNvPr id="85" name="Freeform 85">
            <a:extLst xmlns:a="http://schemas.openxmlformats.org/drawingml/2006/main">
              <a:ext uri="{FF2B5EF4-FFF2-40B4-BE49-F238E27FC236}">
                <a16:creationId xmlns:a16="http://schemas.microsoft.com/office/drawing/2014/main" id="{DA09F453-DE17-42E8-A78F-D4B2F4AA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8675" y="4214812"/>
            <a:ext cx="1857375" cy="600075"/>
          </a:xfrm>
          <a:custGeom xmlns:a="http://schemas.openxmlformats.org/drawingml/2006/main">
            <a:rect l="l" t="t" r="r" b="b"/>
            <a:pathLst>
              <a:path w="2476500" h="800100">
                <a:moveTo>
                  <a:pt x="0" y="0"/>
                </a:moveTo>
                <a:lnTo>
                  <a:pt x="2476500" y="0"/>
                </a:lnTo>
                <a:lnTo>
                  <a:pt x="2476500" y="800100"/>
                </a:lnTo>
                <a:lnTo>
                  <a:pt x="0" y="800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0" t="-10310" r="0" b="-10310"/>
            </a:stretch>
          </a:blipFill>
        </p:spPr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251EDB20-E89E-4155-A6C5-79CDADA3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8675" y="4186237"/>
            <a:ext cx="18573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1800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청크</a:t>
            </a:r>
          </a:p>
        </p:txBody>
      </p:sp>
      <p:sp>
        <p:nvSpPr>
          <p:cNvPr id="88" name="Freeform 88">
            <a:extLst xmlns:a="http://schemas.openxmlformats.org/drawingml/2006/main">
              <a:ext uri="{FF2B5EF4-FFF2-40B4-BE49-F238E27FC236}">
                <a16:creationId xmlns:a16="http://schemas.microsoft.com/office/drawing/2014/main" id="{7A9B83F8-3DE8-4922-909A-74137821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8675" y="5029200"/>
            <a:ext cx="1857375" cy="400050"/>
          </a:xfrm>
          <a:custGeom xmlns:a="http://schemas.openxmlformats.org/drawingml/2006/main">
            <a:rect l="l" t="t" r="r" b="b"/>
            <a:pathLst>
              <a:path w="2476500" h="533400">
                <a:moveTo>
                  <a:pt x="0" y="0"/>
                </a:moveTo>
                <a:lnTo>
                  <a:pt x="2476500" y="0"/>
                </a:lnTo>
                <a:lnTo>
                  <a:pt x="2476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0" t="-40466" r="0" b="-40466"/>
            </a:stretch>
          </a:blipFill>
        </p:spPr>
      </p:sp>
      <p:sp>
        <p:nvSpPr>
          <p:cNvPr id="89" name="TextBox 89">
            <a:extLst xmlns:a="http://schemas.openxmlformats.org/drawingml/2006/main">
              <a:ext uri="{FF2B5EF4-FFF2-40B4-BE49-F238E27FC236}">
                <a16:creationId xmlns:a16="http://schemas.microsoft.com/office/drawing/2014/main" id="{BB795C5B-0989-4A56-92A7-1E1BD0E1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58675" y="5014913"/>
            <a:ext cx="1857375" cy="414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gold_chunk_ids</a:t>
            </a:r>
          </a:p>
        </p:txBody>
      </p:sp>
      <p:sp>
        <p:nvSpPr>
          <p:cNvPr id="91" name="Freeform 91">
            <a:extLst xmlns:a="http://schemas.openxmlformats.org/drawingml/2006/main">
              <a:ext uri="{FF2B5EF4-FFF2-40B4-BE49-F238E27FC236}">
                <a16:creationId xmlns:a16="http://schemas.microsoft.com/office/drawing/2014/main" id="{E4266959-D36B-4605-ADA6-0DDA3BCD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58938" y="4157662"/>
            <a:ext cx="500062" cy="714375"/>
          </a:xfrm>
          <a:custGeom xmlns:a="http://schemas.openxmlformats.org/drawingml/2006/main">
            <a:rect l="l" t="t" r="r" b="b"/>
            <a:pathLst>
              <a:path w="666750" h="952500">
                <a:moveTo>
                  <a:pt x="0" y="0"/>
                </a:moveTo>
                <a:lnTo>
                  <a:pt x="666750" y="0"/>
                </a:lnTo>
                <a:lnTo>
                  <a:pt x="666750" y="952500"/>
                </a:lnTo>
                <a:lnTo>
                  <a:pt x="0" y="952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-133290" t="0" r="-133290" b="0"/>
            </a:stretch>
          </a:blipFill>
        </p:spPr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76826F19-9047-49AB-B779-59111D6D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58938" y="4107656"/>
            <a:ext cx="500062" cy="764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779"/>
              </a:lnSpc>
              <a:buNone/>
            </a:pPr>
            <a:r>
              <a:rPr sz="31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→</a:t>
            </a:r>
          </a:p>
        </p:txBody>
      </p:sp>
      <p:sp>
        <p:nvSpPr>
          <p:cNvPr id="94" name="Freeform 94">
            <a:extLst xmlns:a="http://schemas.openxmlformats.org/drawingml/2006/main">
              <a:ext uri="{FF2B5EF4-FFF2-40B4-BE49-F238E27FC236}">
                <a16:creationId xmlns:a16="http://schemas.microsoft.com/office/drawing/2014/main" id="{66318EDB-754E-4F56-9E2A-F5468CF7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850427" y="3420428"/>
            <a:ext cx="2374583" cy="2446020"/>
          </a:xfrm>
          <a:custGeom xmlns:a="http://schemas.openxmlformats.org/drawingml/2006/main">
            <a:rect l="l" t="t" r="r" b="b"/>
            <a:pathLst>
              <a:path w="3166110" h="326136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2935859" y="0"/>
                </a:lnTo>
                <a:cubicBezTo>
                  <a:pt x="3062986" y="0"/>
                  <a:pt x="3166110" y="103124"/>
                  <a:pt x="3166110" y="230251"/>
                </a:cubicBezTo>
                <a:lnTo>
                  <a:pt x="3166110" y="3031109"/>
                </a:lnTo>
                <a:cubicBezTo>
                  <a:pt x="3166110" y="3158236"/>
                  <a:pt x="3062986" y="3261360"/>
                  <a:pt x="2935859" y="3261360"/>
                </a:cubicBezTo>
                <a:lnTo>
                  <a:pt x="230251" y="3261360"/>
                </a:lnTo>
                <a:cubicBezTo>
                  <a:pt x="103124" y="3261360"/>
                  <a:pt x="0" y="3158236"/>
                  <a:pt x="0" y="3031109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7145">
            <a:solidFill>
              <a:srgbClr val="2E63B7"/>
            </a:solidFill>
            <a:prstDash val="solid"/>
          </a:ln>
        </p:spPr>
      </p:sp>
      <p:sp>
        <p:nvSpPr>
          <p:cNvPr id="96" name="Freeform 96">
            <a:extLst xmlns:a="http://schemas.openxmlformats.org/drawingml/2006/main">
              <a:ext uri="{FF2B5EF4-FFF2-40B4-BE49-F238E27FC236}">
                <a16:creationId xmlns:a16="http://schemas.microsoft.com/office/drawing/2014/main" id="{BC7A3BE8-625A-48CF-B07C-A74E163A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6175" y="3686175"/>
            <a:ext cx="714375" cy="400050"/>
          </a:xfrm>
          <a:custGeom xmlns:a="http://schemas.openxmlformats.org/drawingml/2006/main">
            <a:rect l="l" t="t" r="r" b="b"/>
            <a:pathLst>
              <a:path w="952500" h="533400">
                <a:moveTo>
                  <a:pt x="0" y="0"/>
                </a:moveTo>
                <a:lnTo>
                  <a:pt x="952500" y="0"/>
                </a:lnTo>
                <a:lnTo>
                  <a:pt x="952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-21849" t="0" r="-21849" b="0"/>
            </a:stretch>
          </a:blipFill>
        </p:spPr>
      </p:sp>
      <p:sp>
        <p:nvSpPr>
          <p:cNvPr id="97" name="TextBox 97">
            <a:extLst xmlns:a="http://schemas.openxmlformats.org/drawingml/2006/main">
              <a:ext uri="{FF2B5EF4-FFF2-40B4-BE49-F238E27FC236}">
                <a16:creationId xmlns:a16="http://schemas.microsoft.com/office/drawing/2014/main" id="{97A30583-543B-460D-93A9-7CB7E3BC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6175" y="3657600"/>
            <a:ext cx="7143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168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06</a:t>
            </a:r>
          </a:p>
        </p:txBody>
      </p:sp>
      <p:sp>
        <p:nvSpPr>
          <p:cNvPr id="99" name="Freeform 99">
            <a:extLst xmlns:a="http://schemas.openxmlformats.org/drawingml/2006/main">
              <a:ext uri="{FF2B5EF4-FFF2-40B4-BE49-F238E27FC236}">
                <a16:creationId xmlns:a16="http://schemas.microsoft.com/office/drawing/2014/main" id="{EDBE48AA-D13A-48C0-9E07-DF2A3DD1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6175" y="4214812"/>
            <a:ext cx="1857375" cy="600075"/>
          </a:xfrm>
          <a:custGeom xmlns:a="http://schemas.openxmlformats.org/drawingml/2006/main">
            <a:rect l="l" t="t" r="r" b="b"/>
            <a:pathLst>
              <a:path w="2476500" h="800100">
                <a:moveTo>
                  <a:pt x="0" y="0"/>
                </a:moveTo>
                <a:lnTo>
                  <a:pt x="2476500" y="0"/>
                </a:lnTo>
                <a:lnTo>
                  <a:pt x="2476500" y="800100"/>
                </a:lnTo>
                <a:lnTo>
                  <a:pt x="0" y="800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0" t="-10310" r="0" b="-10310"/>
            </a:stretch>
          </a:blipFill>
        </p:spPr>
      </p:sp>
      <p:sp>
        <p:nvSpPr>
          <p:cNvPr id="100" name="TextBox 100">
            <a:extLst xmlns:a="http://schemas.openxmlformats.org/drawingml/2006/main">
              <a:ext uri="{FF2B5EF4-FFF2-40B4-BE49-F238E27FC236}">
                <a16:creationId xmlns:a16="http://schemas.microsoft.com/office/drawing/2014/main" id="{FF8C57DD-67E8-4742-9F58-182A0DA5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6175" y="4186237"/>
            <a:ext cx="1857375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430"/>
              </a:lnSpc>
              <a:buNone/>
            </a:pPr>
            <a:r>
              <a:rPr sz="1800" b="1">
                <a:solidFill>
                  <a:srgbClr val="202020"/>
                </a:solidFill>
                <a:latin typeface="Calibri (MS) Bold"/>
                <a:ea typeface="Calibri (MS) Bold"/>
                <a:cs typeface="Calibri (MS) Bold"/>
              </a:rPr>
              <a:t>응답 기준</a:t>
            </a:r>
          </a:p>
        </p:txBody>
      </p:sp>
      <p:sp>
        <p:nvSpPr>
          <p:cNvPr id="102" name="Freeform 102">
            <a:extLst xmlns:a="http://schemas.openxmlformats.org/drawingml/2006/main">
              <a:ext uri="{FF2B5EF4-FFF2-40B4-BE49-F238E27FC236}">
                <a16:creationId xmlns:a16="http://schemas.microsoft.com/office/drawing/2014/main" id="{DC099322-3929-40B0-BE7F-57AE54AF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6175" y="5029200"/>
            <a:ext cx="1857375" cy="400050"/>
          </a:xfrm>
          <a:custGeom xmlns:a="http://schemas.openxmlformats.org/drawingml/2006/main">
            <a:rect l="l" t="t" r="r" b="b"/>
            <a:pathLst>
              <a:path w="2476500" h="533400">
                <a:moveTo>
                  <a:pt x="0" y="0"/>
                </a:moveTo>
                <a:lnTo>
                  <a:pt x="2476500" y="0"/>
                </a:lnTo>
                <a:lnTo>
                  <a:pt x="2476500" y="533400"/>
                </a:lnTo>
                <a:lnTo>
                  <a:pt x="0" y="533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0" t="-40466" r="0" b="-40466"/>
            </a:stretch>
          </a:blipFill>
        </p:spPr>
      </p:sp>
      <p:sp>
        <p:nvSpPr>
          <p:cNvPr id="103" name="TextBox 103">
            <a:extLst xmlns:a="http://schemas.openxmlformats.org/drawingml/2006/main">
              <a:ext uri="{FF2B5EF4-FFF2-40B4-BE49-F238E27FC236}">
                <a16:creationId xmlns:a16="http://schemas.microsoft.com/office/drawing/2014/main" id="{C1360FDE-970F-4498-A0F1-37097CC7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116175" y="5014913"/>
            <a:ext cx="1857375" cy="414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889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answerable·policy
필수응답요소</a:t>
            </a:r>
          </a:p>
        </p:txBody>
      </p:sp>
      <p:sp>
        <p:nvSpPr>
          <p:cNvPr id="105" name="Freeform 105">
            <a:extLst xmlns:a="http://schemas.openxmlformats.org/drawingml/2006/main">
              <a:ext uri="{FF2B5EF4-FFF2-40B4-BE49-F238E27FC236}">
                <a16:creationId xmlns:a16="http://schemas.microsoft.com/office/drawing/2014/main" id="{82FD1B01-3A80-4832-BC8B-C19A81E9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6636544"/>
            <a:ext cx="16587788" cy="2300288"/>
          </a:xfrm>
          <a:custGeom xmlns:a="http://schemas.openxmlformats.org/drawingml/2006/main">
            <a:rect l="l" t="t" r="r" b="b"/>
            <a:pathLst>
              <a:path w="22117050" h="3067050">
                <a:moveTo>
                  <a:pt x="0" y="229997"/>
                </a:moveTo>
                <a:cubicBezTo>
                  <a:pt x="0" y="102997"/>
                  <a:pt x="102997" y="0"/>
                  <a:pt x="229997" y="0"/>
                </a:cubicBezTo>
                <a:lnTo>
                  <a:pt x="21887053" y="0"/>
                </a:lnTo>
                <a:cubicBezTo>
                  <a:pt x="22014053" y="0"/>
                  <a:pt x="22117050" y="102997"/>
                  <a:pt x="22117050" y="229997"/>
                </a:cubicBezTo>
                <a:lnTo>
                  <a:pt x="22117050" y="2837053"/>
                </a:lnTo>
                <a:cubicBezTo>
                  <a:pt x="22117050" y="2964053"/>
                  <a:pt x="22014053" y="3067050"/>
                  <a:pt x="21887053" y="3067050"/>
                </a:cubicBezTo>
                <a:lnTo>
                  <a:pt x="229997" y="3067050"/>
                </a:lnTo>
                <a:cubicBezTo>
                  <a:pt x="102997" y="3067050"/>
                  <a:pt x="0" y="2964053"/>
                  <a:pt x="0" y="2837053"/>
                </a:cubicBezTo>
                <a:close/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107" name="Freeform 107">
            <a:extLst xmlns:a="http://schemas.openxmlformats.org/drawingml/2006/main">
              <a:ext uri="{FF2B5EF4-FFF2-40B4-BE49-F238E27FC236}">
                <a16:creationId xmlns:a16="http://schemas.microsoft.com/office/drawing/2014/main" id="{AED65E8F-C228-4938-A543-1583F5CC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6843712"/>
            <a:ext cx="15944850" cy="428625"/>
          </a:xfrm>
          <a:custGeom xmlns:a="http://schemas.openxmlformats.org/drawingml/2006/main">
            <a:rect l="l" t="t" r="r" b="b"/>
            <a:pathLst>
              <a:path w="21259800" h="571500">
                <a:moveTo>
                  <a:pt x="0" y="0"/>
                </a:moveTo>
                <a:lnTo>
                  <a:pt x="21259800" y="0"/>
                </a:lnTo>
                <a:lnTo>
                  <a:pt x="212598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5730866085245ad">
              <a:alphaModFix amt="0"/>
            </a:blip>
            <a:stretch>
              <a:fillRect l="0" t="-674843" r="0" b="-674843"/>
            </a:stretch>
          </a:blipFill>
        </p:spPr>
      </p:sp>
      <p:sp>
        <p:nvSpPr>
          <p:cNvPr id="108" name="TextBox 108">
            <a:extLst xmlns:a="http://schemas.openxmlformats.org/drawingml/2006/main">
              <a:ext uri="{FF2B5EF4-FFF2-40B4-BE49-F238E27FC236}">
                <a16:creationId xmlns:a16="http://schemas.microsoft.com/office/drawing/2014/main" id="{B78E2AAC-B27B-4D9E-A396-CF183D3D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6815137"/>
            <a:ext cx="15944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180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설계 결정 및 근거</a:t>
            </a:r>
          </a:p>
        </p:txBody>
      </p:sp>
      <p:sp>
        <p:nvSpPr>
          <p:cNvPr id="109" name="TextBox 109">
            <a:extLst xmlns:a="http://schemas.openxmlformats.org/drawingml/2006/main">
              <a:ext uri="{FF2B5EF4-FFF2-40B4-BE49-F238E27FC236}">
                <a16:creationId xmlns:a16="http://schemas.microsoft.com/office/drawing/2014/main" id="{4465A1D1-6A68-4573-9C9C-C7C103F7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7422832"/>
            <a:ext cx="15761970" cy="1203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18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예시  |  deposit_protection → 보호한도 → DP-001 → 보호한도 → DP-001_chunk_000 → 금액·출처 필수</a:t>
            </a:r>
          </a:p>
        </p:txBody>
      </p:sp>
    </p:spTree>
    <p:extLst>
      <p:ext uri="{BB962C8B-B14F-4D97-AF65-F5344CB8AC3E}">
        <p14:creationId xmlns:p14="http://schemas.microsoft.com/office/powerpoint/2010/main" val="308858068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3D70C6">
                <a:alpha val="100000"/>
              </a:srgbClr>
            </a:gs>
            <a:gs pos="100000">
              <a:srgbClr val="17448F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66C5AC9-9934-4FCE-A789-A7868781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906" y="335756"/>
            <a:ext cx="17502188" cy="9615488"/>
          </a:xfrm>
          <a:custGeom xmlns:a="http://schemas.openxmlformats.org/drawingml/2006/main">
            <a:rect l="l" t="t" r="r" b="b"/>
            <a:pathLst>
              <a:path w="23336250" h="12820650">
                <a:moveTo>
                  <a:pt x="0" y="305308"/>
                </a:moveTo>
                <a:cubicBezTo>
                  <a:pt x="0" y="136652"/>
                  <a:pt x="136652" y="0"/>
                  <a:pt x="305308" y="0"/>
                </a:cubicBezTo>
                <a:lnTo>
                  <a:pt x="23030942" y="0"/>
                </a:lnTo>
                <a:cubicBezTo>
                  <a:pt x="23199471" y="0"/>
                  <a:pt x="23336250" y="136652"/>
                  <a:pt x="23336250" y="305308"/>
                </a:cubicBezTo>
                <a:lnTo>
                  <a:pt x="23336250" y="12515342"/>
                </a:lnTo>
                <a:cubicBezTo>
                  <a:pt x="23336250" y="12683872"/>
                  <a:pt x="23199598" y="12820650"/>
                  <a:pt x="23030942" y="12820650"/>
                </a:cubicBezTo>
                <a:lnTo>
                  <a:pt x="305308" y="12820650"/>
                </a:lnTo>
                <a:cubicBezTo>
                  <a:pt x="136652" y="12820650"/>
                  <a:pt x="0" y="12683998"/>
                  <a:pt x="0" y="125153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EAF1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913EFB6-2B95-48FD-9495-68DDC3B4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42925"/>
            <a:ext cx="16002000" cy="257175"/>
          </a:xfrm>
          <a:custGeom xmlns:a="http://schemas.openxmlformats.org/drawingml/2006/main">
            <a:rect l="l" t="t" r="r" b="b"/>
            <a:pathLst>
              <a:path w="21336000" h="342900">
                <a:moveTo>
                  <a:pt x="0" y="0"/>
                </a:moveTo>
                <a:lnTo>
                  <a:pt x="21336000" y="0"/>
                </a:lnTo>
                <a:lnTo>
                  <a:pt x="21336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dfd25b5fb84722">
              <a:alphaModFix amt="0"/>
            </a:blip>
            <a:stretch>
              <a:fillRect l="0" t="-1162402" r="0" b="-1162402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CD7B86F-ACBF-43CA-92C6-BB0C2249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28638"/>
            <a:ext cx="16002000" cy="2714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123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04 프로젝트 수행 결과 | 평가 데이터셋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88B3CC21-68CD-461B-B9C5-C6615EDC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842962"/>
            <a:ext cx="16002000" cy="771525"/>
          </a:xfrm>
          <a:custGeom xmlns:a="http://schemas.openxmlformats.org/drawingml/2006/main">
            <a:rect l="l" t="t" r="r" b="b"/>
            <a:pathLst>
              <a:path w="21336000" h="1028700">
                <a:moveTo>
                  <a:pt x="0" y="0"/>
                </a:moveTo>
                <a:lnTo>
                  <a:pt x="21336000" y="0"/>
                </a:lnTo>
                <a:lnTo>
                  <a:pt x="21336000" y="1028700"/>
                </a:lnTo>
                <a:lnTo>
                  <a:pt x="0" y="102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dfd25b5fb84722">
              <a:alphaModFix amt="0"/>
            </a:blip>
            <a:stretch>
              <a:fillRect l="0" t="-354134" r="0" b="-354134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B4C3A1FE-0BFC-4915-A3C3-E1513F49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85812"/>
            <a:ext cx="16002000" cy="82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455"/>
              </a:lnSpc>
              <a:buNone/>
            </a:pPr>
            <a:r>
              <a:rPr sz="3712">
                <a:solidFill>
                  <a:srgbClr val="202020"/>
                </a:solidFill>
                <a:latin typeface="Calibri (MS)"/>
                <a:ea typeface="Calibri (MS)"/>
                <a:cs typeface="Calibri (MS)"/>
              </a:rPr>
              <a:t>평가셋은 203행·143개 질문 ID까지 구축했습니다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C9E8419-C036-4058-9C3F-5721878E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85912"/>
            <a:ext cx="14859000" cy="314325"/>
          </a:xfrm>
          <a:custGeom xmlns:a="http://schemas.openxmlformats.org/drawingml/2006/main">
            <a:rect l="l" t="t" r="r" b="b"/>
            <a:pathLst>
              <a:path w="19812000" h="419100">
                <a:moveTo>
                  <a:pt x="0" y="0"/>
                </a:moveTo>
                <a:lnTo>
                  <a:pt x="19812000" y="0"/>
                </a:lnTo>
                <a:lnTo>
                  <a:pt x="19812000" y="419100"/>
                </a:lnTo>
                <a:lnTo>
                  <a:pt x="0" y="419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dfd25b5fb84722">
              <a:alphaModFix amt="0"/>
            </a:blip>
            <a:stretch>
              <a:fillRect l="0" t="-871110" r="0" b="-87111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A4FB2946-CDD9-4C3A-9A35-96B33B93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71625"/>
            <a:ext cx="14859000" cy="3286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현재는 평가 기준을 완성한 단계이며, 다음 실험에서 검색·답변 성능을 측정합니다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31BF37F-CEDA-4BB3-B527-AAB4D8CE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114550"/>
            <a:ext cx="16002000" cy="14288"/>
          </a:xfrm>
          <a:custGeom xmlns:a="http://schemas.openxmlformats.org/drawingml/2006/main">
            <a:rect l="l" t="t" r="r" b="b"/>
            <a:pathLst>
              <a:path w="21336000" h="19050">
                <a:moveTo>
                  <a:pt x="0" y="0"/>
                </a:moveTo>
                <a:lnTo>
                  <a:pt x="21336000" y="0"/>
                </a:lnTo>
                <a:lnTo>
                  <a:pt x="21336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D0E7209F-EE47-46BD-A705-16B86E7A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9572625"/>
            <a:ext cx="16630650" cy="14288"/>
          </a:xfrm>
          <a:custGeom xmlns:a="http://schemas.openxmlformats.org/drawingml/2006/main">
            <a:rect l="l" t="t" r="r" b="b"/>
            <a:pathLst>
              <a:path w="22174200" h="19050">
                <a:moveTo>
                  <a:pt x="0" y="0"/>
                </a:moveTo>
                <a:lnTo>
                  <a:pt x="22174200" y="0"/>
                </a:lnTo>
                <a:lnTo>
                  <a:pt x="221742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7956901D-50B8-41D8-B364-3C76146C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44062"/>
            <a:ext cx="8286750" cy="257175"/>
          </a:xfrm>
          <a:custGeom xmlns:a="http://schemas.openxmlformats.org/drawingml/2006/main">
            <a:rect l="l" t="t" r="r" b="b"/>
            <a:pathLst>
              <a:path w="11049000" h="342900">
                <a:moveTo>
                  <a:pt x="0" y="0"/>
                </a:moveTo>
                <a:lnTo>
                  <a:pt x="11049000" y="0"/>
                </a:lnTo>
                <a:lnTo>
                  <a:pt x="11049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dfd25b5fb84722">
              <a:alphaModFix amt="0"/>
            </a:blip>
            <a:stretch>
              <a:fillRect l="0" t="-577851" r="0" b="-577851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56DD484B-667C-4529-BB6F-AC309961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22631"/>
            <a:ext cx="8286750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1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KDIC AI 챗봇 | 와쿠와쿠 6조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7C3D8433-F2E3-4682-97CF-CEAD74FB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44062"/>
            <a:ext cx="1000125" cy="257175"/>
          </a:xfrm>
          <a:custGeom xmlns:a="http://schemas.openxmlformats.org/drawingml/2006/main">
            <a:rect l="l" t="t" r="r" b="b"/>
            <a:pathLst>
              <a:path w="1333500" h="342900">
                <a:moveTo>
                  <a:pt x="0" y="0"/>
                </a:moveTo>
                <a:lnTo>
                  <a:pt x="1333500" y="0"/>
                </a:lnTo>
                <a:lnTo>
                  <a:pt x="13335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dfd25b5fb84722">
              <a:alphaModFix amt="0"/>
            </a:blip>
            <a:stretch>
              <a:fillRect l="0" t="-25775" r="0" b="-25775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9DDEE03C-BCD9-4462-9E86-B2975DE8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22631"/>
            <a:ext cx="1000125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350"/>
              </a:lnSpc>
              <a:buNone/>
            </a:pPr>
            <a:r>
              <a:rPr sz="11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13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33601F58-6CE3-4A9B-9657-D3ABD935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2778919"/>
            <a:ext cx="5157788" cy="2371725"/>
          </a:xfrm>
          <a:custGeom xmlns:a="http://schemas.openxmlformats.org/drawingml/2006/main">
            <a:rect l="l" t="t" r="r" b="b"/>
            <a:pathLst>
              <a:path w="6877050" h="3162300">
                <a:moveTo>
                  <a:pt x="0" y="229997"/>
                </a:moveTo>
                <a:cubicBezTo>
                  <a:pt x="0" y="102997"/>
                  <a:pt x="102997" y="0"/>
                  <a:pt x="229997" y="0"/>
                </a:cubicBezTo>
                <a:lnTo>
                  <a:pt x="6647053" y="0"/>
                </a:lnTo>
                <a:cubicBezTo>
                  <a:pt x="6774053" y="0"/>
                  <a:pt x="6877050" y="102997"/>
                  <a:pt x="6877050" y="229997"/>
                </a:cubicBezTo>
                <a:lnTo>
                  <a:pt x="6877050" y="2932303"/>
                </a:lnTo>
                <a:cubicBezTo>
                  <a:pt x="6877050" y="3059303"/>
                  <a:pt x="6774053" y="3162300"/>
                  <a:pt x="6647053" y="3162300"/>
                </a:cubicBezTo>
                <a:lnTo>
                  <a:pt x="229997" y="3162300"/>
                </a:lnTo>
                <a:cubicBezTo>
                  <a:pt x="102997" y="3162300"/>
                  <a:pt x="0" y="3059303"/>
                  <a:pt x="0" y="2932303"/>
                </a:cubicBezTo>
                <a:close/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741FF071-D370-4329-8A9F-37CE3ED2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2986088"/>
            <a:ext cx="4514850" cy="428625"/>
          </a:xfrm>
          <a:custGeom xmlns:a="http://schemas.openxmlformats.org/drawingml/2006/main">
            <a:rect l="l" t="t" r="r" b="b"/>
            <a:pathLst>
              <a:path w="6019800" h="571500">
                <a:moveTo>
                  <a:pt x="0" y="0"/>
                </a:moveTo>
                <a:lnTo>
                  <a:pt x="6019800" y="0"/>
                </a:lnTo>
                <a:lnTo>
                  <a:pt x="60198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dfd25b5fb84722">
              <a:alphaModFix amt="0"/>
            </a:blip>
            <a:stretch>
              <a:fillRect l="0" t="-155242" r="0" b="-155242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314B2C2B-E128-4009-A64C-C6F76C77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2957513"/>
            <a:ext cx="4514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① 규모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A7EC6E52-24D8-4955-A199-28F6846C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3565208"/>
            <a:ext cx="4331970" cy="12753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203행 · 38필드
143개 질문 ID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27664330-F015-47E7-BC7D-93E648E2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65044" y="2778919"/>
            <a:ext cx="5300662" cy="4300538"/>
          </a:xfrm>
          <a:custGeom xmlns:a="http://schemas.openxmlformats.org/drawingml/2006/main">
            <a:rect l="l" t="t" r="r" b="b"/>
            <a:pathLst>
              <a:path w="7067550" h="5734050">
                <a:moveTo>
                  <a:pt x="0" y="229362"/>
                </a:moveTo>
                <a:cubicBezTo>
                  <a:pt x="0" y="102743"/>
                  <a:pt x="102743" y="0"/>
                  <a:pt x="229362" y="0"/>
                </a:cubicBezTo>
                <a:lnTo>
                  <a:pt x="6838188" y="0"/>
                </a:lnTo>
                <a:cubicBezTo>
                  <a:pt x="6964807" y="0"/>
                  <a:pt x="7067550" y="102743"/>
                  <a:pt x="7067550" y="229362"/>
                </a:cubicBezTo>
                <a:lnTo>
                  <a:pt x="7067550" y="5504688"/>
                </a:lnTo>
                <a:cubicBezTo>
                  <a:pt x="7067550" y="5631307"/>
                  <a:pt x="6964807" y="5734050"/>
                  <a:pt x="6838188" y="5734050"/>
                </a:cubicBezTo>
                <a:lnTo>
                  <a:pt x="229362" y="5734050"/>
                </a:lnTo>
                <a:cubicBezTo>
                  <a:pt x="102743" y="5734050"/>
                  <a:pt x="0" y="5631307"/>
                  <a:pt x="0" y="5504688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857C597D-07D9-41DA-BFA8-950CB8C7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6512" y="2986088"/>
            <a:ext cx="4657725" cy="428625"/>
          </a:xfrm>
          <a:custGeom xmlns:a="http://schemas.openxmlformats.org/drawingml/2006/main">
            <a:rect l="l" t="t" r="r" b="b"/>
            <a:pathLst>
              <a:path w="6210300" h="571500">
                <a:moveTo>
                  <a:pt x="0" y="0"/>
                </a:moveTo>
                <a:lnTo>
                  <a:pt x="6210300" y="0"/>
                </a:lnTo>
                <a:lnTo>
                  <a:pt x="62103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dfd25b5fb84722">
              <a:alphaModFix amt="0"/>
            </a:blip>
            <a:stretch>
              <a:fillRect l="0" t="-161737" r="0" b="-161737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D18D050D-B155-4372-BA1C-1CD41B3C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86512" y="2957513"/>
            <a:ext cx="46577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② 업무 범위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9EFD85A5-50EB-473F-91C6-44E8C6DB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953" y="3565208"/>
            <a:ext cx="4474845" cy="3204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6개 업무
범위외·모호 질문 포함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02050BAE-365B-40DA-80B4-4C696A1B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08606" y="2778919"/>
            <a:ext cx="5443538" cy="4300538"/>
          </a:xfrm>
          <a:custGeom xmlns:a="http://schemas.openxmlformats.org/drawingml/2006/main">
            <a:rect l="l" t="t" r="r" b="b"/>
            <a:pathLst>
              <a:path w="7258050" h="5734050">
                <a:moveTo>
                  <a:pt x="0" y="229362"/>
                </a:moveTo>
                <a:cubicBezTo>
                  <a:pt x="0" y="102743"/>
                  <a:pt x="102743" y="0"/>
                  <a:pt x="229362" y="0"/>
                </a:cubicBezTo>
                <a:lnTo>
                  <a:pt x="7028688" y="0"/>
                </a:lnTo>
                <a:cubicBezTo>
                  <a:pt x="7155307" y="0"/>
                  <a:pt x="7258050" y="102743"/>
                  <a:pt x="7258050" y="229362"/>
                </a:cubicBezTo>
                <a:lnTo>
                  <a:pt x="7258050" y="5504688"/>
                </a:lnTo>
                <a:cubicBezTo>
                  <a:pt x="7258050" y="5631307"/>
                  <a:pt x="7155307" y="5734050"/>
                  <a:pt x="7028688" y="5734050"/>
                </a:cubicBezTo>
                <a:lnTo>
                  <a:pt x="229362" y="5734050"/>
                </a:lnTo>
                <a:cubicBezTo>
                  <a:pt x="102743" y="5734050"/>
                  <a:pt x="0" y="5631307"/>
                  <a:pt x="0" y="5504688"/>
                </a:cubicBezTo>
                <a:close/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B48E5DDC-5E78-418F-A084-EF468F88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30075" y="2986088"/>
            <a:ext cx="4800600" cy="428625"/>
          </a:xfrm>
          <a:custGeom xmlns:a="http://schemas.openxmlformats.org/drawingml/2006/main">
            <a:rect l="l" t="t" r="r" b="b"/>
            <a:pathLst>
              <a:path w="6400800" h="571500">
                <a:moveTo>
                  <a:pt x="0" y="0"/>
                </a:moveTo>
                <a:lnTo>
                  <a:pt x="6400800" y="0"/>
                </a:lnTo>
                <a:lnTo>
                  <a:pt x="64008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dfd25b5fb84722">
              <a:alphaModFix amt="0"/>
            </a:blip>
            <a:stretch>
              <a:fillRect l="0" t="-168232" r="0" b="-168232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D695180B-CB34-4B2B-9550-BF130CDA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030075" y="2957513"/>
            <a:ext cx="4800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③ 의도 분포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4E373302-AA77-4209-A8E4-D9BE08BE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21515" y="3565208"/>
            <a:ext cx="4617720" cy="32042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INFORMATION 80
ACTION 43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1539458F-BE55-41AD-88C8-65EAC24B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7565231"/>
            <a:ext cx="8015288" cy="1657350"/>
          </a:xfrm>
          <a:custGeom xmlns:a="http://schemas.openxmlformats.org/drawingml/2006/main">
            <a:rect l="l" t="t" r="r" b="b"/>
            <a:pathLst>
              <a:path w="10687050" h="2209800">
                <a:moveTo>
                  <a:pt x="0" y="230632"/>
                </a:moveTo>
                <a:cubicBezTo>
                  <a:pt x="0" y="103251"/>
                  <a:pt x="103251" y="0"/>
                  <a:pt x="230632" y="0"/>
                </a:cubicBezTo>
                <a:lnTo>
                  <a:pt x="10456418" y="0"/>
                </a:lnTo>
                <a:cubicBezTo>
                  <a:pt x="10583800" y="0"/>
                  <a:pt x="10687050" y="103251"/>
                  <a:pt x="10687050" y="230632"/>
                </a:cubicBezTo>
                <a:lnTo>
                  <a:pt x="10687050" y="1979168"/>
                </a:lnTo>
                <a:cubicBezTo>
                  <a:pt x="10687050" y="2106549"/>
                  <a:pt x="10583800" y="2209800"/>
                  <a:pt x="10456418" y="2209800"/>
                </a:cubicBezTo>
                <a:lnTo>
                  <a:pt x="230632" y="2209800"/>
                </a:lnTo>
                <a:cubicBezTo>
                  <a:pt x="103251" y="2209800"/>
                  <a:pt x="0" y="2106549"/>
                  <a:pt x="0" y="1979168"/>
                </a:cubicBezTo>
                <a:close/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C58EFFCB-8563-4D82-BF6B-4D90107F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7772400"/>
            <a:ext cx="7372350" cy="428625"/>
          </a:xfrm>
          <a:custGeom xmlns:a="http://schemas.openxmlformats.org/drawingml/2006/main">
            <a:rect l="l" t="t" r="r" b="b"/>
            <a:pathLst>
              <a:path w="9829800" h="571500">
                <a:moveTo>
                  <a:pt x="0" y="0"/>
                </a:moveTo>
                <a:lnTo>
                  <a:pt x="9829800" y="0"/>
                </a:lnTo>
                <a:lnTo>
                  <a:pt x="98298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dfd25b5fb84722">
              <a:alphaModFix amt="0"/>
            </a:blip>
            <a:stretch>
              <a:fillRect l="0" t="-285142" r="0" b="-285142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FEA14D06-2996-4203-99F2-E76D8A7E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7743825"/>
            <a:ext cx="7372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④ 답변 가능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7B90AB24-32F0-4D3B-936F-072132E6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8351520"/>
            <a:ext cx="7189470" cy="5610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25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가능 112 · 조건부 18
불가 17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55E6B159-A168-433C-B9D9-8BA04621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22544" y="7565231"/>
            <a:ext cx="8229600" cy="1657350"/>
          </a:xfrm>
          <a:custGeom xmlns:a="http://schemas.openxmlformats.org/drawingml/2006/main">
            <a:rect l="l" t="t" r="r" b="b"/>
            <a:pathLst>
              <a:path w="10972800" h="2209800">
                <a:moveTo>
                  <a:pt x="0" y="230632"/>
                </a:moveTo>
                <a:cubicBezTo>
                  <a:pt x="0" y="103251"/>
                  <a:pt x="103251" y="0"/>
                  <a:pt x="230632" y="0"/>
                </a:cubicBezTo>
                <a:lnTo>
                  <a:pt x="10742168" y="0"/>
                </a:lnTo>
                <a:cubicBezTo>
                  <a:pt x="10869549" y="0"/>
                  <a:pt x="10972800" y="103251"/>
                  <a:pt x="10972800" y="230632"/>
                </a:cubicBezTo>
                <a:lnTo>
                  <a:pt x="10972800" y="1979168"/>
                </a:lnTo>
                <a:cubicBezTo>
                  <a:pt x="10972800" y="2106549"/>
                  <a:pt x="10869549" y="2209800"/>
                  <a:pt x="10742168" y="2209800"/>
                </a:cubicBezTo>
                <a:lnTo>
                  <a:pt x="230632" y="2209800"/>
                </a:lnTo>
                <a:cubicBezTo>
                  <a:pt x="103251" y="2209800"/>
                  <a:pt x="0" y="2106549"/>
                  <a:pt x="0" y="1979168"/>
                </a:cubicBezTo>
                <a:close/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05903686-F8B3-41B0-8D1F-510B5FB3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44012" y="7772400"/>
            <a:ext cx="7586662" cy="428625"/>
          </a:xfrm>
          <a:custGeom xmlns:a="http://schemas.openxmlformats.org/drawingml/2006/main">
            <a:rect l="l" t="t" r="r" b="b"/>
            <a:pathLst>
              <a:path w="10115550" h="571500">
                <a:moveTo>
                  <a:pt x="0" y="0"/>
                </a:moveTo>
                <a:lnTo>
                  <a:pt x="10115550" y="0"/>
                </a:lnTo>
                <a:lnTo>
                  <a:pt x="1011555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dfd25b5fb84722">
              <a:alphaModFix amt="0"/>
            </a:blip>
            <a:stretch>
              <a:fillRect l="0" t="-294885" r="0" b="-294885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8CC6684A-6B4A-4874-AC01-94FDF476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44012" y="7743825"/>
            <a:ext cx="7586662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⑤ Gold 상태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F2C388DC-4C0B-4695-862D-24CE5C28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5452" y="8351520"/>
            <a:ext cx="7403782" cy="5610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25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직접 매핑 62
후보 검토 21</a:t>
            </a:r>
          </a:p>
        </p:txBody>
      </p:sp>
    </p:spTree>
    <p:extLst>
      <p:ext uri="{BB962C8B-B14F-4D97-AF65-F5344CB8AC3E}">
        <p14:creationId xmlns:p14="http://schemas.microsoft.com/office/powerpoint/2010/main" val="1363317458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3D70C6">
                <a:alpha val="100000"/>
              </a:srgbClr>
            </a:gs>
            <a:gs pos="100000">
              <a:srgbClr val="17448F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FA3F7E8-71A8-4343-A645-3039FE17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906" y="335756"/>
            <a:ext cx="17502188" cy="9615488"/>
          </a:xfrm>
          <a:custGeom xmlns:a="http://schemas.openxmlformats.org/drawingml/2006/main">
            <a:rect l="l" t="t" r="r" b="b"/>
            <a:pathLst>
              <a:path w="23336250" h="12820650">
                <a:moveTo>
                  <a:pt x="0" y="305308"/>
                </a:moveTo>
                <a:cubicBezTo>
                  <a:pt x="0" y="136652"/>
                  <a:pt x="136652" y="0"/>
                  <a:pt x="305308" y="0"/>
                </a:cubicBezTo>
                <a:lnTo>
                  <a:pt x="23030942" y="0"/>
                </a:lnTo>
                <a:cubicBezTo>
                  <a:pt x="23199471" y="0"/>
                  <a:pt x="23336250" y="136652"/>
                  <a:pt x="23336250" y="305308"/>
                </a:cubicBezTo>
                <a:lnTo>
                  <a:pt x="23336250" y="12515342"/>
                </a:lnTo>
                <a:cubicBezTo>
                  <a:pt x="23336250" y="12683872"/>
                  <a:pt x="23199598" y="12820650"/>
                  <a:pt x="23030942" y="12820650"/>
                </a:cubicBezTo>
                <a:lnTo>
                  <a:pt x="305308" y="12820650"/>
                </a:lnTo>
                <a:cubicBezTo>
                  <a:pt x="136652" y="12820650"/>
                  <a:pt x="0" y="12683998"/>
                  <a:pt x="0" y="125153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EAF1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E8E3D20D-6EF2-43E8-95A3-D470A1BE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42925"/>
            <a:ext cx="16002000" cy="257175"/>
          </a:xfrm>
          <a:custGeom xmlns:a="http://schemas.openxmlformats.org/drawingml/2006/main">
            <a:rect l="l" t="t" r="r" b="b"/>
            <a:pathLst>
              <a:path w="21336000" h="342900">
                <a:moveTo>
                  <a:pt x="0" y="0"/>
                </a:moveTo>
                <a:lnTo>
                  <a:pt x="21336000" y="0"/>
                </a:lnTo>
                <a:lnTo>
                  <a:pt x="21336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6381bc1c871480d">
              <a:alphaModFix amt="0"/>
            </a:blip>
            <a:stretch>
              <a:fillRect l="0" t="-1162402" r="0" b="-1162402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0EB33FF-04AB-4F22-AB62-142C4E75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42925"/>
            <a:ext cx="160020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1237">
                <a:solidFill>
                  <a:srgbClr val="2E63B7"/>
                </a:solidFill>
                <a:latin typeface="JASO Sans"/>
                <a:ea typeface="JASO Sans"/>
                <a:cs typeface="JASO Sans"/>
              </a:rPr>
              <a:t>04 프로젝트 수행 결과 | 평가 데이터셋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0F75CC89-B4BC-40BD-93B4-B5D9ECCA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028700"/>
            <a:ext cx="16002000" cy="1012338"/>
          </a:xfrm>
          <a:custGeom xmlns:a="http://schemas.openxmlformats.org/drawingml/2006/main">
            <a:rect l="l" t="t" r="r" b="b"/>
            <a:pathLst>
              <a:path w="21336000" h="1349786">
                <a:moveTo>
                  <a:pt x="0" y="0"/>
                </a:moveTo>
                <a:lnTo>
                  <a:pt x="21336000" y="0"/>
                </a:lnTo>
                <a:lnTo>
                  <a:pt x="21336000" y="1349786"/>
                </a:lnTo>
                <a:lnTo>
                  <a:pt x="0" y="134978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6381bc1c871480d">
              <a:alphaModFix amt="0"/>
            </a:blip>
            <a:stretch>
              <a:fillRect l="0" t="-269893" r="0" b="-246105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AB2A45E6-DA65-408A-80D3-B0009AE7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028700"/>
            <a:ext cx="16002000" cy="1012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254"/>
              </a:lnSpc>
              <a:buNone/>
            </a:pPr>
            <a:r>
              <a:rPr sz="5212" b="1">
                <a:solidFill>
                  <a:srgbClr val="202020"/>
                </a:solidFill>
                <a:latin typeface="JASO Sans Bold"/>
                <a:ea typeface="JASO Sans Bold"/>
                <a:cs typeface="JASO Sans Bold"/>
              </a:rPr>
              <a:t>가장 오래 걸린 일은 Gold 청크 검수였습니다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73EDB0A0-B113-438E-99E6-FF824F3B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114550"/>
            <a:ext cx="16002000" cy="14288"/>
          </a:xfrm>
          <a:custGeom xmlns:a="http://schemas.openxmlformats.org/drawingml/2006/main">
            <a:rect l="l" t="t" r="r" b="b"/>
            <a:pathLst>
              <a:path w="21336000" h="19050">
                <a:moveTo>
                  <a:pt x="0" y="0"/>
                </a:moveTo>
                <a:lnTo>
                  <a:pt x="21336000" y="0"/>
                </a:lnTo>
                <a:lnTo>
                  <a:pt x="21336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CAF2D3A4-26CF-4933-9615-CA121303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9572625"/>
            <a:ext cx="16630650" cy="14288"/>
          </a:xfrm>
          <a:custGeom xmlns:a="http://schemas.openxmlformats.org/drawingml/2006/main">
            <a:rect l="l" t="t" r="r" b="b"/>
            <a:pathLst>
              <a:path w="22174200" h="19050">
                <a:moveTo>
                  <a:pt x="0" y="0"/>
                </a:moveTo>
                <a:lnTo>
                  <a:pt x="22174200" y="0"/>
                </a:lnTo>
                <a:lnTo>
                  <a:pt x="221742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F8E73E10-338A-42A4-A81C-9FE5B596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44062"/>
            <a:ext cx="1000125" cy="257175"/>
          </a:xfrm>
          <a:custGeom xmlns:a="http://schemas.openxmlformats.org/drawingml/2006/main">
            <a:rect l="l" t="t" r="r" b="b"/>
            <a:pathLst>
              <a:path w="1333500" h="342900">
                <a:moveTo>
                  <a:pt x="0" y="0"/>
                </a:moveTo>
                <a:lnTo>
                  <a:pt x="1333500" y="0"/>
                </a:lnTo>
                <a:lnTo>
                  <a:pt x="13335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6381bc1c871480d">
              <a:alphaModFix amt="0"/>
            </a:blip>
            <a:stretch>
              <a:fillRect l="0" t="-25775" r="0" b="-25775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4D00C9E9-22DE-4B96-A5D9-DC260DCA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44062"/>
            <a:ext cx="1000125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350"/>
              </a:lnSpc>
              <a:buNone/>
            </a:pPr>
            <a:r>
              <a:rPr sz="1125">
                <a:solidFill>
                  <a:srgbClr val="2E63B7"/>
                </a:solidFill>
                <a:latin typeface="JASO Sans"/>
                <a:ea typeface="JASO Sans"/>
                <a:cs typeface="JASO Sans"/>
              </a:rPr>
              <a:t>14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4932DFF8-B4FA-4DBD-9B7E-FA233F4C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4592" y="2921794"/>
            <a:ext cx="7520350" cy="4729162"/>
          </a:xfrm>
          <a:custGeom xmlns:a="http://schemas.openxmlformats.org/drawingml/2006/main">
            <a:rect l="l" t="t" r="r" b="b"/>
            <a:pathLst>
              <a:path w="10027134" h="6305550">
                <a:moveTo>
                  <a:pt x="0" y="229235"/>
                </a:moveTo>
                <a:cubicBezTo>
                  <a:pt x="0" y="102616"/>
                  <a:pt x="153883" y="0"/>
                  <a:pt x="343760" y="0"/>
                </a:cubicBezTo>
                <a:lnTo>
                  <a:pt x="9683374" y="0"/>
                </a:lnTo>
                <a:cubicBezTo>
                  <a:pt x="9873251" y="0"/>
                  <a:pt x="10027134" y="102616"/>
                  <a:pt x="10027134" y="229235"/>
                </a:cubicBezTo>
                <a:lnTo>
                  <a:pt x="10027134" y="6076315"/>
                </a:lnTo>
                <a:cubicBezTo>
                  <a:pt x="10027134" y="6202934"/>
                  <a:pt x="9873251" y="6305550"/>
                  <a:pt x="9683374" y="6305550"/>
                </a:cubicBezTo>
                <a:lnTo>
                  <a:pt x="343760" y="6305550"/>
                </a:lnTo>
                <a:cubicBezTo>
                  <a:pt x="153883" y="6305550"/>
                  <a:pt x="0" y="6202934"/>
                  <a:pt x="0" y="607631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D6D218B9-2D20-4DAB-9566-AF029CE4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3970" y="3128963"/>
            <a:ext cx="4213104" cy="660597"/>
          </a:xfrm>
          <a:custGeom xmlns:a="http://schemas.openxmlformats.org/drawingml/2006/main">
            <a:rect l="l" t="t" r="r" b="b"/>
            <a:pathLst>
              <a:path w="5617473" h="880796">
                <a:moveTo>
                  <a:pt x="0" y="0"/>
                </a:moveTo>
                <a:lnTo>
                  <a:pt x="5617473" y="0"/>
                </a:lnTo>
                <a:lnTo>
                  <a:pt x="5617473" y="880796"/>
                </a:lnTo>
                <a:lnTo>
                  <a:pt x="0" y="8807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6381bc1c871480d">
              <a:alphaModFix amt="0"/>
            </a:blip>
            <a:stretch>
              <a:fillRect l="0" t="-96513" r="-3770" b="-61398"/>
            </a:stretch>
          </a:blipFill>
        </p:spPr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DB310A48-F406-4CA4-A5D9-4F573E7C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43970" y="3128963"/>
            <a:ext cx="4213105" cy="6605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124"/>
              </a:lnSpc>
              <a:buNone/>
            </a:pPr>
            <a:r>
              <a:rPr sz="2250" b="1">
                <a:solidFill>
                  <a:srgbClr val="2E63B7"/>
                </a:solidFill>
                <a:latin typeface="JASO Sans Bold"/>
                <a:ea typeface="JASO Sans Bold"/>
                <a:cs typeface="JASO Sans Bold"/>
              </a:rPr>
              <a:t>기존 검수 방식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2705A773-FD34-4EEA-AE5C-91B52022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1024" y="3936206"/>
            <a:ext cx="6892478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sz="2100">
                <a:solidFill>
                  <a:srgbClr val="9299A3"/>
                </a:solidFill>
                <a:latin typeface="JASO Sans"/>
                <a:ea typeface="JASO Sans"/>
                <a:cs typeface="JASO Sans"/>
              </a:rPr>
              <a:t>JSONL 한 줄이 가로로 매우 김</a:t>
            </a:r>
          </a:p>
          <a:p xmlns:a="http://schemas.openxmlformats.org/drawingml/2006/main"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sz="2100">
                <a:solidFill>
                  <a:srgbClr val="9299A3"/>
                </a:solidFill>
                <a:latin typeface="JASO Sans"/>
                <a:ea typeface="JASO Sans"/>
                <a:cs typeface="JASO Sans"/>
              </a:rPr>
              <a:t>질문과 Gold 청크를 번갈아 찾아야 함</a:t>
            </a:r>
          </a:p>
          <a:p xmlns:a="http://schemas.openxmlformats.org/drawingml/2006/main"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sz="2100">
                <a:solidFill>
                  <a:srgbClr val="9299A3"/>
                </a:solidFill>
                <a:latin typeface="JASO Sans"/>
                <a:ea typeface="JASO Sans"/>
                <a:cs typeface="JASO Sans"/>
              </a:rPr>
              <a:t>다른 문서의 청크 비교가 어려움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9BD2652E-861F-40B5-88B1-5A853467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418339" y="2921794"/>
            <a:ext cx="7352805" cy="4729162"/>
          </a:xfrm>
          <a:custGeom xmlns:a="http://schemas.openxmlformats.org/drawingml/2006/main">
            <a:rect l="l" t="t" r="r" b="b"/>
            <a:pathLst>
              <a:path w="9803740" h="6305550">
                <a:moveTo>
                  <a:pt x="0" y="229235"/>
                </a:moveTo>
                <a:cubicBezTo>
                  <a:pt x="0" y="102616"/>
                  <a:pt x="150454" y="0"/>
                  <a:pt x="336102" y="0"/>
                </a:cubicBezTo>
                <a:lnTo>
                  <a:pt x="9467638" y="0"/>
                </a:lnTo>
                <a:cubicBezTo>
                  <a:pt x="9653285" y="0"/>
                  <a:pt x="9803740" y="102616"/>
                  <a:pt x="9803740" y="229235"/>
                </a:cubicBezTo>
                <a:lnTo>
                  <a:pt x="9803740" y="6076315"/>
                </a:lnTo>
                <a:cubicBezTo>
                  <a:pt x="9803740" y="6202934"/>
                  <a:pt x="9653285" y="6305550"/>
                  <a:pt x="9467638" y="6305550"/>
                </a:cubicBezTo>
                <a:lnTo>
                  <a:pt x="336102" y="6305550"/>
                </a:lnTo>
                <a:cubicBezTo>
                  <a:pt x="150454" y="6305550"/>
                  <a:pt x="0" y="6202934"/>
                  <a:pt x="0" y="6076315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279CEB19-4F55-41CF-8076-C20923F4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45697" y="3128963"/>
            <a:ext cx="6067269" cy="660597"/>
          </a:xfrm>
          <a:custGeom xmlns:a="http://schemas.openxmlformats.org/drawingml/2006/main">
            <a:rect l="l" t="t" r="r" b="b"/>
            <a:pathLst>
              <a:path w="8089692" h="880796">
                <a:moveTo>
                  <a:pt x="0" y="0"/>
                </a:moveTo>
                <a:lnTo>
                  <a:pt x="8089692" y="0"/>
                </a:lnTo>
                <a:lnTo>
                  <a:pt x="8089692" y="880796"/>
                </a:lnTo>
                <a:lnTo>
                  <a:pt x="0" y="880796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6381bc1c871480d">
              <a:alphaModFix amt="0"/>
            </a:blip>
            <a:stretch>
              <a:fillRect l="0" t="-96513" r="27941" b="-61398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FC9FD327-4F9B-4DA4-B702-F4AB0DE1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45697" y="3128963"/>
            <a:ext cx="6067269" cy="6605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4124"/>
              </a:lnSpc>
              <a:buNone/>
            </a:pPr>
            <a:r>
              <a:rPr sz="2250" b="1">
                <a:solidFill>
                  <a:srgbClr val="2E63B7"/>
                </a:solidFill>
                <a:latin typeface="JASO Sans Bold"/>
                <a:ea typeface="JASO Sans Bold"/>
                <a:cs typeface="JASO Sans Bold"/>
              </a:rPr>
              <a:t>필요했던 기능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B3E4546A-01B2-4FE2-A1B1-25C77F89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99463" y="3936206"/>
            <a:ext cx="6759737" cy="3067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sz="2100">
                <a:solidFill>
                  <a:srgbClr val="9299A3"/>
                </a:solidFill>
                <a:latin typeface="JASO Sans"/>
                <a:ea typeface="JASO Sans"/>
                <a:cs typeface="JASO Sans"/>
              </a:rPr>
              <a:t>질문별 현재 Gold 펼쳐보기</a:t>
            </a:r>
          </a:p>
          <a:p xmlns:a="http://schemas.openxmlformats.org/drawingml/2006/main"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sz="2100">
                <a:solidFill>
                  <a:srgbClr val="9299A3"/>
                </a:solidFill>
                <a:latin typeface="JASO Sans"/>
                <a:ea typeface="JASO Sans"/>
                <a:cs typeface="JASO Sans"/>
              </a:rPr>
              <a:t>같은 문서와 전체 청크 검색</a:t>
            </a:r>
          </a:p>
          <a:p xmlns:a="http://schemas.openxmlformats.org/drawingml/2006/main">
            <a:pPr marL="626104" lvl="1" indent="-313052" algn="l">
              <a:lnSpc>
                <a:spcPts val="3479"/>
              </a:lnSpc>
              <a:buFont typeface="Arial"/>
              <a:buChar char="•"/>
            </a:pPr>
            <a:r>
              <a:rPr sz="2100">
                <a:solidFill>
                  <a:srgbClr val="9299A3"/>
                </a:solidFill>
                <a:latin typeface="JASO Sans"/>
                <a:ea typeface="JASO Sans"/>
                <a:cs typeface="JASO Sans"/>
              </a:rPr>
              <a:t>클릭으로 Gold 추가·제거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7CE33D39-C9EC-430D-9AC0-D7EAD539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8065294"/>
            <a:ext cx="16159162" cy="1243012"/>
          </a:xfrm>
          <a:custGeom xmlns:a="http://schemas.openxmlformats.org/drawingml/2006/main">
            <a:rect l="l" t="t" r="r" b="b"/>
            <a:pathLst>
              <a:path w="21545550" h="1657350">
                <a:moveTo>
                  <a:pt x="0" y="231267"/>
                </a:moveTo>
                <a:cubicBezTo>
                  <a:pt x="0" y="103505"/>
                  <a:pt x="103505" y="0"/>
                  <a:pt x="231267" y="0"/>
                </a:cubicBezTo>
                <a:lnTo>
                  <a:pt x="21314283" y="0"/>
                </a:lnTo>
                <a:cubicBezTo>
                  <a:pt x="21442046" y="0"/>
                  <a:pt x="21545550" y="103505"/>
                  <a:pt x="21545550" y="231267"/>
                </a:cubicBezTo>
                <a:lnTo>
                  <a:pt x="21545550" y="1426083"/>
                </a:lnTo>
                <a:cubicBezTo>
                  <a:pt x="21545550" y="1553845"/>
                  <a:pt x="21442046" y="1657350"/>
                  <a:pt x="21314283" y="1657350"/>
                </a:cubicBezTo>
                <a:lnTo>
                  <a:pt x="231267" y="1657350"/>
                </a:lnTo>
                <a:cubicBezTo>
                  <a:pt x="103505" y="1657350"/>
                  <a:pt x="0" y="1553845"/>
                  <a:pt x="0" y="1426083"/>
                </a:cubicBezTo>
                <a:close/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47264C3B-D060-4254-AD04-AA85A3E2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8433651"/>
            <a:ext cx="15630525" cy="1022452"/>
          </a:xfrm>
          <a:custGeom xmlns:a="http://schemas.openxmlformats.org/drawingml/2006/main">
            <a:rect l="l" t="t" r="r" b="b"/>
            <a:pathLst>
              <a:path w="20840700" h="1363269">
                <a:moveTo>
                  <a:pt x="0" y="0"/>
                </a:moveTo>
                <a:lnTo>
                  <a:pt x="20840700" y="0"/>
                </a:lnTo>
                <a:lnTo>
                  <a:pt x="20840700" y="1363269"/>
                </a:lnTo>
                <a:lnTo>
                  <a:pt x="0" y="1363269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6381bc1c871480d">
              <a:alphaModFix amt="0"/>
            </a:blip>
            <a:stretch>
              <a:fillRect l="0" t="-246170" r="0" b="-249576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23FC42F8-898E-43BA-93A5-C6321A82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8433651"/>
            <a:ext cx="15630525" cy="10224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3584"/>
              </a:lnSpc>
              <a:buNone/>
            </a:pPr>
            <a:r>
              <a:rPr sz="2100" b="1">
                <a:solidFill>
                  <a:srgbClr val="2E63B7"/>
                </a:solidFill>
                <a:latin typeface="JASO Sans Bold"/>
                <a:ea typeface="JASO Sans Bold"/>
                <a:cs typeface="JASO Sans Bold"/>
              </a:rPr>
              <a:t>해결 방향  |  사람이 가장 오래 쓰는 ‘원문 대조 시간’을 UI로 줄이기</a:t>
            </a: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7523ED84-8748-4219-B1F2-8ADDF7D1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756172"/>
            <a:ext cx="16002000" cy="771525"/>
          </a:xfrm>
          <a:custGeom xmlns:a="http://schemas.openxmlformats.org/drawingml/2006/main">
            <a:rect l="l" t="t" r="r" b="b"/>
            <a:pathLst>
              <a:path w="21336000" h="1028700">
                <a:moveTo>
                  <a:pt x="0" y="0"/>
                </a:moveTo>
                <a:lnTo>
                  <a:pt x="21336000" y="0"/>
                </a:lnTo>
                <a:lnTo>
                  <a:pt x="21336000" y="1028700"/>
                </a:lnTo>
                <a:lnTo>
                  <a:pt x="0" y="102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6381bc1c871480d">
              <a:alphaModFix amt="0"/>
            </a:blip>
            <a:stretch>
              <a:fillRect l="0" t="-354134" r="0" b="-354134"/>
            </a:stretch>
          </a:blipFill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E76497B4-3532-400F-B4B0-EE50EF4D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1749029"/>
            <a:ext cx="16002000" cy="7786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640"/>
              </a:lnSpc>
              <a:buNone/>
            </a:pPr>
            <a:r>
              <a:rPr sz="2100">
                <a:solidFill>
                  <a:srgbClr val="202020"/>
                </a:solidFill>
                <a:latin typeface="JASO Sans"/>
                <a:ea typeface="JASO Sans"/>
                <a:cs typeface="JASO Sans"/>
              </a:rPr>
              <a:t>검수 과정의 병목</a:t>
            </a:r>
          </a:p>
        </p:txBody>
      </p:sp>
    </p:spTree>
    <p:extLst>
      <p:ext uri="{BB962C8B-B14F-4D97-AF65-F5344CB8AC3E}">
        <p14:creationId xmlns:p14="http://schemas.microsoft.com/office/powerpoint/2010/main" val="2130857775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3D70C6">
                <a:alpha val="100000"/>
              </a:srgbClr>
            </a:gs>
            <a:gs pos="100000">
              <a:srgbClr val="17448F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42C90B2-1082-4B1F-9A4A-54BD9E34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906" y="335756"/>
            <a:ext cx="17502188" cy="9615488"/>
          </a:xfrm>
          <a:custGeom xmlns:a="http://schemas.openxmlformats.org/drawingml/2006/main">
            <a:rect l="l" t="t" r="r" b="b"/>
            <a:pathLst>
              <a:path w="23336250" h="12820650">
                <a:moveTo>
                  <a:pt x="0" y="305308"/>
                </a:moveTo>
                <a:cubicBezTo>
                  <a:pt x="0" y="136652"/>
                  <a:pt x="136652" y="0"/>
                  <a:pt x="305308" y="0"/>
                </a:cubicBezTo>
                <a:lnTo>
                  <a:pt x="23030942" y="0"/>
                </a:lnTo>
                <a:cubicBezTo>
                  <a:pt x="23199471" y="0"/>
                  <a:pt x="23336250" y="136652"/>
                  <a:pt x="23336250" y="305308"/>
                </a:cubicBezTo>
                <a:lnTo>
                  <a:pt x="23336250" y="12515342"/>
                </a:lnTo>
                <a:cubicBezTo>
                  <a:pt x="23336250" y="12683872"/>
                  <a:pt x="23199598" y="12820650"/>
                  <a:pt x="23030942" y="12820650"/>
                </a:cubicBezTo>
                <a:lnTo>
                  <a:pt x="305308" y="12820650"/>
                </a:lnTo>
                <a:cubicBezTo>
                  <a:pt x="136652" y="12820650"/>
                  <a:pt x="0" y="12683998"/>
                  <a:pt x="0" y="125153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EAF1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9774B52-395E-4373-ADE8-8FCDE16B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42925"/>
            <a:ext cx="16002000" cy="257175"/>
          </a:xfrm>
          <a:custGeom xmlns:a="http://schemas.openxmlformats.org/drawingml/2006/main">
            <a:rect l="l" t="t" r="r" b="b"/>
            <a:pathLst>
              <a:path w="21336000" h="342900">
                <a:moveTo>
                  <a:pt x="0" y="0"/>
                </a:moveTo>
                <a:lnTo>
                  <a:pt x="21336000" y="0"/>
                </a:lnTo>
                <a:lnTo>
                  <a:pt x="21336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a0600d1880455e">
              <a:alphaModFix amt="0"/>
            </a:blip>
            <a:stretch>
              <a:fillRect l="0" t="-1162402" r="0" b="-1162402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64085F4-92D6-4B3B-B08F-3094565D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28638"/>
            <a:ext cx="16002000" cy="2714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123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04 프로젝트 수행 결과 | 평가 데이터셋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611DE504-D527-4D13-A81D-C1400B0E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842962"/>
            <a:ext cx="16002000" cy="771525"/>
          </a:xfrm>
          <a:custGeom xmlns:a="http://schemas.openxmlformats.org/drawingml/2006/main">
            <a:rect l="l" t="t" r="r" b="b"/>
            <a:pathLst>
              <a:path w="21336000" h="1028700">
                <a:moveTo>
                  <a:pt x="0" y="0"/>
                </a:moveTo>
                <a:lnTo>
                  <a:pt x="21336000" y="0"/>
                </a:lnTo>
                <a:lnTo>
                  <a:pt x="21336000" y="1028700"/>
                </a:lnTo>
                <a:lnTo>
                  <a:pt x="0" y="102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a0600d1880455e">
              <a:alphaModFix amt="0"/>
            </a:blip>
            <a:stretch>
              <a:fillRect l="0" t="-354134" r="0" b="-354134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8FE20BE-AFBB-4FF4-8D2C-E99C934C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85812"/>
            <a:ext cx="16002000" cy="82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455"/>
              </a:lnSpc>
              <a:buNone/>
            </a:pPr>
            <a:r>
              <a:rPr sz="3712">
                <a:solidFill>
                  <a:srgbClr val="202020"/>
                </a:solidFill>
                <a:latin typeface="Calibri (MS)"/>
                <a:ea typeface="Calibri (MS)"/>
                <a:cs typeface="Calibri (MS)"/>
              </a:rPr>
              <a:t>그래서 Gold 검수 도구를 직접 만들었습니다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12F3E049-6369-48C2-86C9-EEFE74EF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85912"/>
            <a:ext cx="14859000" cy="314325"/>
          </a:xfrm>
          <a:custGeom xmlns:a="http://schemas.openxmlformats.org/drawingml/2006/main">
            <a:rect l="l" t="t" r="r" b="b"/>
            <a:pathLst>
              <a:path w="19812000" h="419100">
                <a:moveTo>
                  <a:pt x="0" y="0"/>
                </a:moveTo>
                <a:lnTo>
                  <a:pt x="19812000" y="0"/>
                </a:lnTo>
                <a:lnTo>
                  <a:pt x="19812000" y="419100"/>
                </a:lnTo>
                <a:lnTo>
                  <a:pt x="0" y="419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a0600d1880455e">
              <a:alphaModFix amt="0"/>
            </a:blip>
            <a:stretch>
              <a:fillRect l="0" t="-871110" r="0" b="-87111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DE8AACDF-E1A3-43B6-B987-38DE74A0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71625"/>
            <a:ext cx="14859000" cy="3286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질문 카드에서 현재 Gold를 확인하고, 전체 427개 청크에서 정답 근거를 다시 선택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240C499-6081-4BA8-9299-EA2EC256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114550"/>
            <a:ext cx="16002000" cy="14288"/>
          </a:xfrm>
          <a:custGeom xmlns:a="http://schemas.openxmlformats.org/drawingml/2006/main">
            <a:rect l="l" t="t" r="r" b="b"/>
            <a:pathLst>
              <a:path w="21336000" h="19050">
                <a:moveTo>
                  <a:pt x="0" y="0"/>
                </a:moveTo>
                <a:lnTo>
                  <a:pt x="21336000" y="0"/>
                </a:lnTo>
                <a:lnTo>
                  <a:pt x="21336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39FA015-2FED-42FE-A81A-1E7E609D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9572625"/>
            <a:ext cx="16630650" cy="14288"/>
          </a:xfrm>
          <a:custGeom xmlns:a="http://schemas.openxmlformats.org/drawingml/2006/main">
            <a:rect l="l" t="t" r="r" b="b"/>
            <a:pathLst>
              <a:path w="22174200" h="19050">
                <a:moveTo>
                  <a:pt x="0" y="0"/>
                </a:moveTo>
                <a:lnTo>
                  <a:pt x="22174200" y="0"/>
                </a:lnTo>
                <a:lnTo>
                  <a:pt x="221742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B1DAAB93-BC4F-41A7-897B-CD3C3624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44062"/>
            <a:ext cx="8286750" cy="257175"/>
          </a:xfrm>
          <a:custGeom xmlns:a="http://schemas.openxmlformats.org/drawingml/2006/main">
            <a:rect l="l" t="t" r="r" b="b"/>
            <a:pathLst>
              <a:path w="11049000" h="342900">
                <a:moveTo>
                  <a:pt x="0" y="0"/>
                </a:moveTo>
                <a:lnTo>
                  <a:pt x="11049000" y="0"/>
                </a:lnTo>
                <a:lnTo>
                  <a:pt x="11049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a0600d1880455e">
              <a:alphaModFix amt="0"/>
            </a:blip>
            <a:stretch>
              <a:fillRect l="0" t="-577851" r="0" b="-577851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4F4D99A-FB83-446A-B06D-FEAFA22D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22631"/>
            <a:ext cx="8286750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1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KDIC AI 챗봇 | 와쿠와쿠 6조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582730D-167C-4015-AA23-8A5D9966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44062"/>
            <a:ext cx="1000125" cy="257175"/>
          </a:xfrm>
          <a:custGeom xmlns:a="http://schemas.openxmlformats.org/drawingml/2006/main">
            <a:rect l="l" t="t" r="r" b="b"/>
            <a:pathLst>
              <a:path w="1333500" h="342900">
                <a:moveTo>
                  <a:pt x="0" y="0"/>
                </a:moveTo>
                <a:lnTo>
                  <a:pt x="1333500" y="0"/>
                </a:lnTo>
                <a:lnTo>
                  <a:pt x="13335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a0600d1880455e">
              <a:alphaModFix amt="0"/>
            </a:blip>
            <a:stretch>
              <a:fillRect l="0" t="-25775" r="0" b="-25775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97458F6B-C403-46A6-ADC8-108B24AA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22631"/>
            <a:ext cx="1000125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350"/>
              </a:lnSpc>
              <a:buNone/>
            </a:pPr>
            <a:r>
              <a:rPr sz="11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15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77E81528-B36B-48B4-9B32-16C89457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2707481"/>
            <a:ext cx="10872788" cy="6015038"/>
          </a:xfrm>
          <a:custGeom xmlns:a="http://schemas.openxmlformats.org/drawingml/2006/main">
            <a:rect l="l" t="t" r="r" b="b"/>
            <a:pathLst>
              <a:path w="14497050" h="8020050">
                <a:moveTo>
                  <a:pt x="0" y="229108"/>
                </a:moveTo>
                <a:cubicBezTo>
                  <a:pt x="0" y="102616"/>
                  <a:pt x="102616" y="0"/>
                  <a:pt x="229108" y="0"/>
                </a:cubicBezTo>
                <a:lnTo>
                  <a:pt x="14267942" y="0"/>
                </a:lnTo>
                <a:cubicBezTo>
                  <a:pt x="14394433" y="0"/>
                  <a:pt x="14497050" y="102616"/>
                  <a:pt x="14497050" y="229108"/>
                </a:cubicBezTo>
                <a:lnTo>
                  <a:pt x="14497050" y="7790942"/>
                </a:lnTo>
                <a:cubicBezTo>
                  <a:pt x="14497050" y="7917435"/>
                  <a:pt x="14394433" y="8020050"/>
                  <a:pt x="14267942" y="8020050"/>
                </a:cubicBezTo>
                <a:lnTo>
                  <a:pt x="229108" y="8020050"/>
                </a:lnTo>
                <a:cubicBezTo>
                  <a:pt x="102616" y="8020050"/>
                  <a:pt x="0" y="7917434"/>
                  <a:pt x="0" y="7790942"/>
                </a:cubicBezTo>
                <a:close/>
              </a:path>
            </a:pathLst>
          </a:custGeom>
          <a:solidFill xmlns:a="http://schemas.openxmlformats.org/drawingml/2006/main">
            <a:srgbClr val="0B2F6B"/>
          </a:solidFill>
          <a:ln xmlns:a="http://schemas.openxmlformats.org/drawingml/2006/main" w="14288">
            <a:solidFill>
              <a:srgbClr val="2E63B7"/>
            </a:solidFill>
            <a:prstDash val="solid"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5DA5F1AA-A9E2-482F-97B1-38F07BFB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2914650"/>
            <a:ext cx="10229850" cy="428625"/>
          </a:xfrm>
          <a:custGeom xmlns:a="http://schemas.openxmlformats.org/drawingml/2006/main">
            <a:rect l="l" t="t" r="r" b="b"/>
            <a:pathLst>
              <a:path w="13639800" h="571500">
                <a:moveTo>
                  <a:pt x="0" y="0"/>
                </a:moveTo>
                <a:lnTo>
                  <a:pt x="13639800" y="0"/>
                </a:lnTo>
                <a:lnTo>
                  <a:pt x="1363980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a0600d1880455e">
              <a:alphaModFix amt="0"/>
            </a:blip>
            <a:stretch>
              <a:fillRect l="0" t="-415042" r="0" b="-415042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B7302655-8164-4968-AA5A-68C46692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2886075"/>
            <a:ext cx="10229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4B7BC9"/>
                </a:solidFill>
                <a:latin typeface="Calibri (MS) Bold"/>
                <a:ea typeface="Calibri (MS) Bold"/>
                <a:cs typeface="Calibri (MS) Bold"/>
              </a:rPr>
              <a:t>04 프로젝트 수행 결과 | 평가 데이터셋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A99783CF-7027-41E0-BAC3-AD8D745A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3493770"/>
            <a:ext cx="10046970" cy="49187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t/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9C395673-240A-402E-AB54-C3DBB9CF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2919" y="2707481"/>
            <a:ext cx="5229225" cy="3729038"/>
          </a:xfrm>
          <a:custGeom xmlns:a="http://schemas.openxmlformats.org/drawingml/2006/main">
            <a:rect l="l" t="t" r="r" b="b"/>
            <a:pathLst>
              <a:path w="6972300" h="4972050">
                <a:moveTo>
                  <a:pt x="0" y="229489"/>
                </a:moveTo>
                <a:cubicBezTo>
                  <a:pt x="0" y="102743"/>
                  <a:pt x="102743" y="0"/>
                  <a:pt x="229489" y="0"/>
                </a:cubicBezTo>
                <a:lnTo>
                  <a:pt x="6742811" y="0"/>
                </a:lnTo>
                <a:cubicBezTo>
                  <a:pt x="6869557" y="0"/>
                  <a:pt x="6972300" y="102743"/>
                  <a:pt x="6972300" y="229489"/>
                </a:cubicBezTo>
                <a:lnTo>
                  <a:pt x="6972300" y="4742561"/>
                </a:lnTo>
                <a:cubicBezTo>
                  <a:pt x="6972300" y="4869307"/>
                  <a:pt x="6869557" y="4972050"/>
                  <a:pt x="6742811" y="4972050"/>
                </a:cubicBezTo>
                <a:lnTo>
                  <a:pt x="229489" y="4972050"/>
                </a:lnTo>
                <a:cubicBezTo>
                  <a:pt x="102743" y="4972050"/>
                  <a:pt x="0" y="4869307"/>
                  <a:pt x="0" y="4742561"/>
                </a:cubicBezTo>
                <a:close/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5E6F6893-B9EC-41E4-9DE5-3B1ACBBA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44388" y="2914650"/>
            <a:ext cx="4586288" cy="428625"/>
          </a:xfrm>
          <a:custGeom xmlns:a="http://schemas.openxmlformats.org/drawingml/2006/main">
            <a:rect l="l" t="t" r="r" b="b"/>
            <a:pathLst>
              <a:path w="6115050" h="571500">
                <a:moveTo>
                  <a:pt x="0" y="0"/>
                </a:moveTo>
                <a:lnTo>
                  <a:pt x="6115050" y="0"/>
                </a:lnTo>
                <a:lnTo>
                  <a:pt x="611505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a0600d1880455e">
              <a:alphaModFix amt="0"/>
            </a:blip>
            <a:stretch>
              <a:fillRect l="0" t="-158489" r="0" b="-158489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40BCE8C-CB56-4BE6-96CC-2CC6504B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44388" y="2886075"/>
            <a:ext cx="4586288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검수 흐름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5EB69AAC-9FB1-447F-8F0C-40C9D6AA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35828" y="3493770"/>
            <a:ext cx="4403408" cy="26327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① 질문·라벨 확인</a:t>
            </a:r>
          </a:p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② 현재 Gold 펼치기</a:t>
            </a:r>
          </a:p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③ 원문 청크 비교</a:t>
            </a:r>
          </a:p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④ 전체 청크 검색</a:t>
            </a:r>
          </a:p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⑤ Gold 추가·제거 후 확정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42910882-FB7E-46EF-B7C5-E6C7EA8A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22919" y="6779419"/>
            <a:ext cx="5229225" cy="1943100"/>
          </a:xfrm>
          <a:custGeom xmlns:a="http://schemas.openxmlformats.org/drawingml/2006/main">
            <a:rect l="l" t="t" r="r" b="b"/>
            <a:pathLst>
              <a:path w="6972300" h="2590800">
                <a:moveTo>
                  <a:pt x="0" y="230251"/>
                </a:moveTo>
                <a:cubicBezTo>
                  <a:pt x="0" y="103124"/>
                  <a:pt x="103124" y="0"/>
                  <a:pt x="230251" y="0"/>
                </a:cubicBezTo>
                <a:lnTo>
                  <a:pt x="6742049" y="0"/>
                </a:lnTo>
                <a:cubicBezTo>
                  <a:pt x="6869176" y="0"/>
                  <a:pt x="6972300" y="103124"/>
                  <a:pt x="6972300" y="230251"/>
                </a:cubicBezTo>
                <a:lnTo>
                  <a:pt x="6972300" y="2360549"/>
                </a:lnTo>
                <a:cubicBezTo>
                  <a:pt x="6972300" y="2487676"/>
                  <a:pt x="6869176" y="2590800"/>
                  <a:pt x="6742049" y="2590800"/>
                </a:cubicBezTo>
                <a:lnTo>
                  <a:pt x="230251" y="2590800"/>
                </a:lnTo>
                <a:cubicBezTo>
                  <a:pt x="103124" y="2590800"/>
                  <a:pt x="0" y="2487676"/>
                  <a:pt x="0" y="2360549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11E29E10-4986-42A8-8345-7D5ECE81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44388" y="6986588"/>
            <a:ext cx="4586288" cy="428625"/>
          </a:xfrm>
          <a:custGeom xmlns:a="http://schemas.openxmlformats.org/drawingml/2006/main">
            <a:rect l="l" t="t" r="r" b="b"/>
            <a:pathLst>
              <a:path w="6115050" h="571500">
                <a:moveTo>
                  <a:pt x="0" y="0"/>
                </a:moveTo>
                <a:lnTo>
                  <a:pt x="6115050" y="0"/>
                </a:lnTo>
                <a:lnTo>
                  <a:pt x="611505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6a0600d1880455e">
              <a:alphaModFix amt="0"/>
            </a:blip>
            <a:stretch>
              <a:fillRect l="0" t="-158489" r="0" b="-158489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8DD21A9C-7DDF-470A-8F8B-7418A6EA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44388" y="6958013"/>
            <a:ext cx="4586288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250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검수 효과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F3E7ED41-7354-43FE-8A49-A25DAC82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35828" y="7565707"/>
            <a:ext cx="4403408" cy="8467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원문 대조 시간 감소
정답 청크 누락 발견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11b9b93224021"/>
          <a:stretch xmlns:a="http://schemas.openxmlformats.org/drawingml/2006/main"/>
        </p:blipFill>
        <p:spPr>
          <a:xfrm xmlns:a="http://schemas.openxmlformats.org/drawingml/2006/main">
            <a:off x="4078343" y="3493770"/>
            <a:ext cx="3844814" cy="4918710"/>
          </a:xfrm>
          <a:prstGeom xmlns:a="http://schemas.openxmlformats.org/drawingml/2006/main" prst="roundRect">
            <a:avLst>
              <a:gd name="adj" fmla="val 2324"/>
            </a:avLst>
          </a:prstGeom>
        </p:spPr>
      </p:pic>
    </p:spTree>
    <p:extLst>
      <p:ext uri="{BB962C8B-B14F-4D97-AF65-F5344CB8AC3E}">
        <p14:creationId xmlns:p14="http://schemas.microsoft.com/office/powerpoint/2010/main" val="96693079"/>
      </p:ext>
    </p:extLst>
  </p:cSld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3D70C6">
                <a:alpha val="100000"/>
              </a:srgbClr>
            </a:gs>
            <a:gs pos="100000">
              <a:srgbClr val="17448F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EDFD2BB-E292-4F48-A220-2799E631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906" y="335756"/>
            <a:ext cx="17502188" cy="9615488"/>
          </a:xfrm>
          <a:custGeom xmlns:a="http://schemas.openxmlformats.org/drawingml/2006/main">
            <a:rect l="l" t="t" r="r" b="b"/>
            <a:pathLst>
              <a:path w="23336250" h="12820650">
                <a:moveTo>
                  <a:pt x="0" y="305308"/>
                </a:moveTo>
                <a:cubicBezTo>
                  <a:pt x="0" y="136652"/>
                  <a:pt x="136652" y="0"/>
                  <a:pt x="305308" y="0"/>
                </a:cubicBezTo>
                <a:lnTo>
                  <a:pt x="23030942" y="0"/>
                </a:lnTo>
                <a:cubicBezTo>
                  <a:pt x="23199471" y="0"/>
                  <a:pt x="23336250" y="136652"/>
                  <a:pt x="23336250" y="305308"/>
                </a:cubicBezTo>
                <a:lnTo>
                  <a:pt x="23336250" y="12515342"/>
                </a:lnTo>
                <a:cubicBezTo>
                  <a:pt x="23336250" y="12683872"/>
                  <a:pt x="23199598" y="12820650"/>
                  <a:pt x="23030942" y="12820650"/>
                </a:cubicBezTo>
                <a:lnTo>
                  <a:pt x="305308" y="12820650"/>
                </a:lnTo>
                <a:cubicBezTo>
                  <a:pt x="136652" y="12820650"/>
                  <a:pt x="0" y="12683998"/>
                  <a:pt x="0" y="125153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EAF1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A3080FA-E15C-42FA-9EB0-E48F3273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42925"/>
            <a:ext cx="16002000" cy="257175"/>
          </a:xfrm>
          <a:custGeom xmlns:a="http://schemas.openxmlformats.org/drawingml/2006/main">
            <a:rect l="l" t="t" r="r" b="b"/>
            <a:pathLst>
              <a:path w="21336000" h="342900">
                <a:moveTo>
                  <a:pt x="0" y="0"/>
                </a:moveTo>
                <a:lnTo>
                  <a:pt x="21336000" y="0"/>
                </a:lnTo>
                <a:lnTo>
                  <a:pt x="21336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dbe2d13dd241c6">
              <a:alphaModFix amt="0"/>
            </a:blip>
            <a:stretch>
              <a:fillRect l="0" t="-1162402" r="0" b="-1162402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618FC73-BA88-4CA3-BFC0-34507193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28638"/>
            <a:ext cx="16002000" cy="2714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123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04 프로젝트 수행 결과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B52F61D1-8F8A-46CF-8521-D030BE89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842962"/>
            <a:ext cx="16002000" cy="771525"/>
          </a:xfrm>
          <a:custGeom xmlns:a="http://schemas.openxmlformats.org/drawingml/2006/main">
            <a:rect l="l" t="t" r="r" b="b"/>
            <a:pathLst>
              <a:path w="21336000" h="1028700">
                <a:moveTo>
                  <a:pt x="0" y="0"/>
                </a:moveTo>
                <a:lnTo>
                  <a:pt x="21336000" y="0"/>
                </a:lnTo>
                <a:lnTo>
                  <a:pt x="21336000" y="1028700"/>
                </a:lnTo>
                <a:lnTo>
                  <a:pt x="0" y="102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dbe2d13dd241c6">
              <a:alphaModFix amt="0"/>
            </a:blip>
            <a:stretch>
              <a:fillRect l="0" t="-354134" r="0" b="-354134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418DA3C-A7C6-40D0-9284-847F4C4B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85812"/>
            <a:ext cx="16002000" cy="82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455"/>
              </a:lnSpc>
              <a:buNone/>
            </a:pPr>
            <a:r>
              <a:rPr sz="3712">
                <a:solidFill>
                  <a:srgbClr val="202020"/>
                </a:solidFill>
                <a:latin typeface="Calibri (MS)"/>
                <a:ea typeface="Calibri (MS)"/>
                <a:cs typeface="Calibri (MS)"/>
              </a:rPr>
              <a:t>이번 주차에는 6개의 연결된 산출물을 완성했습니다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6481BEF-2EE2-4F9E-BCC0-946EBF1C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85912"/>
            <a:ext cx="14859000" cy="314325"/>
          </a:xfrm>
          <a:custGeom xmlns:a="http://schemas.openxmlformats.org/drawingml/2006/main">
            <a:rect l="l" t="t" r="r" b="b"/>
            <a:pathLst>
              <a:path w="19812000" h="419100">
                <a:moveTo>
                  <a:pt x="0" y="0"/>
                </a:moveTo>
                <a:lnTo>
                  <a:pt x="19812000" y="0"/>
                </a:lnTo>
                <a:lnTo>
                  <a:pt x="19812000" y="419100"/>
                </a:lnTo>
                <a:lnTo>
                  <a:pt x="0" y="419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dbe2d13dd241c6">
              <a:alphaModFix amt="0"/>
            </a:blip>
            <a:stretch>
              <a:fillRect l="0" t="-871110" r="0" b="-87111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85A752AC-1137-4881-9749-2DE35921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71625"/>
            <a:ext cx="14859000" cy="3286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각 산출물이 다음 단계의 입력이 되도록 데이터→서비스→평가를 연결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F22777EE-DFDC-45DA-8340-85AC014E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114550"/>
            <a:ext cx="16002000" cy="14288"/>
          </a:xfrm>
          <a:custGeom xmlns:a="http://schemas.openxmlformats.org/drawingml/2006/main">
            <a:rect l="l" t="t" r="r" b="b"/>
            <a:pathLst>
              <a:path w="21336000" h="19050">
                <a:moveTo>
                  <a:pt x="0" y="0"/>
                </a:moveTo>
                <a:lnTo>
                  <a:pt x="21336000" y="0"/>
                </a:lnTo>
                <a:lnTo>
                  <a:pt x="21336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A656695-AA83-44FB-9A27-7360EBFD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9572625"/>
            <a:ext cx="16630650" cy="14288"/>
          </a:xfrm>
          <a:custGeom xmlns:a="http://schemas.openxmlformats.org/drawingml/2006/main">
            <a:rect l="l" t="t" r="r" b="b"/>
            <a:pathLst>
              <a:path w="22174200" h="19050">
                <a:moveTo>
                  <a:pt x="0" y="0"/>
                </a:moveTo>
                <a:lnTo>
                  <a:pt x="22174200" y="0"/>
                </a:lnTo>
                <a:lnTo>
                  <a:pt x="221742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E4306497-76C5-406E-8CC2-82F489ED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44062"/>
            <a:ext cx="8286750" cy="257175"/>
          </a:xfrm>
          <a:custGeom xmlns:a="http://schemas.openxmlformats.org/drawingml/2006/main">
            <a:rect l="l" t="t" r="r" b="b"/>
            <a:pathLst>
              <a:path w="11049000" h="342900">
                <a:moveTo>
                  <a:pt x="0" y="0"/>
                </a:moveTo>
                <a:lnTo>
                  <a:pt x="11049000" y="0"/>
                </a:lnTo>
                <a:lnTo>
                  <a:pt x="11049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dbe2d13dd241c6">
              <a:alphaModFix amt="0"/>
            </a:blip>
            <a:stretch>
              <a:fillRect l="0" t="-577851" r="0" b="-577851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FB4D5E3-9082-430E-93C2-BE31BC9A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22631"/>
            <a:ext cx="8286750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1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KDIC AI 챗봇 | 와쿠와쿠 6조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30AD646F-AC96-42AD-9021-4F17AC30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44062"/>
            <a:ext cx="1000125" cy="257175"/>
          </a:xfrm>
          <a:custGeom xmlns:a="http://schemas.openxmlformats.org/drawingml/2006/main">
            <a:rect l="l" t="t" r="r" b="b"/>
            <a:pathLst>
              <a:path w="1333500" h="342900">
                <a:moveTo>
                  <a:pt x="0" y="0"/>
                </a:moveTo>
                <a:lnTo>
                  <a:pt x="1333500" y="0"/>
                </a:lnTo>
                <a:lnTo>
                  <a:pt x="13335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dbe2d13dd241c6">
              <a:alphaModFix amt="0"/>
            </a:blip>
            <a:stretch>
              <a:fillRect l="0" t="-25775" r="0" b="-25775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63FD6DE3-18DD-45B5-A5AE-5C7CC7AF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22631"/>
            <a:ext cx="1000125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350"/>
              </a:lnSpc>
              <a:buNone/>
            </a:pPr>
            <a:r>
              <a:rPr sz="11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16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AA89BB34-0DF4-4B12-A3AF-2A686E28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2850356"/>
            <a:ext cx="5229225" cy="2443162"/>
          </a:xfrm>
          <a:custGeom xmlns:a="http://schemas.openxmlformats.org/drawingml/2006/main">
            <a:rect l="l" t="t" r="r" b="b"/>
            <a:pathLst>
              <a:path w="6972300" h="3257550">
                <a:moveTo>
                  <a:pt x="0" y="229997"/>
                </a:moveTo>
                <a:cubicBezTo>
                  <a:pt x="0" y="102997"/>
                  <a:pt x="102997" y="0"/>
                  <a:pt x="229997" y="0"/>
                </a:cubicBezTo>
                <a:lnTo>
                  <a:pt x="6742303" y="0"/>
                </a:lnTo>
                <a:cubicBezTo>
                  <a:pt x="6869303" y="0"/>
                  <a:pt x="6972300" y="102997"/>
                  <a:pt x="6972300" y="229997"/>
                </a:cubicBezTo>
                <a:lnTo>
                  <a:pt x="6972300" y="3027553"/>
                </a:lnTo>
                <a:cubicBezTo>
                  <a:pt x="6972300" y="3154553"/>
                  <a:pt x="6869303" y="3257550"/>
                  <a:pt x="6742303" y="3257550"/>
                </a:cubicBezTo>
                <a:lnTo>
                  <a:pt x="229997" y="3257550"/>
                </a:lnTo>
                <a:cubicBezTo>
                  <a:pt x="102997" y="3257550"/>
                  <a:pt x="0" y="3154553"/>
                  <a:pt x="0" y="302755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67BBF2F-F187-468F-9493-D10E538C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3057525"/>
            <a:ext cx="4586288" cy="428625"/>
          </a:xfrm>
          <a:custGeom xmlns:a="http://schemas.openxmlformats.org/drawingml/2006/main">
            <a:rect l="l" t="t" r="r" b="b"/>
            <a:pathLst>
              <a:path w="6115050" h="571500">
                <a:moveTo>
                  <a:pt x="0" y="0"/>
                </a:moveTo>
                <a:lnTo>
                  <a:pt x="6115050" y="0"/>
                </a:lnTo>
                <a:lnTo>
                  <a:pt x="611505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dbe2d13dd241c6">
              <a:alphaModFix amt="0"/>
            </a:blip>
            <a:stretch>
              <a:fillRect l="0" t="-158489" r="0" b="-158489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063F72B8-16EC-41E2-90C0-920FE77F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3028950"/>
            <a:ext cx="4586288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0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프로젝트 1 보고서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E2F17C15-DE69-4D65-A6BF-43540AF4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3636645"/>
            <a:ext cx="4403408" cy="1346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60쪽 보고서
데이터·품질 이슈 정리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A6B617E4-B49D-4623-8824-06944655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07919" y="2850356"/>
            <a:ext cx="5229225" cy="2443162"/>
          </a:xfrm>
          <a:custGeom xmlns:a="http://schemas.openxmlformats.org/drawingml/2006/main">
            <a:rect l="l" t="t" r="r" b="b"/>
            <a:pathLst>
              <a:path w="6972300" h="3257550">
                <a:moveTo>
                  <a:pt x="0" y="229997"/>
                </a:moveTo>
                <a:cubicBezTo>
                  <a:pt x="0" y="102997"/>
                  <a:pt x="102997" y="0"/>
                  <a:pt x="229997" y="0"/>
                </a:cubicBezTo>
                <a:lnTo>
                  <a:pt x="6742303" y="0"/>
                </a:lnTo>
                <a:cubicBezTo>
                  <a:pt x="6869303" y="0"/>
                  <a:pt x="6972300" y="102997"/>
                  <a:pt x="6972300" y="229997"/>
                </a:cubicBezTo>
                <a:lnTo>
                  <a:pt x="6972300" y="3027553"/>
                </a:lnTo>
                <a:cubicBezTo>
                  <a:pt x="6972300" y="3154553"/>
                  <a:pt x="6869303" y="3257550"/>
                  <a:pt x="6742303" y="3257550"/>
                </a:cubicBezTo>
                <a:lnTo>
                  <a:pt x="229997" y="3257550"/>
                </a:lnTo>
                <a:cubicBezTo>
                  <a:pt x="102997" y="3257550"/>
                  <a:pt x="0" y="3154553"/>
                  <a:pt x="0" y="302755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B347EF19-7B84-41F5-A551-4D250038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9388" y="3057525"/>
            <a:ext cx="4586288" cy="428625"/>
          </a:xfrm>
          <a:custGeom xmlns:a="http://schemas.openxmlformats.org/drawingml/2006/main">
            <a:rect l="l" t="t" r="r" b="b"/>
            <a:pathLst>
              <a:path w="6115050" h="571500">
                <a:moveTo>
                  <a:pt x="0" y="0"/>
                </a:moveTo>
                <a:lnTo>
                  <a:pt x="6115050" y="0"/>
                </a:lnTo>
                <a:lnTo>
                  <a:pt x="611505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dbe2d13dd241c6">
              <a:alphaModFix amt="0"/>
            </a:blip>
            <a:stretch>
              <a:fillRect l="0" t="-158489" r="0" b="-158489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1001EB6B-D49D-4492-8EE1-F49DAE19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9388" y="3028950"/>
            <a:ext cx="4586288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0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챗봇 Prototype V1</a:t>
            </a:r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76DC4B-4A2A-4BC5-834C-B3F8E6FF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0828" y="3636645"/>
            <a:ext cx="4403408" cy="1346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FAQ·업무·의도
근거 답변 화면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940333A9-0782-4927-B88E-5E89D84E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51481" y="2850356"/>
            <a:ext cx="5229225" cy="2443162"/>
          </a:xfrm>
          <a:custGeom xmlns:a="http://schemas.openxmlformats.org/drawingml/2006/main">
            <a:rect l="l" t="t" r="r" b="b"/>
            <a:pathLst>
              <a:path w="6972300" h="3257550">
                <a:moveTo>
                  <a:pt x="0" y="229997"/>
                </a:moveTo>
                <a:cubicBezTo>
                  <a:pt x="0" y="102997"/>
                  <a:pt x="102997" y="0"/>
                  <a:pt x="229997" y="0"/>
                </a:cubicBezTo>
                <a:lnTo>
                  <a:pt x="6742303" y="0"/>
                </a:lnTo>
                <a:cubicBezTo>
                  <a:pt x="6869303" y="0"/>
                  <a:pt x="6972300" y="102997"/>
                  <a:pt x="6972300" y="229997"/>
                </a:cubicBezTo>
                <a:lnTo>
                  <a:pt x="6972300" y="3027553"/>
                </a:lnTo>
                <a:cubicBezTo>
                  <a:pt x="6972300" y="3154553"/>
                  <a:pt x="6869303" y="3257550"/>
                  <a:pt x="6742303" y="3257550"/>
                </a:cubicBezTo>
                <a:lnTo>
                  <a:pt x="229997" y="3257550"/>
                </a:lnTo>
                <a:cubicBezTo>
                  <a:pt x="102997" y="3257550"/>
                  <a:pt x="0" y="3154553"/>
                  <a:pt x="0" y="302755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E5966A7D-E491-45D0-8878-779C7272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72950" y="3057525"/>
            <a:ext cx="4586288" cy="428625"/>
          </a:xfrm>
          <a:custGeom xmlns:a="http://schemas.openxmlformats.org/drawingml/2006/main">
            <a:rect l="l" t="t" r="r" b="b"/>
            <a:pathLst>
              <a:path w="6115050" h="571500">
                <a:moveTo>
                  <a:pt x="0" y="0"/>
                </a:moveTo>
                <a:lnTo>
                  <a:pt x="6115050" y="0"/>
                </a:lnTo>
                <a:lnTo>
                  <a:pt x="611505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dbe2d13dd241c6">
              <a:alphaModFix amt="0"/>
            </a:blip>
            <a:stretch>
              <a:fillRect l="0" t="-158489" r="0" b="-158489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2B64B464-3FD7-4DA6-A414-E16809B9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72950" y="3028950"/>
            <a:ext cx="4586288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0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검색·답변 파이프라인</a:t>
            </a:r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28913519-15B3-4DE7-A72C-E9499123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4390" y="3636645"/>
            <a:ext cx="4403408" cy="1346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업무 필터·검색
답변·출처 구조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73275826-A12D-4CA8-B9C5-C82F0AA8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5779294"/>
            <a:ext cx="5229225" cy="2443162"/>
          </a:xfrm>
          <a:custGeom xmlns:a="http://schemas.openxmlformats.org/drawingml/2006/main">
            <a:rect l="l" t="t" r="r" b="b"/>
            <a:pathLst>
              <a:path w="6972300" h="3257550">
                <a:moveTo>
                  <a:pt x="0" y="229997"/>
                </a:moveTo>
                <a:cubicBezTo>
                  <a:pt x="0" y="102997"/>
                  <a:pt x="102997" y="0"/>
                  <a:pt x="229997" y="0"/>
                </a:cubicBezTo>
                <a:lnTo>
                  <a:pt x="6742303" y="0"/>
                </a:lnTo>
                <a:cubicBezTo>
                  <a:pt x="6869303" y="0"/>
                  <a:pt x="6972300" y="102997"/>
                  <a:pt x="6972300" y="229997"/>
                </a:cubicBezTo>
                <a:lnTo>
                  <a:pt x="6972300" y="3027553"/>
                </a:lnTo>
                <a:cubicBezTo>
                  <a:pt x="6972300" y="3154553"/>
                  <a:pt x="6869303" y="3257550"/>
                  <a:pt x="6742303" y="3257550"/>
                </a:cubicBezTo>
                <a:lnTo>
                  <a:pt x="229997" y="3257550"/>
                </a:lnTo>
                <a:cubicBezTo>
                  <a:pt x="102997" y="3257550"/>
                  <a:pt x="0" y="3154553"/>
                  <a:pt x="0" y="302755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1F73E148-A6CD-4791-875E-12724703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5986462"/>
            <a:ext cx="4586288" cy="428625"/>
          </a:xfrm>
          <a:custGeom xmlns:a="http://schemas.openxmlformats.org/drawingml/2006/main">
            <a:rect l="l" t="t" r="r" b="b"/>
            <a:pathLst>
              <a:path w="6115050" h="571500">
                <a:moveTo>
                  <a:pt x="0" y="0"/>
                </a:moveTo>
                <a:lnTo>
                  <a:pt x="6115050" y="0"/>
                </a:lnTo>
                <a:lnTo>
                  <a:pt x="611505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dbe2d13dd241c6">
              <a:alphaModFix amt="0"/>
            </a:blip>
            <a:stretch>
              <a:fillRect l="0" t="-158489" r="0" b="-158489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CA14ED0B-FF31-458F-8989-BC13B780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5825" y="5957887"/>
            <a:ext cx="4586288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0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평가 데이터셋</a:t>
            </a:r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35B2BD7E-AF30-4F88-82BF-B1889221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265" y="6565582"/>
            <a:ext cx="4403408" cy="1346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203행·38필드
143개 질문 ID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7AEFEA18-DF76-4346-BA34-CA21F0B1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07919" y="5779294"/>
            <a:ext cx="5229225" cy="2443162"/>
          </a:xfrm>
          <a:custGeom xmlns:a="http://schemas.openxmlformats.org/drawingml/2006/main">
            <a:rect l="l" t="t" r="r" b="b"/>
            <a:pathLst>
              <a:path w="6972300" h="3257550">
                <a:moveTo>
                  <a:pt x="0" y="229997"/>
                </a:moveTo>
                <a:cubicBezTo>
                  <a:pt x="0" y="102997"/>
                  <a:pt x="102997" y="0"/>
                  <a:pt x="229997" y="0"/>
                </a:cubicBezTo>
                <a:lnTo>
                  <a:pt x="6742303" y="0"/>
                </a:lnTo>
                <a:cubicBezTo>
                  <a:pt x="6869303" y="0"/>
                  <a:pt x="6972300" y="102997"/>
                  <a:pt x="6972300" y="229997"/>
                </a:cubicBezTo>
                <a:lnTo>
                  <a:pt x="6972300" y="3027553"/>
                </a:lnTo>
                <a:cubicBezTo>
                  <a:pt x="6972300" y="3154553"/>
                  <a:pt x="6869303" y="3257550"/>
                  <a:pt x="6742303" y="3257550"/>
                </a:cubicBezTo>
                <a:lnTo>
                  <a:pt x="229997" y="3257550"/>
                </a:lnTo>
                <a:cubicBezTo>
                  <a:pt x="102997" y="3257550"/>
                  <a:pt x="0" y="3154553"/>
                  <a:pt x="0" y="3027553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49458C1C-859A-451C-9A0A-0B9A5C40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9388" y="5986462"/>
            <a:ext cx="4586288" cy="428625"/>
          </a:xfrm>
          <a:custGeom xmlns:a="http://schemas.openxmlformats.org/drawingml/2006/main">
            <a:rect l="l" t="t" r="r" b="b"/>
            <a:pathLst>
              <a:path w="6115050" h="571500">
                <a:moveTo>
                  <a:pt x="0" y="0"/>
                </a:moveTo>
                <a:lnTo>
                  <a:pt x="6115050" y="0"/>
                </a:lnTo>
                <a:lnTo>
                  <a:pt x="611505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dbe2d13dd241c6">
              <a:alphaModFix amt="0"/>
            </a:blip>
            <a:stretch>
              <a:fillRect l="0" t="-158489" r="0" b="-158489"/>
            </a:stretch>
          </a:blipFill>
        </p:spPr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21E2B92C-1F16-4CDC-8AA9-E0AF333F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9388" y="5957887"/>
            <a:ext cx="4586288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0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Gold 검수 도구</a:t>
            </a:r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B06DB0A8-02F8-483C-B03E-5F5309CE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0828" y="6565582"/>
            <a:ext cx="4403408" cy="1346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427개 청크 검색
Gold 추가·제거</a:t>
            </a:r>
          </a:p>
        </p:txBody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B5990939-B60C-4BD8-A7A8-1F413E06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51481" y="5779294"/>
            <a:ext cx="5229225" cy="2443162"/>
          </a:xfrm>
          <a:custGeom xmlns:a="http://schemas.openxmlformats.org/drawingml/2006/main">
            <a:rect l="l" t="t" r="r" b="b"/>
            <a:pathLst>
              <a:path w="6972300" h="3257550">
                <a:moveTo>
                  <a:pt x="0" y="229997"/>
                </a:moveTo>
                <a:cubicBezTo>
                  <a:pt x="0" y="102997"/>
                  <a:pt x="102997" y="0"/>
                  <a:pt x="229997" y="0"/>
                </a:cubicBezTo>
                <a:lnTo>
                  <a:pt x="6742303" y="0"/>
                </a:lnTo>
                <a:cubicBezTo>
                  <a:pt x="6869303" y="0"/>
                  <a:pt x="6972300" y="102997"/>
                  <a:pt x="6972300" y="229997"/>
                </a:cubicBezTo>
                <a:lnTo>
                  <a:pt x="6972300" y="3027553"/>
                </a:lnTo>
                <a:cubicBezTo>
                  <a:pt x="6972300" y="3154553"/>
                  <a:pt x="6869303" y="3257550"/>
                  <a:pt x="6742303" y="3257550"/>
                </a:cubicBezTo>
                <a:lnTo>
                  <a:pt x="229997" y="3257550"/>
                </a:lnTo>
                <a:cubicBezTo>
                  <a:pt x="102997" y="3257550"/>
                  <a:pt x="0" y="3154553"/>
                  <a:pt x="0" y="302755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C375F498-232E-404F-A6BA-6F481E5C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72950" y="5986462"/>
            <a:ext cx="4586288" cy="428625"/>
          </a:xfrm>
          <a:custGeom xmlns:a="http://schemas.openxmlformats.org/drawingml/2006/main">
            <a:rect l="l" t="t" r="r" b="b"/>
            <a:pathLst>
              <a:path w="6115050" h="571500">
                <a:moveTo>
                  <a:pt x="0" y="0"/>
                </a:moveTo>
                <a:lnTo>
                  <a:pt x="6115050" y="0"/>
                </a:lnTo>
                <a:lnTo>
                  <a:pt x="6115050" y="571500"/>
                </a:lnTo>
                <a:lnTo>
                  <a:pt x="0" y="5715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dbe2d13dd241c6">
              <a:alphaModFix amt="0"/>
            </a:blip>
            <a:stretch>
              <a:fillRect l="0" t="-158489" r="0" b="-158489"/>
            </a:stretch>
          </a:blipFill>
        </p:spPr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D3A14D91-8C84-4B4A-B6BA-0B1D9397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72950" y="5957887"/>
            <a:ext cx="4586288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565"/>
              </a:lnSpc>
              <a:buNone/>
            </a:pPr>
            <a:r>
              <a:rPr sz="20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시연 시나리오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216B8D0A-AEBC-4691-87AE-63BFCB62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64390" y="6565582"/>
            <a:ext cx="4403408" cy="13468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대표 질문 흐름
화면·출처 시연</a:t>
            </a:r>
          </a:p>
        </p:txBody>
      </p:sp>
    </p:spTree>
    <p:extLst>
      <p:ext uri="{BB962C8B-B14F-4D97-AF65-F5344CB8AC3E}">
        <p14:creationId xmlns:p14="http://schemas.microsoft.com/office/powerpoint/2010/main" val="490589757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3D70C6">
                <a:alpha val="100000"/>
              </a:srgbClr>
            </a:gs>
            <a:gs pos="100000">
              <a:srgbClr val="17448F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F54F5BA-E5BF-4D90-A0D3-9083AC42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2906" y="335756"/>
            <a:ext cx="17502188" cy="9615488"/>
          </a:xfrm>
          <a:custGeom xmlns:a="http://schemas.openxmlformats.org/drawingml/2006/main">
            <a:rect l="l" t="t" r="r" b="b"/>
            <a:pathLst>
              <a:path w="23336250" h="12820650">
                <a:moveTo>
                  <a:pt x="0" y="305308"/>
                </a:moveTo>
                <a:cubicBezTo>
                  <a:pt x="0" y="136652"/>
                  <a:pt x="136652" y="0"/>
                  <a:pt x="305308" y="0"/>
                </a:cubicBezTo>
                <a:lnTo>
                  <a:pt x="23030942" y="0"/>
                </a:lnTo>
                <a:cubicBezTo>
                  <a:pt x="23199471" y="0"/>
                  <a:pt x="23336250" y="136652"/>
                  <a:pt x="23336250" y="305308"/>
                </a:cubicBezTo>
                <a:lnTo>
                  <a:pt x="23336250" y="12515342"/>
                </a:lnTo>
                <a:cubicBezTo>
                  <a:pt x="23336250" y="12683872"/>
                  <a:pt x="23199598" y="12820650"/>
                  <a:pt x="23030942" y="12820650"/>
                </a:cubicBezTo>
                <a:lnTo>
                  <a:pt x="305308" y="12820650"/>
                </a:lnTo>
                <a:cubicBezTo>
                  <a:pt x="136652" y="12820650"/>
                  <a:pt x="0" y="12683998"/>
                  <a:pt x="0" y="1251534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6EAF1"/>
            </a:solidFill>
            <a:prstDash val="solid"/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CEADC683-7D53-4B4D-8C39-5408131C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42925"/>
            <a:ext cx="16002000" cy="257175"/>
          </a:xfrm>
          <a:custGeom xmlns:a="http://schemas.openxmlformats.org/drawingml/2006/main">
            <a:rect l="l" t="t" r="r" b="b"/>
            <a:pathLst>
              <a:path w="21336000" h="342900">
                <a:moveTo>
                  <a:pt x="0" y="0"/>
                </a:moveTo>
                <a:lnTo>
                  <a:pt x="21336000" y="0"/>
                </a:lnTo>
                <a:lnTo>
                  <a:pt x="21336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b7b3743e1d468c">
              <a:alphaModFix amt="0"/>
            </a:blip>
            <a:stretch>
              <a:fillRect l="0" t="-1162402" r="0" b="-1162402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CA6F59F2-75E9-47F3-B527-809E76BC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528638"/>
            <a:ext cx="16002000" cy="2714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1237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05 자체평가의견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46069FA-06B8-405F-83D4-6A96110F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842962"/>
            <a:ext cx="16002000" cy="771525"/>
          </a:xfrm>
          <a:custGeom xmlns:a="http://schemas.openxmlformats.org/drawingml/2006/main">
            <a:rect l="l" t="t" r="r" b="b"/>
            <a:pathLst>
              <a:path w="21336000" h="1028700">
                <a:moveTo>
                  <a:pt x="0" y="0"/>
                </a:moveTo>
                <a:lnTo>
                  <a:pt x="21336000" y="0"/>
                </a:lnTo>
                <a:lnTo>
                  <a:pt x="21336000" y="1028700"/>
                </a:lnTo>
                <a:lnTo>
                  <a:pt x="0" y="10287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b7b3743e1d468c">
              <a:alphaModFix amt="0"/>
            </a:blip>
            <a:stretch>
              <a:fillRect l="0" t="-354134" r="0" b="-354134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F2CB1F16-CCEC-42D8-8280-4598ECAB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785812"/>
            <a:ext cx="16002000" cy="828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4455"/>
              </a:lnSpc>
              <a:buNone/>
            </a:pPr>
            <a:r>
              <a:rPr sz="3712">
                <a:solidFill>
                  <a:srgbClr val="202020"/>
                </a:solidFill>
                <a:latin typeface="Calibri (MS)"/>
                <a:ea typeface="Calibri (MS)"/>
                <a:cs typeface="Calibri (MS)"/>
              </a:rPr>
              <a:t>이제 ‘만들기’에서 ‘측정하고 개선하기’로 넘어갑니다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E122C4D-9324-473A-BF29-D3E22EE1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85912"/>
            <a:ext cx="14859000" cy="314325"/>
          </a:xfrm>
          <a:custGeom xmlns:a="http://schemas.openxmlformats.org/drawingml/2006/main">
            <a:rect l="l" t="t" r="r" b="b"/>
            <a:pathLst>
              <a:path w="19812000" h="419100">
                <a:moveTo>
                  <a:pt x="0" y="0"/>
                </a:moveTo>
                <a:lnTo>
                  <a:pt x="19812000" y="0"/>
                </a:lnTo>
                <a:lnTo>
                  <a:pt x="19812000" y="419100"/>
                </a:lnTo>
                <a:lnTo>
                  <a:pt x="0" y="4191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b7b3743e1d468c">
              <a:alphaModFix amt="0"/>
            </a:blip>
            <a:stretch>
              <a:fillRect l="0" t="-871110" r="0" b="-871110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D1086656-E838-4D24-985C-AF2144E4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14500" y="1571625"/>
            <a:ext cx="14859000" cy="3286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1485"/>
              </a:lnSpc>
              <a:buNone/>
            </a:pPr>
            <a:r>
              <a:rPr sz="2100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같은 Gold 테스트셋으로 검색 방식과 답변 정책을 반복 비교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1B05C9C-00A0-4132-B947-8A56D745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000" y="2114550"/>
            <a:ext cx="16002000" cy="14288"/>
          </a:xfrm>
          <a:custGeom xmlns:a="http://schemas.openxmlformats.org/drawingml/2006/main">
            <a:rect l="l" t="t" r="r" b="b"/>
            <a:pathLst>
              <a:path w="21336000" h="19050">
                <a:moveTo>
                  <a:pt x="0" y="0"/>
                </a:moveTo>
                <a:lnTo>
                  <a:pt x="21336000" y="0"/>
                </a:lnTo>
                <a:lnTo>
                  <a:pt x="213360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E613D2E8-4713-4D13-94E3-65D80FFC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9572625"/>
            <a:ext cx="16630650" cy="14288"/>
          </a:xfrm>
          <a:custGeom xmlns:a="http://schemas.openxmlformats.org/drawingml/2006/main">
            <a:rect l="l" t="t" r="r" b="b"/>
            <a:pathLst>
              <a:path w="22174200" h="19050">
                <a:moveTo>
                  <a:pt x="0" y="0"/>
                </a:moveTo>
                <a:lnTo>
                  <a:pt x="22174200" y="0"/>
                </a:lnTo>
                <a:lnTo>
                  <a:pt x="221742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D8DCE3"/>
          </a:solid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EBACED42-B290-4D9B-8561-6D6258B4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44062"/>
            <a:ext cx="8286750" cy="257175"/>
          </a:xfrm>
          <a:custGeom xmlns:a="http://schemas.openxmlformats.org/drawingml/2006/main">
            <a:rect l="l" t="t" r="r" b="b"/>
            <a:pathLst>
              <a:path w="11049000" h="342900">
                <a:moveTo>
                  <a:pt x="0" y="0"/>
                </a:moveTo>
                <a:lnTo>
                  <a:pt x="11049000" y="0"/>
                </a:lnTo>
                <a:lnTo>
                  <a:pt x="110490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b7b3743e1d468c">
              <a:alphaModFix amt="0"/>
            </a:blip>
            <a:stretch>
              <a:fillRect l="0" t="-577851" r="0" b="-577851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751D082E-A980-46EA-A5AC-E305E732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250" y="9622631"/>
            <a:ext cx="8286750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1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KDIC AI 챗봇 | 와쿠와쿠 6조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F6D6CD78-2B71-4DE1-864E-C00FADB7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44062"/>
            <a:ext cx="1000125" cy="257175"/>
          </a:xfrm>
          <a:custGeom xmlns:a="http://schemas.openxmlformats.org/drawingml/2006/main">
            <a:rect l="l" t="t" r="r" b="b"/>
            <a:pathLst>
              <a:path w="1333500" h="342900">
                <a:moveTo>
                  <a:pt x="0" y="0"/>
                </a:moveTo>
                <a:lnTo>
                  <a:pt x="1333500" y="0"/>
                </a:lnTo>
                <a:lnTo>
                  <a:pt x="1333500" y="342900"/>
                </a:lnTo>
                <a:lnTo>
                  <a:pt x="0" y="3429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b7b3743e1d468c">
              <a:alphaModFix amt="0"/>
            </a:blip>
            <a:stretch>
              <a:fillRect l="0" t="-25775" r="0" b="-25775"/>
            </a:stretch>
          </a:blipFill>
        </p:spPr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C71C54AF-F80B-4B82-892F-8E87933E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430625" y="9622631"/>
            <a:ext cx="1000125" cy="278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350"/>
              </a:lnSpc>
              <a:buNone/>
            </a:pPr>
            <a:r>
              <a:rPr sz="11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17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36412902-B2C0-49B2-BA1C-E2EA37CE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2921794"/>
            <a:ext cx="3157538" cy="1443038"/>
          </a:xfrm>
          <a:custGeom xmlns:a="http://schemas.openxmlformats.org/drawingml/2006/main">
            <a:rect l="l" t="t" r="r" b="b"/>
            <a:pathLst>
              <a:path w="4210050" h="1924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3979164" y="0"/>
                </a:lnTo>
                <a:cubicBezTo>
                  <a:pt x="4106672" y="0"/>
                  <a:pt x="4210050" y="103378"/>
                  <a:pt x="4210050" y="230886"/>
                </a:cubicBezTo>
                <a:lnTo>
                  <a:pt x="4210050" y="1693164"/>
                </a:lnTo>
                <a:cubicBezTo>
                  <a:pt x="4210050" y="1820672"/>
                  <a:pt x="4106672" y="1924050"/>
                  <a:pt x="39791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 xmlns:a="http://schemas.openxmlformats.org/drawingml/2006/main">
            <a:srgbClr val="2E63B7"/>
          </a:solidFill>
          <a:ln xmlns:a="http://schemas.openxmlformats.org/drawingml/2006/main" w="14288">
            <a:solidFill>
              <a:srgbClr val="2E63B7"/>
            </a:solidFill>
            <a:prstDash val="solid"/>
          </a:ln>
        </p:spPr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0B88B3AF-DD6A-45D2-BF9B-F3754FCC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812" y="3186112"/>
            <a:ext cx="2714625" cy="914400"/>
          </a:xfrm>
          <a:custGeom xmlns:a="http://schemas.openxmlformats.org/drawingml/2006/main">
            <a:rect l="l" t="t" r="r" b="b"/>
            <a:pathLst>
              <a:path w="3619500" h="1219200">
                <a:moveTo>
                  <a:pt x="0" y="0"/>
                </a:moveTo>
                <a:lnTo>
                  <a:pt x="3619500" y="0"/>
                </a:lnTo>
                <a:lnTo>
                  <a:pt x="3619500" y="1219200"/>
                </a:lnTo>
                <a:lnTo>
                  <a:pt x="0" y="12192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b7b3743e1d468c">
              <a:alphaModFix amt="0"/>
            </a:blip>
            <a:stretch>
              <a:fillRect l="0" t="-7846" r="0" b="-7846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EFFCE36F-4150-4F2A-A713-B8854616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812" y="3157537"/>
            <a:ext cx="2714625" cy="942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30"/>
              </a:lnSpc>
              <a:buNone/>
            </a:pPr>
            <a:r>
              <a:rPr sz="202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rPr>
              <a:t>01 검색 품질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8BA9EC8-E611-48AB-9745-FBAE7408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0481" y="2921794"/>
            <a:ext cx="4300538" cy="1443038"/>
          </a:xfrm>
          <a:custGeom xmlns:a="http://schemas.openxmlformats.org/drawingml/2006/main">
            <a:rect l="l" t="t" r="r" b="b"/>
            <a:pathLst>
              <a:path w="5734050" h="1924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5503164" y="0"/>
                </a:lnTo>
                <a:cubicBezTo>
                  <a:pt x="5630672" y="0"/>
                  <a:pt x="5734050" y="103378"/>
                  <a:pt x="5734050" y="230886"/>
                </a:cubicBezTo>
                <a:lnTo>
                  <a:pt x="5734050" y="1693164"/>
                </a:lnTo>
                <a:cubicBezTo>
                  <a:pt x="5734050" y="1820672"/>
                  <a:pt x="5630672" y="1924050"/>
                  <a:pt x="55031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A41B365C-272B-49AE-A15F-963DF1C7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1938" y="3186112"/>
            <a:ext cx="3857625" cy="914400"/>
          </a:xfrm>
          <a:custGeom xmlns:a="http://schemas.openxmlformats.org/drawingml/2006/main">
            <a:rect l="l" t="t" r="r" b="b"/>
            <a:pathLst>
              <a:path w="5143500" h="1219200">
                <a:moveTo>
                  <a:pt x="0" y="0"/>
                </a:moveTo>
                <a:lnTo>
                  <a:pt x="5143500" y="0"/>
                </a:lnTo>
                <a:lnTo>
                  <a:pt x="5143500" y="1219200"/>
                </a:lnTo>
                <a:lnTo>
                  <a:pt x="0" y="12192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b7b3743e1d468c">
              <a:alphaModFix amt="0"/>
            </a:blip>
            <a:stretch>
              <a:fillRect l="0" t="-32202" r="0" b="-32202"/>
            </a:stretch>
          </a:blip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74DDC596-E3E1-4073-B751-3E77F528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1938" y="3157537"/>
            <a:ext cx="3857625" cy="942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Dense 검색 중심
비교 기준 부족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EED04988-DD35-4CE5-BF5D-EDBA85F9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79606" y="2921794"/>
            <a:ext cx="5157788" cy="1443038"/>
          </a:xfrm>
          <a:custGeom xmlns:a="http://schemas.openxmlformats.org/drawingml/2006/main">
            <a:rect l="l" t="t" r="r" b="b"/>
            <a:pathLst>
              <a:path w="6877050" h="1924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6646164" y="0"/>
                </a:lnTo>
                <a:cubicBezTo>
                  <a:pt x="6773672" y="0"/>
                  <a:pt x="6877050" y="103378"/>
                  <a:pt x="6877050" y="230886"/>
                </a:cubicBezTo>
                <a:lnTo>
                  <a:pt x="6877050" y="1693164"/>
                </a:lnTo>
                <a:cubicBezTo>
                  <a:pt x="6877050" y="1820672"/>
                  <a:pt x="6773672" y="1924050"/>
                  <a:pt x="66461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A9DBAEA2-C76F-4D56-A3EB-4254E575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1062" y="3186112"/>
            <a:ext cx="4714875" cy="914400"/>
          </a:xfrm>
          <a:custGeom xmlns:a="http://schemas.openxmlformats.org/drawingml/2006/main">
            <a:rect l="l" t="t" r="r" b="b"/>
            <a:pathLst>
              <a:path w="6286500" h="1219200">
                <a:moveTo>
                  <a:pt x="0" y="0"/>
                </a:moveTo>
                <a:lnTo>
                  <a:pt x="6286500" y="0"/>
                </a:lnTo>
                <a:lnTo>
                  <a:pt x="6286500" y="1219200"/>
                </a:lnTo>
                <a:lnTo>
                  <a:pt x="0" y="12192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b7b3743e1d468c">
              <a:alphaModFix amt="0"/>
            </a:blip>
            <a:stretch>
              <a:fillRect l="0" t="-50469" r="0" b="-50469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AD534229-8364-46B4-992D-25FE4415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1062" y="3157537"/>
            <a:ext cx="4714875" cy="942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Keyword·Hybrid
Reranking A/B 평가</a:t>
            </a:r>
          </a:p>
        </p:txBody>
      </p:sp>
      <p:sp>
        <p:nvSpPr>
          <p:cNvPr id="39" name="Freeform 39">
            <a:extLst xmlns:a="http://schemas.openxmlformats.org/drawingml/2006/main">
              <a:ext uri="{FF2B5EF4-FFF2-40B4-BE49-F238E27FC236}">
                <a16:creationId xmlns:a16="http://schemas.microsoft.com/office/drawing/2014/main" id="{0E2A7284-4F8A-418C-9555-434DCF64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5981" y="2921794"/>
            <a:ext cx="3586162" cy="1443038"/>
          </a:xfrm>
          <a:custGeom xmlns:a="http://schemas.openxmlformats.org/drawingml/2006/main">
            <a:rect l="l" t="t" r="r" b="b"/>
            <a:pathLst>
              <a:path w="4781550" h="1924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4550664" y="0"/>
                </a:lnTo>
                <a:cubicBezTo>
                  <a:pt x="4678172" y="0"/>
                  <a:pt x="4781550" y="103378"/>
                  <a:pt x="4781550" y="230886"/>
                </a:cubicBezTo>
                <a:lnTo>
                  <a:pt x="4781550" y="1693164"/>
                </a:lnTo>
                <a:cubicBezTo>
                  <a:pt x="4781550" y="1820672"/>
                  <a:pt x="4678172" y="1924050"/>
                  <a:pt x="45506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D1B6FA4F-9C70-458B-8AE1-D1FEEB82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7438" y="3186112"/>
            <a:ext cx="3143250" cy="914400"/>
          </a:xfrm>
          <a:custGeom xmlns:a="http://schemas.openxmlformats.org/drawingml/2006/main">
            <a:rect l="l" t="t" r="r" b="b"/>
            <a:pathLst>
              <a:path w="4191000" h="1219200">
                <a:moveTo>
                  <a:pt x="0" y="0"/>
                </a:moveTo>
                <a:lnTo>
                  <a:pt x="4191000" y="0"/>
                </a:lnTo>
                <a:lnTo>
                  <a:pt x="4191000" y="1219200"/>
                </a:lnTo>
                <a:lnTo>
                  <a:pt x="0" y="12192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b7b3743e1d468c">
              <a:alphaModFix amt="0"/>
            </a:blip>
            <a:stretch>
              <a:fillRect l="0" t="-16979" r="0" b="-16979"/>
            </a:stretch>
          </a:blipFill>
        </p:spPr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84162D44-57E4-43D1-B431-DD1139B6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7438" y="3157537"/>
            <a:ext cx="3143250" cy="942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정답 청크 적중 향상
업무 혼입 감소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8EC42B67-97F9-4BAA-9B53-21869658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4850606"/>
            <a:ext cx="3157538" cy="1443038"/>
          </a:xfrm>
          <a:custGeom xmlns:a="http://schemas.openxmlformats.org/drawingml/2006/main">
            <a:rect l="l" t="t" r="r" b="b"/>
            <a:pathLst>
              <a:path w="4210050" h="1924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3979164" y="0"/>
                </a:lnTo>
                <a:cubicBezTo>
                  <a:pt x="4106672" y="0"/>
                  <a:pt x="4210050" y="103378"/>
                  <a:pt x="4210050" y="230886"/>
                </a:cubicBezTo>
                <a:lnTo>
                  <a:pt x="4210050" y="1693164"/>
                </a:lnTo>
                <a:cubicBezTo>
                  <a:pt x="4210050" y="1820672"/>
                  <a:pt x="4106672" y="1924050"/>
                  <a:pt x="39791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 xmlns:a="http://schemas.openxmlformats.org/drawingml/2006/main">
            <a:srgbClr val="2E63B7"/>
          </a:solidFill>
          <a:ln xmlns:a="http://schemas.openxmlformats.org/drawingml/2006/main" w="14288">
            <a:solidFill>
              <a:srgbClr val="2E63B7"/>
            </a:solidFill>
            <a:prstDash val="solid"/>
          </a:ln>
        </p:spPr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55B76145-514B-462C-BB62-B97BD251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812" y="5114925"/>
            <a:ext cx="2714625" cy="914400"/>
          </a:xfrm>
          <a:custGeom xmlns:a="http://schemas.openxmlformats.org/drawingml/2006/main">
            <a:rect l="l" t="t" r="r" b="b"/>
            <a:pathLst>
              <a:path w="3619500" h="1219200">
                <a:moveTo>
                  <a:pt x="0" y="0"/>
                </a:moveTo>
                <a:lnTo>
                  <a:pt x="3619500" y="0"/>
                </a:lnTo>
                <a:lnTo>
                  <a:pt x="3619500" y="1219200"/>
                </a:lnTo>
                <a:lnTo>
                  <a:pt x="0" y="12192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b7b3743e1d468c">
              <a:alphaModFix amt="0"/>
            </a:blip>
            <a:stretch>
              <a:fillRect l="0" t="-7846" r="0" b="-7846"/>
            </a:stretch>
          </a:blipFill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056C6E75-E281-4331-9EBF-D6B39F3A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812" y="5086350"/>
            <a:ext cx="2714625" cy="942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30"/>
              </a:lnSpc>
              <a:buNone/>
            </a:pPr>
            <a:r>
              <a:rPr sz="202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rPr>
              <a:t>02 답변 안전성</a:t>
            </a:r>
          </a:p>
        </p:txBody>
      </p:sp>
      <p:sp>
        <p:nvSpPr>
          <p:cNvPr id="49" name="Freeform 49">
            <a:extLst xmlns:a="http://schemas.openxmlformats.org/drawingml/2006/main">
              <a:ext uri="{FF2B5EF4-FFF2-40B4-BE49-F238E27FC236}">
                <a16:creationId xmlns:a16="http://schemas.microsoft.com/office/drawing/2014/main" id="{13F6E675-8F1E-42B8-980E-7750B14D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0481" y="4850606"/>
            <a:ext cx="4300538" cy="1443038"/>
          </a:xfrm>
          <a:custGeom xmlns:a="http://schemas.openxmlformats.org/drawingml/2006/main">
            <a:rect l="l" t="t" r="r" b="b"/>
            <a:pathLst>
              <a:path w="5734050" h="1924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5503164" y="0"/>
                </a:lnTo>
                <a:cubicBezTo>
                  <a:pt x="5630672" y="0"/>
                  <a:pt x="5734050" y="103378"/>
                  <a:pt x="5734050" y="230886"/>
                </a:cubicBezTo>
                <a:lnTo>
                  <a:pt x="5734050" y="1693164"/>
                </a:lnTo>
                <a:cubicBezTo>
                  <a:pt x="5734050" y="1820672"/>
                  <a:pt x="5630672" y="1924050"/>
                  <a:pt x="55031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FB0D72DD-AA4E-4BFE-88FA-47CAB8B3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1938" y="5114925"/>
            <a:ext cx="3857625" cy="914400"/>
          </a:xfrm>
          <a:custGeom xmlns:a="http://schemas.openxmlformats.org/drawingml/2006/main">
            <a:rect l="l" t="t" r="r" b="b"/>
            <a:pathLst>
              <a:path w="5143500" h="1219200">
                <a:moveTo>
                  <a:pt x="0" y="0"/>
                </a:moveTo>
                <a:lnTo>
                  <a:pt x="5143500" y="0"/>
                </a:lnTo>
                <a:lnTo>
                  <a:pt x="5143500" y="1219200"/>
                </a:lnTo>
                <a:lnTo>
                  <a:pt x="0" y="12192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b7b3743e1d468c">
              <a:alphaModFix amt="0"/>
            </a:blip>
            <a:stretch>
              <a:fillRect l="0" t="-32202" r="0" b="-32202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9B2DA13F-941F-47E0-839A-70AD819B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1938" y="5086350"/>
            <a:ext cx="3857625" cy="942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민원 절차·서류·링크
종단 검증 필요</a:t>
            </a:r>
          </a:p>
        </p:txBody>
      </p:sp>
      <p:sp>
        <p:nvSpPr>
          <p:cNvPr id="54" name="Freeform 54">
            <a:extLst xmlns:a="http://schemas.openxmlformats.org/drawingml/2006/main">
              <a:ext uri="{FF2B5EF4-FFF2-40B4-BE49-F238E27FC236}">
                <a16:creationId xmlns:a16="http://schemas.microsoft.com/office/drawing/2014/main" id="{3DA13DC9-4A50-4264-870C-B2B88C4F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79606" y="4850606"/>
            <a:ext cx="5157788" cy="1443038"/>
          </a:xfrm>
          <a:custGeom xmlns:a="http://schemas.openxmlformats.org/drawingml/2006/main">
            <a:rect l="l" t="t" r="r" b="b"/>
            <a:pathLst>
              <a:path w="6877050" h="1924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6646164" y="0"/>
                </a:lnTo>
                <a:cubicBezTo>
                  <a:pt x="6773672" y="0"/>
                  <a:pt x="6877050" y="103378"/>
                  <a:pt x="6877050" y="230886"/>
                </a:cubicBezTo>
                <a:lnTo>
                  <a:pt x="6877050" y="1693164"/>
                </a:lnTo>
                <a:cubicBezTo>
                  <a:pt x="6877050" y="1820672"/>
                  <a:pt x="6773672" y="1924050"/>
                  <a:pt x="66461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56" name="Freeform 56">
            <a:extLst xmlns:a="http://schemas.openxmlformats.org/drawingml/2006/main">
              <a:ext uri="{FF2B5EF4-FFF2-40B4-BE49-F238E27FC236}">
                <a16:creationId xmlns:a16="http://schemas.microsoft.com/office/drawing/2014/main" id="{0018A9EA-5270-4829-A191-7D283795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1062" y="5114925"/>
            <a:ext cx="4714875" cy="914400"/>
          </a:xfrm>
          <a:custGeom xmlns:a="http://schemas.openxmlformats.org/drawingml/2006/main">
            <a:rect l="l" t="t" r="r" b="b"/>
            <a:pathLst>
              <a:path w="6286500" h="1219200">
                <a:moveTo>
                  <a:pt x="0" y="0"/>
                </a:moveTo>
                <a:lnTo>
                  <a:pt x="6286500" y="0"/>
                </a:lnTo>
                <a:lnTo>
                  <a:pt x="6286500" y="1219200"/>
                </a:lnTo>
                <a:lnTo>
                  <a:pt x="0" y="12192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b7b3743e1d468c">
              <a:alphaModFix amt="0"/>
            </a:blip>
            <a:stretch>
              <a:fillRect l="0" t="-50469" r="0" b="-50469"/>
            </a:stretch>
          </a:blipFill>
        </p:spPr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D9B39917-CA4A-4F46-A07D-D490E58D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1062" y="5086350"/>
            <a:ext cx="4714875" cy="942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응답정책 검증기
대표 민원 E2E 평가</a:t>
            </a:r>
          </a:p>
        </p:txBody>
      </p:sp>
      <p:sp>
        <p:nvSpPr>
          <p:cNvPr id="59" name="Freeform 59">
            <a:extLst xmlns:a="http://schemas.openxmlformats.org/drawingml/2006/main">
              <a:ext uri="{FF2B5EF4-FFF2-40B4-BE49-F238E27FC236}">
                <a16:creationId xmlns:a16="http://schemas.microsoft.com/office/drawing/2014/main" id="{9FEB3ED2-5BC6-4882-BDF9-88919DCE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5981" y="4850606"/>
            <a:ext cx="3586162" cy="1443038"/>
          </a:xfrm>
          <a:custGeom xmlns:a="http://schemas.openxmlformats.org/drawingml/2006/main">
            <a:rect l="l" t="t" r="r" b="b"/>
            <a:pathLst>
              <a:path w="4781550" h="1924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4550664" y="0"/>
                </a:lnTo>
                <a:cubicBezTo>
                  <a:pt x="4678172" y="0"/>
                  <a:pt x="4781550" y="103378"/>
                  <a:pt x="4781550" y="230886"/>
                </a:cubicBezTo>
                <a:lnTo>
                  <a:pt x="4781550" y="1693164"/>
                </a:lnTo>
                <a:cubicBezTo>
                  <a:pt x="4781550" y="1820672"/>
                  <a:pt x="4678172" y="1924050"/>
                  <a:pt x="45506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61" name="Freeform 61">
            <a:extLst xmlns:a="http://schemas.openxmlformats.org/drawingml/2006/main">
              <a:ext uri="{FF2B5EF4-FFF2-40B4-BE49-F238E27FC236}">
                <a16:creationId xmlns:a16="http://schemas.microsoft.com/office/drawing/2014/main" id="{EC518057-5988-4309-8BA7-9A80A841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7438" y="5114925"/>
            <a:ext cx="3143250" cy="914400"/>
          </a:xfrm>
          <a:custGeom xmlns:a="http://schemas.openxmlformats.org/drawingml/2006/main">
            <a:rect l="l" t="t" r="r" b="b"/>
            <a:pathLst>
              <a:path w="4191000" h="1219200">
                <a:moveTo>
                  <a:pt x="0" y="0"/>
                </a:moveTo>
                <a:lnTo>
                  <a:pt x="4191000" y="0"/>
                </a:lnTo>
                <a:lnTo>
                  <a:pt x="4191000" y="1219200"/>
                </a:lnTo>
                <a:lnTo>
                  <a:pt x="0" y="12192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b7b3743e1d468c">
              <a:alphaModFix amt="0"/>
            </a:blip>
            <a:stretch>
              <a:fillRect l="0" t="-16979" r="0" b="-16979"/>
            </a:stretch>
          </a:blipFill>
        </p:spPr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86C6BA01-BB05-4114-A837-9097F0CF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7438" y="5086350"/>
            <a:ext cx="3143250" cy="942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누락·환각 위험 감소
신청 동선 완성</a:t>
            </a:r>
          </a:p>
        </p:txBody>
      </p:sp>
      <p:sp>
        <p:nvSpPr>
          <p:cNvPr id="64" name="Freeform 64">
            <a:extLst xmlns:a="http://schemas.openxmlformats.org/drawingml/2006/main">
              <a:ext uri="{FF2B5EF4-FFF2-40B4-BE49-F238E27FC236}">
                <a16:creationId xmlns:a16="http://schemas.microsoft.com/office/drawing/2014/main" id="{F9E87357-312E-4C98-9F1F-352645AD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6779419"/>
            <a:ext cx="3157538" cy="1443038"/>
          </a:xfrm>
          <a:custGeom xmlns:a="http://schemas.openxmlformats.org/drawingml/2006/main">
            <a:rect l="l" t="t" r="r" b="b"/>
            <a:pathLst>
              <a:path w="4210050" h="1924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3979164" y="0"/>
                </a:lnTo>
                <a:cubicBezTo>
                  <a:pt x="4106672" y="0"/>
                  <a:pt x="4210050" y="103378"/>
                  <a:pt x="4210050" y="230886"/>
                </a:cubicBezTo>
                <a:lnTo>
                  <a:pt x="4210050" y="1693164"/>
                </a:lnTo>
                <a:cubicBezTo>
                  <a:pt x="4210050" y="1820672"/>
                  <a:pt x="4106672" y="1924050"/>
                  <a:pt x="39791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 xmlns:a="http://schemas.openxmlformats.org/drawingml/2006/main">
            <a:srgbClr val="2E63B7"/>
          </a:solidFill>
          <a:ln xmlns:a="http://schemas.openxmlformats.org/drawingml/2006/main" w="14288">
            <a:solidFill>
              <a:srgbClr val="2E63B7"/>
            </a:solidFill>
            <a:prstDash val="solid"/>
          </a:ln>
        </p:spPr>
      </p:sp>
      <p:sp>
        <p:nvSpPr>
          <p:cNvPr id="66" name="Freeform 66">
            <a:extLst xmlns:a="http://schemas.openxmlformats.org/drawingml/2006/main">
              <a:ext uri="{FF2B5EF4-FFF2-40B4-BE49-F238E27FC236}">
                <a16:creationId xmlns:a16="http://schemas.microsoft.com/office/drawing/2014/main" id="{ADE09D85-61A6-4557-88A0-A8849B32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812" y="7043738"/>
            <a:ext cx="2714625" cy="914400"/>
          </a:xfrm>
          <a:custGeom xmlns:a="http://schemas.openxmlformats.org/drawingml/2006/main">
            <a:rect l="l" t="t" r="r" b="b"/>
            <a:pathLst>
              <a:path w="3619500" h="1219200">
                <a:moveTo>
                  <a:pt x="0" y="0"/>
                </a:moveTo>
                <a:lnTo>
                  <a:pt x="3619500" y="0"/>
                </a:lnTo>
                <a:lnTo>
                  <a:pt x="3619500" y="1219200"/>
                </a:lnTo>
                <a:lnTo>
                  <a:pt x="0" y="12192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b7b3743e1d468c">
              <a:alphaModFix amt="0"/>
            </a:blip>
            <a:stretch>
              <a:fillRect l="0" t="-7846" r="0" b="-7846"/>
            </a:stretch>
          </a:blipFill>
        </p:spPr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F5F16A24-316A-4B5D-9618-14B9991F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5812" y="7015163"/>
            <a:ext cx="2714625" cy="942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430"/>
              </a:lnSpc>
              <a:buNone/>
            </a:pPr>
            <a:r>
              <a:rPr sz="202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</a:rPr>
              <a:t>03 운영 안정성</a:t>
            </a:r>
          </a:p>
        </p:txBody>
      </p:sp>
      <p:sp>
        <p:nvSpPr>
          <p:cNvPr id="69" name="Freeform 69">
            <a:extLst xmlns:a="http://schemas.openxmlformats.org/drawingml/2006/main">
              <a:ext uri="{FF2B5EF4-FFF2-40B4-BE49-F238E27FC236}">
                <a16:creationId xmlns:a16="http://schemas.microsoft.com/office/drawing/2014/main" id="{4CBAA331-0B6B-41C1-A607-D36FA9B7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0481" y="6779419"/>
            <a:ext cx="4300538" cy="1443038"/>
          </a:xfrm>
          <a:custGeom xmlns:a="http://schemas.openxmlformats.org/drawingml/2006/main">
            <a:rect l="l" t="t" r="r" b="b"/>
            <a:pathLst>
              <a:path w="5734050" h="1924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5503164" y="0"/>
                </a:lnTo>
                <a:cubicBezTo>
                  <a:pt x="5630672" y="0"/>
                  <a:pt x="5734050" y="103378"/>
                  <a:pt x="5734050" y="230886"/>
                </a:cubicBezTo>
                <a:lnTo>
                  <a:pt x="5734050" y="1693164"/>
                </a:lnTo>
                <a:cubicBezTo>
                  <a:pt x="5734050" y="1820672"/>
                  <a:pt x="5630672" y="1924050"/>
                  <a:pt x="55031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71" name="Freeform 71">
            <a:extLst xmlns:a="http://schemas.openxmlformats.org/drawingml/2006/main">
              <a:ext uri="{FF2B5EF4-FFF2-40B4-BE49-F238E27FC236}">
                <a16:creationId xmlns:a16="http://schemas.microsoft.com/office/drawing/2014/main" id="{4072A492-139B-4C1D-840B-A9629A06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1938" y="7043738"/>
            <a:ext cx="3857625" cy="914400"/>
          </a:xfrm>
          <a:custGeom xmlns:a="http://schemas.openxmlformats.org/drawingml/2006/main">
            <a:rect l="l" t="t" r="r" b="b"/>
            <a:pathLst>
              <a:path w="5143500" h="1219200">
                <a:moveTo>
                  <a:pt x="0" y="0"/>
                </a:moveTo>
                <a:lnTo>
                  <a:pt x="5143500" y="0"/>
                </a:lnTo>
                <a:lnTo>
                  <a:pt x="5143500" y="1219200"/>
                </a:lnTo>
                <a:lnTo>
                  <a:pt x="0" y="12192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b7b3743e1d468c">
              <a:alphaModFix amt="0"/>
            </a:blip>
            <a:stretch>
              <a:fillRect l="0" t="-32202" r="0" b="-32202"/>
            </a:stretch>
          </a:blipFill>
        </p:spPr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477FB6A2-C09C-432E-8500-E143E806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1938" y="7015163"/>
            <a:ext cx="3857625" cy="942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프로토타입 단계
운영 보호장치 부족</a:t>
            </a:r>
          </a:p>
        </p:txBody>
      </p:sp>
      <p:sp>
        <p:nvSpPr>
          <p:cNvPr id="74" name="Freeform 74">
            <a:extLst xmlns:a="http://schemas.openxmlformats.org/drawingml/2006/main">
              <a:ext uri="{FF2B5EF4-FFF2-40B4-BE49-F238E27FC236}">
                <a16:creationId xmlns:a16="http://schemas.microsoft.com/office/drawing/2014/main" id="{1F79CBE7-CB5A-45C8-A63D-1305A399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79606" y="6779419"/>
            <a:ext cx="5157788" cy="1443038"/>
          </a:xfrm>
          <a:custGeom xmlns:a="http://schemas.openxmlformats.org/drawingml/2006/main">
            <a:rect l="l" t="t" r="r" b="b"/>
            <a:pathLst>
              <a:path w="6877050" h="1924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6646164" y="0"/>
                </a:lnTo>
                <a:cubicBezTo>
                  <a:pt x="6773672" y="0"/>
                  <a:pt x="6877050" y="103378"/>
                  <a:pt x="6877050" y="230886"/>
                </a:cubicBezTo>
                <a:lnTo>
                  <a:pt x="6877050" y="1693164"/>
                </a:lnTo>
                <a:cubicBezTo>
                  <a:pt x="6877050" y="1820672"/>
                  <a:pt x="6773672" y="1924050"/>
                  <a:pt x="66461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 xmlns:a="http://schemas.openxmlformats.org/drawingml/2006/main">
            <a:srgbClr val="EAF1FB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76" name="Freeform 76">
            <a:extLst xmlns:a="http://schemas.openxmlformats.org/drawingml/2006/main">
              <a:ext uri="{FF2B5EF4-FFF2-40B4-BE49-F238E27FC236}">
                <a16:creationId xmlns:a16="http://schemas.microsoft.com/office/drawing/2014/main" id="{AA32800F-F277-4FF1-B9E6-7A5204DE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1062" y="7043738"/>
            <a:ext cx="4714875" cy="914400"/>
          </a:xfrm>
          <a:custGeom xmlns:a="http://schemas.openxmlformats.org/drawingml/2006/main">
            <a:rect l="l" t="t" r="r" b="b"/>
            <a:pathLst>
              <a:path w="6286500" h="1219200">
                <a:moveTo>
                  <a:pt x="0" y="0"/>
                </a:moveTo>
                <a:lnTo>
                  <a:pt x="6286500" y="0"/>
                </a:lnTo>
                <a:lnTo>
                  <a:pt x="6286500" y="1219200"/>
                </a:lnTo>
                <a:lnTo>
                  <a:pt x="0" y="12192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b7b3743e1d468c">
              <a:alphaModFix amt="0"/>
            </a:blip>
            <a:stretch>
              <a:fillRect l="0" t="-50469" r="0" b="-50469"/>
            </a:stretch>
          </a:blipFill>
        </p:spPr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5646CAAD-941C-4119-90C4-3F4992DC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1062" y="7015163"/>
            <a:ext cx="4714875" cy="942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사용량 제한·캐시·로그
개인정보 안내</a:t>
            </a:r>
          </a:p>
        </p:txBody>
      </p:sp>
      <p:sp>
        <p:nvSpPr>
          <p:cNvPr id="79" name="Freeform 79">
            <a:extLst xmlns:a="http://schemas.openxmlformats.org/drawingml/2006/main">
              <a:ext uri="{FF2B5EF4-FFF2-40B4-BE49-F238E27FC236}">
                <a16:creationId xmlns:a16="http://schemas.microsoft.com/office/drawing/2014/main" id="{1CAA5E69-A3D6-4059-B14F-B737A5E4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565981" y="6779419"/>
            <a:ext cx="3586162" cy="1443038"/>
          </a:xfrm>
          <a:custGeom xmlns:a="http://schemas.openxmlformats.org/drawingml/2006/main">
            <a:rect l="l" t="t" r="r" b="b"/>
            <a:pathLst>
              <a:path w="4781550" h="1924050">
                <a:moveTo>
                  <a:pt x="0" y="230886"/>
                </a:moveTo>
                <a:cubicBezTo>
                  <a:pt x="0" y="103378"/>
                  <a:pt x="103378" y="0"/>
                  <a:pt x="230886" y="0"/>
                </a:cubicBezTo>
                <a:lnTo>
                  <a:pt x="4550664" y="0"/>
                </a:lnTo>
                <a:cubicBezTo>
                  <a:pt x="4678172" y="0"/>
                  <a:pt x="4781550" y="103378"/>
                  <a:pt x="4781550" y="230886"/>
                </a:cubicBezTo>
                <a:lnTo>
                  <a:pt x="4781550" y="1693164"/>
                </a:lnTo>
                <a:cubicBezTo>
                  <a:pt x="4781550" y="1820672"/>
                  <a:pt x="4678172" y="1924050"/>
                  <a:pt x="4550664" y="1924050"/>
                </a:cubicBezTo>
                <a:lnTo>
                  <a:pt x="230886" y="1924050"/>
                </a:lnTo>
                <a:cubicBezTo>
                  <a:pt x="103378" y="1924050"/>
                  <a:pt x="0" y="1820672"/>
                  <a:pt x="0" y="169316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81" name="Freeform 81">
            <a:extLst xmlns:a="http://schemas.openxmlformats.org/drawingml/2006/main">
              <a:ext uri="{FF2B5EF4-FFF2-40B4-BE49-F238E27FC236}">
                <a16:creationId xmlns:a16="http://schemas.microsoft.com/office/drawing/2014/main" id="{E3CAE950-8886-4C1C-9F17-F4838393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7438" y="7043738"/>
            <a:ext cx="3143250" cy="914400"/>
          </a:xfrm>
          <a:custGeom xmlns:a="http://schemas.openxmlformats.org/drawingml/2006/main">
            <a:rect l="l" t="t" r="r" b="b"/>
            <a:pathLst>
              <a:path w="4191000" h="1219200">
                <a:moveTo>
                  <a:pt x="0" y="0"/>
                </a:moveTo>
                <a:lnTo>
                  <a:pt x="4191000" y="0"/>
                </a:lnTo>
                <a:lnTo>
                  <a:pt x="4191000" y="1219200"/>
                </a:lnTo>
                <a:lnTo>
                  <a:pt x="0" y="12192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b7b3743e1d468c">
              <a:alphaModFix amt="0"/>
            </a:blip>
            <a:stretch>
              <a:fillRect l="0" t="-16979" r="0" b="-16979"/>
            </a:stretch>
          </a:blipFill>
        </p:spPr>
      </p:sp>
      <p:sp>
        <p:nvSpPr>
          <p:cNvPr id="82" name="TextBox 82">
            <a:extLst xmlns:a="http://schemas.openxmlformats.org/drawingml/2006/main">
              <a:ext uri="{FF2B5EF4-FFF2-40B4-BE49-F238E27FC236}">
                <a16:creationId xmlns:a16="http://schemas.microsoft.com/office/drawing/2014/main" id="{63B7485D-FD4D-4331-AB32-635C7052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787438" y="7015163"/>
            <a:ext cx="3143250" cy="942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160"/>
              </a:lnSpc>
              <a:buNone/>
            </a:pPr>
            <a:r>
              <a:rPr sz="2025">
                <a:solidFill>
                  <a:srgbClr val="9299A3"/>
                </a:solidFill>
                <a:latin typeface="Calibri (MS)"/>
                <a:ea typeface="Calibri (MS)"/>
                <a:cs typeface="Calibri (MS)"/>
              </a:rPr>
              <a:t>비용·부하 안정화
운영 가능한 데모</a:t>
            </a:r>
          </a:p>
        </p:txBody>
      </p:sp>
      <p:sp>
        <p:nvSpPr>
          <p:cNvPr id="84" name="Freeform 84">
            <a:extLst xmlns:a="http://schemas.openxmlformats.org/drawingml/2006/main">
              <a:ext uri="{FF2B5EF4-FFF2-40B4-BE49-F238E27FC236}">
                <a16:creationId xmlns:a16="http://schemas.microsoft.com/office/drawing/2014/main" id="{10E08198-DA6E-4EE9-A315-4607B7BE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4356" y="8922544"/>
            <a:ext cx="16587788" cy="514350"/>
          </a:xfrm>
          <a:custGeom xmlns:a="http://schemas.openxmlformats.org/drawingml/2006/main">
            <a:rect l="l" t="t" r="r" b="b"/>
            <a:pathLst>
              <a:path w="22117050" h="685800">
                <a:moveTo>
                  <a:pt x="0" y="235077"/>
                </a:moveTo>
                <a:cubicBezTo>
                  <a:pt x="0" y="105283"/>
                  <a:pt x="105283" y="0"/>
                  <a:pt x="235077" y="0"/>
                </a:cubicBezTo>
                <a:lnTo>
                  <a:pt x="21881973" y="0"/>
                </a:lnTo>
                <a:cubicBezTo>
                  <a:pt x="22011894" y="0"/>
                  <a:pt x="22117050" y="105283"/>
                  <a:pt x="22117050" y="235077"/>
                </a:cubicBezTo>
                <a:lnTo>
                  <a:pt x="22117050" y="450723"/>
                </a:lnTo>
                <a:cubicBezTo>
                  <a:pt x="22117050" y="580644"/>
                  <a:pt x="22011767" y="685800"/>
                  <a:pt x="21881973" y="685800"/>
                </a:cubicBezTo>
                <a:lnTo>
                  <a:pt x="235077" y="685800"/>
                </a:lnTo>
                <a:cubicBezTo>
                  <a:pt x="105283" y="685800"/>
                  <a:pt x="0" y="580517"/>
                  <a:pt x="0" y="450723"/>
                </a:cubicBezTo>
                <a:close/>
              </a:path>
            </a:pathLst>
          </a:custGeom>
          <a:solidFill xmlns:a="http://schemas.openxmlformats.org/drawingml/2006/main">
            <a:srgbClr val="F2F3F5"/>
          </a:solidFill>
          <a:ln xmlns:a="http://schemas.openxmlformats.org/drawingml/2006/main" w="14288">
            <a:solidFill>
              <a:srgbClr val="D8DCE3"/>
            </a:solidFill>
            <a:prstDash val="solid"/>
          </a:ln>
        </p:spPr>
      </p:sp>
      <p:sp>
        <p:nvSpPr>
          <p:cNvPr id="86" name="Freeform 86">
            <a:extLst xmlns:a="http://schemas.openxmlformats.org/drawingml/2006/main">
              <a:ext uri="{FF2B5EF4-FFF2-40B4-BE49-F238E27FC236}">
                <a16:creationId xmlns:a16="http://schemas.microsoft.com/office/drawing/2014/main" id="{77E8B8FC-BA5C-4571-81EB-DD758428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9015412"/>
            <a:ext cx="16059150" cy="328612"/>
          </a:xfrm>
          <a:custGeom xmlns:a="http://schemas.openxmlformats.org/drawingml/2006/main">
            <a:rect l="l" t="t" r="r" b="b"/>
            <a:pathLst>
              <a:path w="21412200" h="438150">
                <a:moveTo>
                  <a:pt x="0" y="0"/>
                </a:moveTo>
                <a:lnTo>
                  <a:pt x="21412200" y="0"/>
                </a:lnTo>
                <a:lnTo>
                  <a:pt x="21412200" y="438150"/>
                </a:lnTo>
                <a:lnTo>
                  <a:pt x="0" y="43815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b7b3743e1d468c">
              <a:alphaModFix amt="0"/>
            </a:blip>
            <a:stretch>
              <a:fillRect l="0" t="-902225" r="0" b="-902225"/>
            </a:stretch>
          </a:blipFill>
        </p:spPr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EBC32A9A-8127-4360-8D1E-E462385E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8675" y="8986838"/>
            <a:ext cx="16059150" cy="3571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2025"/>
              </a:lnSpc>
              <a:buNone/>
            </a:pPr>
            <a:r>
              <a:rPr sz="2025" b="1">
                <a:solidFill>
                  <a:srgbClr val="2E63B7"/>
                </a:solidFill>
                <a:latin typeface="Calibri (MS) Bold"/>
                <a:ea typeface="Calibri (MS) Bold"/>
                <a:cs typeface="Calibri (MS) Bold"/>
              </a:rPr>
              <a:t>다음 실험  |  Hybrid 비교 → 민원 E2E 검증 → 사용량 제한·캐시·로그 적용</a:t>
            </a:r>
          </a:p>
        </p:txBody>
      </p:sp>
    </p:spTree>
    <p:extLst>
      <p:ext uri="{BB962C8B-B14F-4D97-AF65-F5344CB8AC3E}">
        <p14:creationId xmlns:p14="http://schemas.microsoft.com/office/powerpoint/2010/main" val="1562217899"/>
      </p:ext>
    </p:extLst>
  </p:cSld>
</p:sld>
</file>

<file path=ppt/slides/slide1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3D70C6">
                <a:alpha val="100000"/>
              </a:srgbClr>
            </a:gs>
            <a:gs pos="100000">
              <a:srgbClr val="17448F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F02D11B-3FCA-4F50-89C3-11897D71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14625" y="2143125"/>
            <a:ext cx="12858750" cy="857250"/>
          </a:xfrm>
          <a:custGeom xmlns:a="http://schemas.openxmlformats.org/drawingml/2006/main">
            <a:rect l="l" t="t" r="r" b="b"/>
            <a:pathLst>
              <a:path w="17145000" h="1143000">
                <a:moveTo>
                  <a:pt x="0" y="0"/>
                </a:moveTo>
                <a:lnTo>
                  <a:pt x="17145000" y="0"/>
                </a:lnTo>
                <a:lnTo>
                  <a:pt x="17145000" y="1143000"/>
                </a:lnTo>
                <a:lnTo>
                  <a:pt x="0" y="1143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9c597dba1b41f1">
              <a:alphaModFix amt="0"/>
            </a:blip>
            <a:stretch>
              <a:fillRect l="0" t="-242275" r="0" b="-242275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0FC3A055-957E-4EE4-AC30-C6044F9A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14625" y="2064544"/>
            <a:ext cx="12858750" cy="9358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5805"/>
              </a:lnSpc>
              <a:buNone/>
            </a:pPr>
            <a:r>
              <a:rPr sz="210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KDIC AI 챗봇 Prototype V1</a:t>
            </a:r>
          </a:p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E70F3221-7973-4D50-AE85-510C2A88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43312" y="3500438"/>
            <a:ext cx="11001375" cy="1685925"/>
          </a:xfrm>
          <a:custGeom xmlns:a="http://schemas.openxmlformats.org/drawingml/2006/main">
            <a:rect l="l" t="t" r="r" b="b"/>
            <a:pathLst>
              <a:path w="14668500" h="2247900">
                <a:moveTo>
                  <a:pt x="0" y="228600"/>
                </a:moveTo>
                <a:cubicBezTo>
                  <a:pt x="0" y="102362"/>
                  <a:pt x="102362" y="0"/>
                  <a:pt x="228600" y="0"/>
                </a:cubicBezTo>
                <a:lnTo>
                  <a:pt x="14439900" y="0"/>
                </a:lnTo>
                <a:cubicBezTo>
                  <a:pt x="14566137" y="0"/>
                  <a:pt x="14668500" y="102362"/>
                  <a:pt x="14668500" y="228600"/>
                </a:cubicBezTo>
                <a:lnTo>
                  <a:pt x="14668500" y="2019300"/>
                </a:lnTo>
                <a:cubicBezTo>
                  <a:pt x="14668500" y="2145538"/>
                  <a:pt x="14566137" y="2247900"/>
                  <a:pt x="14439900" y="2247900"/>
                </a:cubicBezTo>
                <a:lnTo>
                  <a:pt x="228600" y="2247900"/>
                </a:lnTo>
                <a:cubicBezTo>
                  <a:pt x="102362" y="2247900"/>
                  <a:pt x="0" y="2145538"/>
                  <a:pt x="0" y="201930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</p:spPr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44A87C56-EEE3-4D34-BCA8-5E3C8D66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1938" y="3714750"/>
            <a:ext cx="10144125" cy="1257300"/>
          </a:xfrm>
          <a:custGeom xmlns:a="http://schemas.openxmlformats.org/drawingml/2006/main">
            <a:rect l="l" t="t" r="r" b="b"/>
            <a:pathLst>
              <a:path w="13525500" h="1676400">
                <a:moveTo>
                  <a:pt x="0" y="0"/>
                </a:moveTo>
                <a:lnTo>
                  <a:pt x="13525500" y="0"/>
                </a:lnTo>
                <a:lnTo>
                  <a:pt x="13525500" y="1676400"/>
                </a:lnTo>
                <a:lnTo>
                  <a:pt x="0" y="16764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9c597dba1b41f1">
              <a:alphaModFix amt="0"/>
            </a:blip>
            <a:stretch>
              <a:fillRect l="0" t="-107208" r="0" b="-107208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292D78C-8805-4371-9E38-185481D2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71938" y="3643313"/>
            <a:ext cx="10144125" cy="1328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5670"/>
              </a:lnSpc>
              <a:buNone/>
            </a:pPr>
            <a:r>
              <a:rPr sz="2100">
                <a:solidFill>
                  <a:srgbClr val="2E63B7"/>
                </a:solidFill>
                <a:latin typeface="Calibri (MS)"/>
                <a:ea typeface="Calibri (MS)"/>
                <a:cs typeface="Calibri (MS)"/>
              </a:rPr>
              <a:t>공식 데이터를
근거 기반 답변과 평가 체계로 연결했습니다.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A866AF52-C231-4AEC-8D55-2A969365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7625" y="5786438"/>
            <a:ext cx="10572750" cy="571500"/>
          </a:xfrm>
          <a:custGeom xmlns:a="http://schemas.openxmlformats.org/drawingml/2006/main">
            <a:rect l="l" t="t" r="r" b="b"/>
            <a:pathLst>
              <a:path w="14097000" h="762000">
                <a:moveTo>
                  <a:pt x="0" y="0"/>
                </a:moveTo>
                <a:lnTo>
                  <a:pt x="14097000" y="0"/>
                </a:lnTo>
                <a:lnTo>
                  <a:pt x="14097000" y="762000"/>
                </a:lnTo>
                <a:lnTo>
                  <a:pt x="0" y="762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9c597dba1b41f1">
              <a:alphaModFix amt="0"/>
            </a:blip>
            <a:stretch>
              <a:fillRect l="0" t="-310473" r="0" b="-310473"/>
            </a:stretch>
          </a:blip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E7D12EA2-EDF8-4467-8433-9A435C6C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7625" y="5757863"/>
            <a:ext cx="10572750" cy="600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2295"/>
              </a:lnSpc>
              <a:buNone/>
            </a:pPr>
            <a:r>
              <a:rPr sz="2250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Q&amp;A  |  다음 단계: Hybrid 검색 · Reranking · 민원 E2E 평가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955C0830-8D19-44DB-A99F-3FDFC631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062" y="9144000"/>
            <a:ext cx="17287875" cy="14288"/>
          </a:xfrm>
          <a:custGeom xmlns:a="http://schemas.openxmlformats.org/drawingml/2006/main">
            <a:rect l="l" t="t" r="r" b="b"/>
            <a:pathLst>
              <a:path w="23050500" h="19050">
                <a:moveTo>
                  <a:pt x="0" y="0"/>
                </a:moveTo>
                <a:lnTo>
                  <a:pt x="23050500" y="0"/>
                </a:lnTo>
                <a:lnTo>
                  <a:pt x="23050500" y="19050"/>
                </a:lnTo>
                <a:lnTo>
                  <a:pt x="0" y="19050"/>
                </a:lnTo>
                <a:close/>
              </a:path>
            </a:pathLst>
          </a:custGeom>
          <a:solidFill xmlns:a="http://schemas.openxmlformats.org/drawingml/2006/main">
            <a:srgbClr val="8AA8D8"/>
          </a:solid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B6E996D4-24B5-4D34-B3DF-C14D8BF4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062" y="9315450"/>
            <a:ext cx="4000500" cy="285750"/>
          </a:xfrm>
          <a:custGeom xmlns:a="http://schemas.openxmlformats.org/drawingml/2006/main">
            <a:rect l="l" t="t" r="r" b="b"/>
            <a:pathLst>
              <a:path w="5334000" h="381000">
                <a:moveTo>
                  <a:pt x="0" y="0"/>
                </a:moveTo>
                <a:lnTo>
                  <a:pt x="5334000" y="0"/>
                </a:lnTo>
                <a:lnTo>
                  <a:pt x="5334000" y="381000"/>
                </a:lnTo>
                <a:lnTo>
                  <a:pt x="0" y="381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9c597dba1b41f1">
              <a:alphaModFix amt="0"/>
            </a:blip>
            <a:stretch>
              <a:fillRect l="0" t="-222790" r="0" b="-222790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0751A89-577E-4110-83EB-2B7564AE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0062" y="9294019"/>
            <a:ext cx="4000500" cy="3071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1350"/>
              </a:lnSpc>
              <a:buNone/>
            </a:pPr>
            <a:r>
              <a:rPr sz="1125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멋쟁이사자처럼 · 와쿠와쿠 6조</a:t>
            </a:r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C2361D64-8BD4-48CA-A25C-10EB8A73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44625" y="9315450"/>
            <a:ext cx="3429000" cy="285750"/>
          </a:xfrm>
          <a:custGeom xmlns:a="http://schemas.openxmlformats.org/drawingml/2006/main">
            <a:rect l="l" t="t" r="r" b="b"/>
            <a:pathLst>
              <a:path w="4572000" h="381000">
                <a:moveTo>
                  <a:pt x="0" y="0"/>
                </a:moveTo>
                <a:lnTo>
                  <a:pt x="4572000" y="0"/>
                </a:lnTo>
                <a:lnTo>
                  <a:pt x="4572000" y="381000"/>
                </a:lnTo>
                <a:lnTo>
                  <a:pt x="0" y="38100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9c597dba1b41f1">
              <a:alphaModFix amt="0"/>
            </a:blip>
            <a:stretch>
              <a:fillRect l="0" t="-183820" r="0" b="-183820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D5D34911-B502-4E65-9D24-97BD5AE5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44625" y="9294019"/>
            <a:ext cx="3429000" cy="3071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ts val="1350"/>
              </a:lnSpc>
              <a:buNone/>
            </a:pPr>
            <a:r>
              <a:rPr sz="1125">
                <a:solidFill>
                  <a:srgbClr val="FFFFFF"/>
                </a:solidFill>
                <a:latin typeface="Calibri (MS)"/>
                <a:ea typeface="Calibri (MS)"/>
                <a:cs typeface="Calibri (MS)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646693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2026-07-26T10:51:25.1250000Z</dcterms:created>
  <dcterms:modified xsi:type="dcterms:W3CDTF">2026-07-26T10:51:25.1250000Z</dcterms:modified>
</coreProperties>
</file>