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f4965d1c74a0a" /><Relationship Type="http://schemas.openxmlformats.org/officeDocument/2006/relationships/extended-properties" Target="/docProps/app.xml" Id="R280fccca100940d7" /><Relationship Type="http://schemas.openxmlformats.org/officeDocument/2006/relationships/officeDocument" Target="/ppt/presentation.xml" Id="Rb2e97cb3c276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fa339e6d8445a"/>
  </p:sldMasterIdLst>
  <p:notesMasterIdLst>
    <p:notesMasterId xmlns:r="http://schemas.openxmlformats.org/officeDocument/2006/relationships" r:id="R95e21857380243ab"/>
  </p:notesMasterIdLst>
  <p:sldIdLst>
    <p:sldId xmlns:r="http://schemas.openxmlformats.org/officeDocument/2006/relationships" id="256" r:id="R0ca6b8e9a2344e1b"/>
    <p:sldId xmlns:r="http://schemas.openxmlformats.org/officeDocument/2006/relationships" id="257" r:id="Rd003381e9af84731"/>
    <p:sldId xmlns:r="http://schemas.openxmlformats.org/officeDocument/2006/relationships" id="258" r:id="Rf22c41fb42e94b2c"/>
    <p:sldId xmlns:r="http://schemas.openxmlformats.org/officeDocument/2006/relationships" id="259" r:id="Rae6105024e93491d"/>
    <p:sldId xmlns:r="http://schemas.openxmlformats.org/officeDocument/2006/relationships" id="260" r:id="R02f34fee4c9d49dd"/>
    <p:sldId xmlns:r="http://schemas.openxmlformats.org/officeDocument/2006/relationships" id="261" r:id="R7dd0717357d749ac"/>
    <p:sldId xmlns:r="http://schemas.openxmlformats.org/officeDocument/2006/relationships" id="262" r:id="R37ca4f37e603462d"/>
    <p:sldId xmlns:r="http://schemas.openxmlformats.org/officeDocument/2006/relationships" id="263" r:id="R686b21e548114527"/>
    <p:sldId xmlns:r="http://schemas.openxmlformats.org/officeDocument/2006/relationships" id="264" r:id="R2fee8bcec24c4835"/>
    <p:sldId xmlns:r="http://schemas.openxmlformats.org/officeDocument/2006/relationships" id="265" r:id="R315a1b1323924540"/>
    <p:sldId xmlns:r="http://schemas.openxmlformats.org/officeDocument/2006/relationships" id="266" r:id="R3405a9cc670f4883"/>
    <p:sldId xmlns:r="http://schemas.openxmlformats.org/officeDocument/2006/relationships" id="267" r:id="R91b26f66f6d145a4"/>
    <p:sldId xmlns:r="http://schemas.openxmlformats.org/officeDocument/2006/relationships" id="268" r:id="R57d62e8c04d343c6"/>
    <p:sldId xmlns:r="http://schemas.openxmlformats.org/officeDocument/2006/relationships" id="269" r:id="Rbc58616e46114f80"/>
    <p:sldId xmlns:r="http://schemas.openxmlformats.org/officeDocument/2006/relationships" id="270" r:id="Ra0cbb10fbe6c4192"/>
    <p:sldId xmlns:r="http://schemas.openxmlformats.org/officeDocument/2006/relationships" id="271" r:id="R1a55b0ddb3cf4703"/>
    <p:sldId xmlns:r="http://schemas.openxmlformats.org/officeDocument/2006/relationships" id="272" r:id="Re864538e14514b07"/>
    <p:sldId xmlns:r="http://schemas.openxmlformats.org/officeDocument/2006/relationships" id="273" r:id="R35805218e0bc4ec0"/>
    <p:sldId xmlns:r="http://schemas.openxmlformats.org/officeDocument/2006/relationships" id="274" r:id="Rb154e007546b4642"/>
    <p:sldId xmlns:r="http://schemas.openxmlformats.org/officeDocument/2006/relationships" id="275" r:id="R2f137824d95849ee"/>
    <p:sldId xmlns:r="http://schemas.openxmlformats.org/officeDocument/2006/relationships" id="276" r:id="R951f09794e0b476f"/>
    <p:sldId xmlns:r="http://schemas.openxmlformats.org/officeDocument/2006/relationships" id="277" r:id="R49710ed8628841fe"/>
    <p:sldId xmlns:r="http://schemas.openxmlformats.org/officeDocument/2006/relationships" id="278" r:id="Rcc34170067bb4eec"/>
    <p:sldId xmlns:r="http://schemas.openxmlformats.org/officeDocument/2006/relationships" id="279" r:id="R37420026279244cf"/>
    <p:sldId xmlns:r="http://schemas.openxmlformats.org/officeDocument/2006/relationships" id="280" r:id="R31d18a97fbae4c83"/>
    <p:sldId xmlns:r="http://schemas.openxmlformats.org/officeDocument/2006/relationships" id="281" r:id="Rdae57edfe5924f13"/>
    <p:sldId xmlns:r="http://schemas.openxmlformats.org/officeDocument/2006/relationships" id="282" r:id="R66fe4c59eef847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7816b7887b44a8" /><Relationship Type="http://schemas.openxmlformats.org/officeDocument/2006/relationships/slideMaster" Target="/ppt/slideMasters/slideMaster1.xml" Id="R64ffa339e6d8445a" /><Relationship Type="http://schemas.openxmlformats.org/officeDocument/2006/relationships/notesMaster" Target="/ppt/notesMasters/notesMaster1.xml" Id="R95e21857380243ab" /><Relationship Type="http://schemas.openxmlformats.org/officeDocument/2006/relationships/presProps" Target="/ppt/presProps.xml" Id="Rf610ac237f17453e" /><Relationship Type="http://schemas.openxmlformats.org/officeDocument/2006/relationships/tableStyles" Target="/ppt/tableStyles.xml" Id="Rb30926bb67f2468d" /><Relationship Type="http://schemas.openxmlformats.org/officeDocument/2006/relationships/slide" Target="/ppt/slides/slide1.xml" Id="R0ca6b8e9a2344e1b" /><Relationship Type="http://schemas.openxmlformats.org/officeDocument/2006/relationships/slide" Target="/ppt/slides/slide2.xml" Id="Rd003381e9af84731" /><Relationship Type="http://schemas.openxmlformats.org/officeDocument/2006/relationships/slide" Target="/ppt/slides/slide3.xml" Id="Rf22c41fb42e94b2c" /><Relationship Type="http://schemas.openxmlformats.org/officeDocument/2006/relationships/slide" Target="/ppt/slides/slide4.xml" Id="Rae6105024e93491d" /><Relationship Type="http://schemas.openxmlformats.org/officeDocument/2006/relationships/slide" Target="/ppt/slides/slide5.xml" Id="R02f34fee4c9d49dd" /><Relationship Type="http://schemas.openxmlformats.org/officeDocument/2006/relationships/slide" Target="/ppt/slides/slide6.xml" Id="R7dd0717357d749ac" /><Relationship Type="http://schemas.openxmlformats.org/officeDocument/2006/relationships/slide" Target="/ppt/slides/slide7.xml" Id="R37ca4f37e603462d" /><Relationship Type="http://schemas.openxmlformats.org/officeDocument/2006/relationships/slide" Target="/ppt/slides/slide8.xml" Id="R686b21e548114527" /><Relationship Type="http://schemas.openxmlformats.org/officeDocument/2006/relationships/slide" Target="/ppt/slides/slide9.xml" Id="R2fee8bcec24c4835" /><Relationship Type="http://schemas.openxmlformats.org/officeDocument/2006/relationships/slide" Target="/ppt/slides/slide10.xml" Id="R315a1b1323924540" /><Relationship Type="http://schemas.openxmlformats.org/officeDocument/2006/relationships/slide" Target="/ppt/slides/slide11.xml" Id="R3405a9cc670f4883" /><Relationship Type="http://schemas.openxmlformats.org/officeDocument/2006/relationships/slide" Target="/ppt/slides/slide12.xml" Id="R91b26f66f6d145a4" /><Relationship Type="http://schemas.openxmlformats.org/officeDocument/2006/relationships/slide" Target="/ppt/slides/slide13.xml" Id="R57d62e8c04d343c6" /><Relationship Type="http://schemas.openxmlformats.org/officeDocument/2006/relationships/slide" Target="/ppt/slides/slide14.xml" Id="Rbc58616e46114f80" /><Relationship Type="http://schemas.openxmlformats.org/officeDocument/2006/relationships/slide" Target="/ppt/slides/slide15.xml" Id="Ra0cbb10fbe6c4192" /><Relationship Type="http://schemas.openxmlformats.org/officeDocument/2006/relationships/slide" Target="/ppt/slides/slide16.xml" Id="R1a55b0ddb3cf4703" /><Relationship Type="http://schemas.openxmlformats.org/officeDocument/2006/relationships/slide" Target="/ppt/slides/slide17.xml" Id="Re864538e14514b07" /><Relationship Type="http://schemas.openxmlformats.org/officeDocument/2006/relationships/slide" Target="/ppt/slides/slide18.xml" Id="R35805218e0bc4ec0" /><Relationship Type="http://schemas.openxmlformats.org/officeDocument/2006/relationships/slide" Target="/ppt/slides/slide19.xml" Id="Rb154e007546b4642" /><Relationship Type="http://schemas.openxmlformats.org/officeDocument/2006/relationships/slide" Target="/ppt/slides/slide20.xml" Id="R2f137824d95849ee" /><Relationship Type="http://schemas.openxmlformats.org/officeDocument/2006/relationships/slide" Target="/ppt/slides/slide21.xml" Id="R951f09794e0b476f" /><Relationship Type="http://schemas.openxmlformats.org/officeDocument/2006/relationships/slide" Target="/ppt/slides/slide22.xml" Id="R49710ed8628841fe" /><Relationship Type="http://schemas.openxmlformats.org/officeDocument/2006/relationships/slide" Target="/ppt/slides/slide23.xml" Id="Rcc34170067bb4eec" /><Relationship Type="http://schemas.openxmlformats.org/officeDocument/2006/relationships/slide" Target="/ppt/slides/slide24.xml" Id="R37420026279244cf" /><Relationship Type="http://schemas.openxmlformats.org/officeDocument/2006/relationships/slide" Target="/ppt/slides/slide25.xml" Id="R31d18a97fbae4c83" /><Relationship Type="http://schemas.openxmlformats.org/officeDocument/2006/relationships/slide" Target="/ppt/slides/slide26.xml" Id="Rdae57edfe5924f13" /><Relationship Type="http://schemas.openxmlformats.org/officeDocument/2006/relationships/slide" Target="/ppt/slides/slide27.xml" Id="R66fe4c59eef847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cf7521845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b7de2b00843fe" /><Relationship Type="http://schemas.openxmlformats.org/officeDocument/2006/relationships/notesMaster" Target="/ppt/notesMasters/notesMaster1.xml" Id="R26950ceb0816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3114bcb7934972" /><Relationship Type="http://schemas.openxmlformats.org/officeDocument/2006/relationships/notesMaster" Target="/ppt/notesMasters/notesMaster1.xml" Id="Re3026b9364ba45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53269acf249c3" /><Relationship Type="http://schemas.openxmlformats.org/officeDocument/2006/relationships/notesMaster" Target="/ppt/notesMasters/notesMaster1.xml" Id="R479854b1c2f0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76f58f9154f23" /><Relationship Type="http://schemas.openxmlformats.org/officeDocument/2006/relationships/notesMaster" Target="/ppt/notesMasters/notesMaster1.xml" Id="R0c0c56510cb645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18cf64fab4dd9" /><Relationship Type="http://schemas.openxmlformats.org/officeDocument/2006/relationships/notesMaster" Target="/ppt/notesMasters/notesMaster1.xml" Id="Rf9bcb826a2e0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747df2200471e" /><Relationship Type="http://schemas.openxmlformats.org/officeDocument/2006/relationships/notesMaster" Target="/ppt/notesMasters/notesMaster1.xml" Id="R4e29704f036c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6b5e9ca0394b58" /><Relationship Type="http://schemas.openxmlformats.org/officeDocument/2006/relationships/notesMaster" Target="/ppt/notesMasters/notesMaster1.xml" Id="R6949c810ebe140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6665d95d894fba" /><Relationship Type="http://schemas.openxmlformats.org/officeDocument/2006/relationships/notesMaster" Target="/ppt/notesMasters/notesMaster1.xml" Id="R5cc384d84f1049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44db652cb145bd" /><Relationship Type="http://schemas.openxmlformats.org/officeDocument/2006/relationships/notesMaster" Target="/ppt/notesMasters/notesMaster1.xml" Id="R813f2d8683ab46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038d8580774cc4" /><Relationship Type="http://schemas.openxmlformats.org/officeDocument/2006/relationships/notesMaster" Target="/ppt/notesMasters/notesMaster1.xml" Id="R5e9e18841cc340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eb65c1669a44cd" /><Relationship Type="http://schemas.openxmlformats.org/officeDocument/2006/relationships/notesMaster" Target="/ppt/notesMasters/notesMaster1.xml" Id="Rbb9e404876b345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06a32472a647c1" /><Relationship Type="http://schemas.openxmlformats.org/officeDocument/2006/relationships/notesMaster" Target="/ppt/notesMasters/notesMaster1.xml" Id="Rcf238bbb438144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9b2e58954748cf" /><Relationship Type="http://schemas.openxmlformats.org/officeDocument/2006/relationships/notesMaster" Target="/ppt/notesMasters/notesMaster1.xml" Id="Rcdb2f2253d8848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21ec5e7120489d" /><Relationship Type="http://schemas.openxmlformats.org/officeDocument/2006/relationships/notesMaster" Target="/ppt/notesMasters/notesMaster1.xml" Id="Rc0f5344537a345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cb6967bf8d44fb" /><Relationship Type="http://schemas.openxmlformats.org/officeDocument/2006/relationships/notesMaster" Target="/ppt/notesMasters/notesMaster1.xml" Id="Rad777eae23ac4a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edffd6c688495f" /><Relationship Type="http://schemas.openxmlformats.org/officeDocument/2006/relationships/notesMaster" Target="/ppt/notesMasters/notesMaster1.xml" Id="R0f635b2e721d4a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b8399cc7974e44" /><Relationship Type="http://schemas.openxmlformats.org/officeDocument/2006/relationships/notesMaster" Target="/ppt/notesMasters/notesMaster1.xml" Id="Ra350d981a72540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98969993164cc9" /><Relationship Type="http://schemas.openxmlformats.org/officeDocument/2006/relationships/notesMaster" Target="/ppt/notesMasters/notesMaster1.xml" Id="R723c3d9eaa174a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c513a6d2aa4829" /><Relationship Type="http://schemas.openxmlformats.org/officeDocument/2006/relationships/notesMaster" Target="/ppt/notesMasters/notesMaster1.xml" Id="Reb649f454d624a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d16fbeb1124aaf" /><Relationship Type="http://schemas.openxmlformats.org/officeDocument/2006/relationships/notesMaster" Target="/ppt/notesMasters/notesMaster1.xml" Id="Rae5bbd5532ab45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9b730640094a90" /><Relationship Type="http://schemas.openxmlformats.org/officeDocument/2006/relationships/notesMaster" Target="/ppt/notesMasters/notesMaster1.xml" Id="Rfbac549b702240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6b6f55605545e1" /><Relationship Type="http://schemas.openxmlformats.org/officeDocument/2006/relationships/notesMaster" Target="/ppt/notesMasters/notesMaster1.xml" Id="R461f56608dce45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b0b0e828504ce2" /><Relationship Type="http://schemas.openxmlformats.org/officeDocument/2006/relationships/notesMaster" Target="/ppt/notesMasters/notesMaster1.xml" Id="R56827352042240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1ea927adcd4227" /><Relationship Type="http://schemas.openxmlformats.org/officeDocument/2006/relationships/notesMaster" Target="/ppt/notesMasters/notesMaster1.xml" Id="Ree479ba4120b4f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afedeb47a1433c" /><Relationship Type="http://schemas.openxmlformats.org/officeDocument/2006/relationships/notesMaster" Target="/ppt/notesMasters/notesMaster1.xml" Id="Rdda99ab37b1f46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2ee18a295f4a80" /><Relationship Type="http://schemas.openxmlformats.org/officeDocument/2006/relationships/notesMaster" Target="/ppt/notesMasters/notesMaster1.xml" Id="Rf10141ccf2b044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0294169d434bd0" /><Relationship Type="http://schemas.openxmlformats.org/officeDocument/2006/relationships/notesMaster" Target="/ppt/notesMasters/notesMaster1.xml" Id="R0c4740e6b97e4e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55f1b19e948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d36569c8043b2" /><Relationship Type="http://schemas.openxmlformats.org/officeDocument/2006/relationships/slideLayout" Target="/ppt/slideLayouts/slideLayout1.xml" Id="R8331dc6d56ab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31dc6d56ab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cd21a6a0942b9" /><Relationship Type="http://schemas.openxmlformats.org/officeDocument/2006/relationships/notesSlide" Target="/ppt/notesSlides/notesSlide1.xml" Id="R91f39fdaf74545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6a730dc774605" /><Relationship Type="http://schemas.openxmlformats.org/officeDocument/2006/relationships/notesSlide" Target="/ppt/notesSlides/notesSlide2.xml" Id="R5f3842388ac24d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ed95582cf46a4" /><Relationship Type="http://schemas.openxmlformats.org/officeDocument/2006/relationships/notesSlide" Target="/ppt/notesSlides/notesSlide3.xml" Id="Rcb5bfc42b43e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90d12a5b84ad4" /><Relationship Type="http://schemas.openxmlformats.org/officeDocument/2006/relationships/notesSlide" Target="/ppt/notesSlides/notesSlide4.xml" Id="Rf7fd5bf2f1f04f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963b010c6452c" /><Relationship Type="http://schemas.openxmlformats.org/officeDocument/2006/relationships/notesSlide" Target="/ppt/notesSlides/notesSlide5.xml" Id="R6f6dbe61c67b48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6016427314811" /><Relationship Type="http://schemas.openxmlformats.org/officeDocument/2006/relationships/notesSlide" Target="/ppt/notesSlides/notesSlide6.xml" Id="Ref4636cb291c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ad7fc8a34d48" /><Relationship Type="http://schemas.openxmlformats.org/officeDocument/2006/relationships/notesSlide" Target="/ppt/notesSlides/notesSlide7.xml" Id="R23876ac938374b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c4f3a0e44d26" /><Relationship Type="http://schemas.openxmlformats.org/officeDocument/2006/relationships/notesSlide" Target="/ppt/notesSlides/notesSlide8.xml" Id="Re5836795252d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2c2d87114606" /><Relationship Type="http://schemas.openxmlformats.org/officeDocument/2006/relationships/notesSlide" Target="/ppt/notesSlides/notesSlide9.xml" Id="Rbbd0140a73214f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0797641774ea6" /><Relationship Type="http://schemas.openxmlformats.org/officeDocument/2006/relationships/notesSlide" Target="/ppt/notesSlides/notesSlide10.xml" Id="R6ce131176b0543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c12aafc104b9a" /><Relationship Type="http://schemas.openxmlformats.org/officeDocument/2006/relationships/notesSlide" Target="/ppt/notesSlides/notesSlide11.xml" Id="R7506fc688b4046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e3616d43440df" /><Relationship Type="http://schemas.openxmlformats.org/officeDocument/2006/relationships/notesSlide" Target="/ppt/notesSlides/notesSlide12.xml" Id="R48a4b258d0a04e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ec288fb91450d" /><Relationship Type="http://schemas.openxmlformats.org/officeDocument/2006/relationships/notesSlide" Target="/ppt/notesSlides/notesSlide13.xml" Id="Re6f63564973f49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1729def654bfe" /><Relationship Type="http://schemas.openxmlformats.org/officeDocument/2006/relationships/notesSlide" Target="/ppt/notesSlides/notesSlide14.xml" Id="R56e65ba701b44d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6a51068094315" /><Relationship Type="http://schemas.openxmlformats.org/officeDocument/2006/relationships/notesSlide" Target="/ppt/notesSlides/notesSlide15.xml" Id="R113d602aa8ef4b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b840f911a4ae0" /><Relationship Type="http://schemas.openxmlformats.org/officeDocument/2006/relationships/notesSlide" Target="/ppt/notesSlides/notesSlide16.xml" Id="Rdf91983968de4e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f101c20ca4991" /><Relationship Type="http://schemas.openxmlformats.org/officeDocument/2006/relationships/image" Target="/ppt/media/image.png" Id="Rafe3b20ee11b46f1" /><Relationship Type="http://schemas.openxmlformats.org/officeDocument/2006/relationships/image" Target="/ppt/media/image2.png" Id="Rdbb93f77e6114b8c" /><Relationship Type="http://schemas.openxmlformats.org/officeDocument/2006/relationships/notesSlide" Target="/ppt/notesSlides/notesSlide17.xml" Id="R680bdb87e48748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505822dc44f7d" /><Relationship Type="http://schemas.openxmlformats.org/officeDocument/2006/relationships/image" Target="/ppt/media/image3.png" Id="R44d03c600f2d423b" /><Relationship Type="http://schemas.openxmlformats.org/officeDocument/2006/relationships/notesSlide" Target="/ppt/notesSlides/notesSlide18.xml" Id="Rf52454900c6542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bcbb93db54c54" /><Relationship Type="http://schemas.openxmlformats.org/officeDocument/2006/relationships/notesSlide" Target="/ppt/notesSlides/notesSlide19.xml" Id="R9cbb64ea1cee49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40246023407f" /><Relationship Type="http://schemas.openxmlformats.org/officeDocument/2006/relationships/notesSlide" Target="/ppt/notesSlides/notesSlide20.xml" Id="R6d507720cb074a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d507177b14fa6" /><Relationship Type="http://schemas.openxmlformats.org/officeDocument/2006/relationships/notesSlide" Target="/ppt/notesSlides/notesSlide21.xml" Id="R1313944e5a7244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1a3cfd9804066" /><Relationship Type="http://schemas.openxmlformats.org/officeDocument/2006/relationships/image" Target="/ppt/media/image4.png" Id="R3960877230f94665" /><Relationship Type="http://schemas.openxmlformats.org/officeDocument/2006/relationships/image" Target="/ppt/media/image5.png" Id="R4f71beadc4024320" /><Relationship Type="http://schemas.openxmlformats.org/officeDocument/2006/relationships/notesSlide" Target="/ppt/notesSlides/notesSlide22.xml" Id="R18e1c16f2a554b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c83525c64aaa" /><Relationship Type="http://schemas.openxmlformats.org/officeDocument/2006/relationships/image" Target="/ppt/media/image6.png" Id="R6d134a63259d435f" /><Relationship Type="http://schemas.openxmlformats.org/officeDocument/2006/relationships/notesSlide" Target="/ppt/notesSlides/notesSlide23.xml" Id="Rab35a443fe184c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521a2b0444806" /><Relationship Type="http://schemas.openxmlformats.org/officeDocument/2006/relationships/image" Target="/ppt/media/image7.png" Id="Re2e0ad9dc1e24fea" /><Relationship Type="http://schemas.openxmlformats.org/officeDocument/2006/relationships/notesSlide" Target="/ppt/notesSlides/notesSlide24.xml" Id="R38e371dee05e4a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77271859d42a2" /><Relationship Type="http://schemas.openxmlformats.org/officeDocument/2006/relationships/image" Target="/ppt/media/image8.png" Id="R00ffcbca31b945ff" /><Relationship Type="http://schemas.openxmlformats.org/officeDocument/2006/relationships/notesSlide" Target="/ppt/notesSlides/notesSlide25.xml" Id="R95578d1fd80f43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c3d05c51d4712" /><Relationship Type="http://schemas.openxmlformats.org/officeDocument/2006/relationships/image" Target="/ppt/media/image9.png" Id="Rfa8246b41dd84781" /><Relationship Type="http://schemas.openxmlformats.org/officeDocument/2006/relationships/image" Target="/ppt/media/image10.png" Id="Rc7aa82f8757a41f3" /><Relationship Type="http://schemas.openxmlformats.org/officeDocument/2006/relationships/notesSlide" Target="/ppt/notesSlides/notesSlide26.xml" Id="R9007246c9ded4e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7a1d5528e478a" /><Relationship Type="http://schemas.openxmlformats.org/officeDocument/2006/relationships/notesSlide" Target="/ppt/notesSlides/notesSlide27.xml" Id="Rf3e77a33897b46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10ADD-DF73-42F5-B240-6EB093C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5D41F-F0F9-403C-A342-A766A9B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42644-4390-45BB-8E42-FA53D6F2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solidFill>
              <a:srgbClr val="5DA9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2941-12A6-4817-A895-15483A92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D9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D9F5"/>
                </a:solidFill>
                <a:latin typeface="Malgun Gothic"/>
                <a:ea typeface="Malgun Gothic"/>
                <a:cs typeface="Malgun Gothic"/>
              </a:rPr>
              <a:t>PROJECT 03 · TEAM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53F87-5AC5-49DC-B468-FF7AE92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금융정보 RAG 챗봇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2C77-7E78-4F76-B616-501DFEA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6572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많은 시도를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가능한 결정으로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2569-388A-44E2-97BB-8B7A150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F5"/>
          </a:solidFill>
          <a:ln xmlns:a="http://schemas.openxmlformats.org/drawingml/2006/main" w="0">
            <a:solidFill>
              <a:srgbClr val="B9D9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E8834-B21C-412F-89D1-0585130A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7F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7E7F5"/>
                </a:solidFill>
                <a:latin typeface="Malgun Gothic"/>
                <a:ea typeface="Malgun Gothic"/>
                <a:cs typeface="Malgun Gothic"/>
              </a:rPr>
              <a:t>유민규 (팀장) · 임도균 · 박주영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0AE0E-9411-4477-A06E-DEE91D9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9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9D9F5"/>
                </a:solidFill>
                <a:latin typeface="Malgun Gothic"/>
                <a:ea typeface="Malgun Gothic"/>
                <a:cs typeface="Malgun Gothic"/>
              </a:rPr>
              <a:t>강사·멘토 발표 · 15분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ABB7C-59BC-49EC-A8EF-580E400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247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정확성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근거성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사용성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운영성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6ABFB-2A34-49F2-8A74-0E3CCBC7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10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7927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A5C38-E625-4332-91BF-6DAF12D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DDC15-505A-42C0-A77F-741442EC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발표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AC0B1-B334-4299-B878-2981889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예금보험공사 RAG 챗봇을 사용자 경험과 운영 관점에서 설명합니다.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3B9F-1C39-4746-B8E8-564F823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570AC-ECAA-4ADA-A1DC-FBE54838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2D74F-6B8D-4F07-90D4-E423C936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5049C-D854-41B5-BC8E-EFB860F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2342C-0945-4891-B795-926CC3EE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781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41937-5C54-40E1-9288-6A42F476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금융 챗봇에 필요한 신뢰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FD0A9-2A60-45B5-A992-3B0509B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0F6F8-C529-44EF-907C-F1FB5D03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D9D0A-DF0D-40D5-8D67-314A45E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09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94C21-097A-4B0F-BD54-DD2FA5A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질문 유형에 따른 응답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0555A-B645-46AB-A683-51A7F2CB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899BA-112B-481B-A3C2-88B964BF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53D03-05D4-40CA-BDBF-3907FAD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38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기법 및 평가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932D2-67E5-4D19-8054-C95990E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근거 탐색과 품질 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FAD0F-EE80-473F-A510-93E5AB78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DC54C-3F20-4A34-BD47-1649299D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CACD8-AF07-482F-9FD6-36579C48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667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DE44C-BCB7-4207-AC22-189182F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근거 기반 답변과 질의 캐시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51C36-61B2-4F89-BD5D-D3943C0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0D93E-9C2A-4E9F-B9B2-63F2984C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6CB47-26D8-4C18-BAF3-1C44303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95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EC7FF-510A-4B26-A86A-6C54CC6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안전한 변경·관찰·복구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EB34D-6B76-4CE3-B9EF-F940D39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4DE38-A470-44BE-8589-33B690FE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6E936-A9AB-4055-969C-5448B07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24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79A1B-562B-4111-B929-1D4AE840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 가능한 RAG의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BC9BE-EE1B-4A2B-87F0-36BBF8F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84608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714E7-AC96-4916-98F2-CCB2F81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CD8BF-F37C-4C1E-9B31-1EADFFAF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3CA6-48C4-4499-8104-28D03EF7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금융 챗봇은 정확한 검색, 근거 있는 답변, 이해 가능한 안내, 안전한 운영을 함께 요구합니다.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F85C9-4EB5-4A85-8CBB-A485A79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44A23-044B-4B7B-8770-0720ECF8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9FB6A-F7CB-4D5F-8F3C-4C7E799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B5A7A-A5B0-4D48-A9CD-851CF81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38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3C5A6-21A1-4446-8937-617DCDE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D0570-BBBA-4524-9D6F-84E89AD3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정확성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505F5-3F1A-4B7D-AD34-68E306C7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질문에 맞는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근거를 찾는가?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B91FC-C652-4168-A47B-8E3E868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43150"/>
            <a:ext cx="238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AF11F-708F-4802-B1E4-4C9B842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E593C-06D2-40B3-9C7F-2A29BDD9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근거성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1045A-5C51-4D2A-8586-9AFE6865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43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출처와 신청 경로를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확인할 수 있는가?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8F7FE-79CD-4704-8182-421F027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38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22F53-D45A-4316-ADF5-81CBAAC4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B24BF-81F5-4964-9475-81918708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사용성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E4704-F6B0-4783-B220-A0639D70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사용자가 다음 행동을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이해하는가?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DA424-66E9-4F9C-879E-CEBC93B9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43150"/>
            <a:ext cx="238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84094-295C-49A4-B537-60970C5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7DC65-E939-4807-9A4F-1275B4A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운영성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6CD41-7FD5-457A-8FFF-B072952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43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변경을 검증하고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되돌릴 수 있는가?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D7207-90B0-4C6D-B8EA-061B877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검색 평가는 Gold 청크와 질문별 검색 결과를 함께 검토해, 지표 하나로 결론 내리지 않도록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654878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5DFB4-37A0-485C-AB8E-A11C77D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498F1-E918-4778-A3BC-4E4F7EDB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816F7-40B0-48A7-94B3-CDC988B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질의분석은 많이 구조화하는 모델보다, 검색에 필요한 정보를 안전하게 넘기는 모델을 선택했습니다.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42752-921A-47F2-AE1B-06F7162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38982-FA97-44C1-A475-B2711986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6190-44A0-402D-9B38-5F9EE0B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52AB8-BC88-4985-9F9E-B629DBB2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6EB8E-01CA-4F50-968E-C903289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35974-A1CA-4A4C-91F7-B86F91C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V1.5 간편 라우터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FEC1-9A0D-4A20-BC4D-4FACA2E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192FF-5800-4FC4-89FE-14F152A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400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규칙 중심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교차 업무 복합질의만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1AD2C-AA83-48C3-A71E-D37AC68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 호출  31 / 400 · 7.75%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C861B-FC8F-461C-9A44-96DF15D5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9550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ED7DE-845C-4C38-A976-22E7D76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F8B83-D726-43BA-B07C-3BB521B4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05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V2.2 최소 경량화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F6B13-B782-4675-BC16-1E27C0E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33725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9"/>
          </a:solidFill>
          <a:ln xmlns:a="http://schemas.openxmlformats.org/drawingml/2006/main" w="0">
            <a:solidFill>
              <a:srgbClr val="D58C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B1440-CC6A-4A9F-83DC-C197A75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71850"/>
            <a:ext cx="2400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규칙 우선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애매한 질문은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04600-24FC-48F3-B35E-93DFA52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2907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 호출  139 / 270 · 51.48%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512A3-16C2-4CE4-822B-308AFB1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0670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2AA14-7AC7-4494-93C2-A1AB3B3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F84B0-EC3A-450B-8E46-847F77E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V3.1 전체 질의분석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604D7-F98D-4B35-904E-8BF3BBC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33725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solidFill>
              <a:srgbClr val="D948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8FDF0-C3FC-4A53-89EE-78E64197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2400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대부분 LLM 분석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의도·역할까지 구조화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0308C-8E5D-42DC-82C7-209AF070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 호출  240 / 270 · 88.89%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E11B6-EF99-4438-B49B-9CA9377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368EB-6F25-4708-BB10-819F80EE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6E5F2"/>
                </a:solidFill>
                <a:latin typeface="Malgun Gothic"/>
                <a:ea typeface="Malgun Gothic"/>
                <a:cs typeface="Malgun Gothic"/>
              </a:rPr>
              <a:t>평가 순서  |  Hard Gate 통과 → Recall@5 · NeedCoverage@5 → 분석 지연시간 · LLM 호출량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D96A-62F6-4DAE-85A8-9B90AD8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 |  V1.5 간편 라우터 — Hard Gate 통과 · Top-5 근거 회수 성과 확보 · LLM 호출 7.75%</a:t>
            </a:r>
          </a:p>
        </p:txBody>
      </p:sp>
    </p:spTree>
    <p:extLst>
      <p:ext uri="{BB962C8B-B14F-4D97-AF65-F5344CB8AC3E}">
        <p14:creationId xmlns:p14="http://schemas.microsoft.com/office/powerpoint/2010/main" val="851809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F5A452-922F-4CFD-8527-E784B0F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3BB4C-7524-4B4D-B222-922F2F1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B664E-F600-46ED-BCF1-F8208C1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Hard Gate는 지표가 높더라도 검색을 막거나 정답 근거를 잃게 만드는 후보를 먼저 탈락시키는 안전 기준입니다.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F57B1-C344-40D3-AD6E-65FA8BAA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DDAF9-C67C-4FC2-B7CC-3644C2A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CEFB-B33A-4664-B880-57203418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5EC70-D5AC-4B9A-9CD2-30B1895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9F1FF-5D82-42A7-B483-0E353F40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모든 비교 후보 공통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2960C-91CA-40DD-9781-AA0C502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C5EBB-7D73-4C84-B94D-6F18348D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C8B9B-081A-404A-B7FA-5CACAA82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실행 완전성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2333A-CBB4-4A1B-84AE-482D65E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실행 오류 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B610E-8C2A-4DA1-9491-37D57DE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574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8F981-AE52-4782-ADA3-227407A7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2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0514-57ED-4813-A5E9-FE8E4539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241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질의 유효성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8B8BD-802A-415B-BED2-1254B7A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57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빈 검색 질의 0건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35BA5-7D51-4F7A-9B3A-80D617A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DA999-7711-41C0-AF1D-9886BF6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CC4E8-4559-4D35-8A6A-0ED0300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정상 질문 보호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42E0A-BFED-4B42-B309-92C5EE1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잘못된 OOS·DIRECT 종료 0건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A6289-7ECB-4C05-8288-465D6837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767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EE8AE-A9DC-4B3C-9D55-CA94653B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48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80213-4D0B-4B25-AA0C-FDF19C71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434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Gold 근거 보호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741D9-5EF4-4465-9304-75E4B14B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76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Hard Filter 정답 업무 제외 0건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6485F-7D71-41CB-A6F3-BC16FB9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767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7469D-4541-4D69-8897-47643E06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48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C09A3-F504-4390-AA73-B1E5EBB5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434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불필요한 중단 방지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C6A5EB-DE86-4596-87DF-B4349B3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 전 CLARIFY Precision 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87D46-FEAB-445B-9744-8C4CCA28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5D9FF-F6AA-4A38-B5C9-17C188D0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977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 순서  |  Hard Gate 통과 → Recall@5·NeedCoverage@5 → 분석 지연시간(평균·P95)·LLM 호출량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CEF2E-14A6-461D-91B4-26E107DC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7AAE1-705F-4B30-B7D2-30F4D1FE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1AE9F4-84B8-451D-8ADC-FF6F24F4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4A605-34D5-422D-B045-95EBB738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Hard Gate는 지표가 높더라도 검색을 막거나 정답 근거를 잃게 만드는 후보를 먼저 탈락시키는 안전 기준입니다.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228FC-D756-4C99-8B9A-B099F2E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8789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FDFB24-DDD5-4E24-B89C-62A17B26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25869-4DE6-4429-9A0B-C3CEBA8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(V3.1)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019F9-62BC-4599-9CC4-8105653C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V3.1은 질문 의미를 가장 풍부하게 구조화했지만, 실시간 검색 앞단으로는 비용과 재작성 위험이 컸습니다.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6CCFB-1945-41BC-95EB-737A6AC5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8D810-C659-4E63-84BF-38AB2C8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52739-FBBB-4923-9784-F099FD5D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B8950-6524-4C2D-9098-1D84DF8A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44B8-9AB8-498A-8FDD-4DE680F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V3.1 · 전체 질의분석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6BEAB-7727-43F0-93E3-0C526BBE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12A40-7739-4921-A70E-9FD8ADBC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LLM 의미 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4E80-9543-4B5B-B602-E39E9660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48612-FF12-416D-970A-669455E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FAD8-18BC-4126-9D93-D8DED61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의도·역할·Need</a:t>
            </a:r>
          </a:p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구조화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09D39-866F-47D5-9938-98C08A68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B706B-233D-436E-82FD-59DA6C3B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EA6CE-989B-47AC-9AC0-C7DF3CDB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질의</a:t>
            </a:r>
          </a:p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재작성·분해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58FFF-5A91-4975-90BE-2FF42874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A24FC-3429-42F9-9B51-187D570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7A4E0-F29A-4281-9392-1C8313FF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479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9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HARD · SOFT · NONE</a:t>
            </a:r>
          </a:p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필터 정책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A4729-3059-427B-A0BC-EB53C964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4DBFC-6F1C-4DE2-8023-030CE75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5659A-EE8B-4DB5-8BA3-593CA9FA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이관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B7625-056C-48F1-B983-9CB1B689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0782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B39AA-05A1-4F1B-9CAB-7772E55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공통 Hard Gate 통과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B654A-9527-4759-A84F-68CA6668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833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실행·질의 유효 100%  |  OOS/DIRECT 오탐 0  |  Hard Filter Gold 제외 0  |  CLARIFY Precision 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FCA09-909E-43EB-A21E-755C3AF7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5000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2117B-284C-45C0-A977-84939CB0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얻은 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477C7-918F-49F7-95A0-68051AE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의도 분류 · 사용자 역할 · 누락 슬롯 · Need 단위 검색 질의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 복잡한 질문을 가장 자세히 구조화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12DFF-FAA3-4000-ADDA-8519744D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5000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B369A-2917-495A-ACE4-60C3035D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실시간 적용 시 부담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DF8FD-FF78-411F-8773-6B05A70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LLM 240 / 270 · 88.89% · 평균 분석 2.00초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재작성·분해가 좋은 원문 키워드를 약화할 위험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92D8C-7A07-49CD-AB16-FE122A4B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82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37C45-3BF1-4FB9-98F0-7B384FDF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 결과  |  구조화 범위는 넓지만, LLM 호출 88.89%·평균 2초·재작성 위험 때문에 최종안으로는 제외</a:t>
            </a:r>
          </a:p>
        </p:txBody>
      </p:sp>
    </p:spTree>
    <p:extLst>
      <p:ext uri="{BB962C8B-B14F-4D97-AF65-F5344CB8AC3E}">
        <p14:creationId xmlns:p14="http://schemas.microsoft.com/office/powerpoint/2010/main" val="916940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5AEE21-2356-4948-BF9D-2AFA21F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F9193-5F8E-4893-AC3A-F8B1BACA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(V2.2)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CD9F8-D6E4-4536-820B-904523A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V2.2는 규칙 Fast Path와 선택적 LLM 분석을 결합해, 검색 전 안전성을 가장 촘촘하게 검증한 후보입니다.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14DA4-F287-40CD-B2F3-41AC77FC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AAE42-D7DC-4957-9E90-AD252BC7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3212-EB74-4101-A7F1-BDE2430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584AE-B232-4FE6-9AAD-6A1CC22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17618-7F80-4141-9F36-E1FC185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V2.2 · 최소 경량화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69F4B-7CCC-442C-967E-92842997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A7FA7-7307-4283-9A3E-EFA904F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원문·문맥 복원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88EE3-86BE-4408-8859-26FAD81F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57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9EA25-CA62-430D-A0D4-298BCA90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5BE3B-2CA6-4EE2-9BAC-D5A7AD8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DIRECT · OOS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규칙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54DCC-9F54-432B-B630-B54DE426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57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8A031-103C-4895-9BEB-E1D6CA4F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77774-3FA4-44D3-9400-AA75AD3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업무 없는 질문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CLARIFY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66CDB-DB62-4B65-9429-8F48BEE8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57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AE3D5-1869-405A-B8DB-06F1A2C1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BE171-2AAB-4639-8BCA-6D313883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명확한 질문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Fast Retrieve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D4723-ABAF-4792-B9EE-5FD2E17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57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6C6A-9841-4363-B43C-632008C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F7462-E6EE-4B86-89E7-12E7F57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필요 시 HCX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최소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014E8-3FF6-4888-9C02-A9A5AB0F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57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60CE0-2BF9-4486-808B-AD5E6699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0300"/>
            <a:ext cx="1476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F3303-D75F-4CD5-88AF-91FBA384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19375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Fail-open +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후 검사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BF23C-DA89-442F-8B69-E096160E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0782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32A8A-657E-4CE0-8284-F3815458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공통 Hard Gate 통과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1E40C-95C3-4982-B173-D7576E69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8334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실행·질의 유효 100%  |  OOS/DIRECT 오탐 0  |  Hard Filter Gold 제외 0  |  CLARIFY Precision 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07FBE-69B8-4C44-A875-6F3595E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EECA4-9912-4735-90C5-951CA81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규칙 Fast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52C8C-B4D2-4FA1-81DF-A4B42BA1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약 48.5%</a:t>
            </a:r>
          </a:p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LLM 호출 없이 처리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66749-7B5A-44E5-A5A4-5FB47D6D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186238-1EAC-4702-B5AE-1AD7D96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57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OOS Fail-open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23FD3E-992E-4E28-9F50-276D5929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71975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애매한 범위 밖 질문은</a:t>
            </a:r>
          </a:p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 후 근거로 재검사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1C666-5637-4D07-8978-0E790AC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011D9-1B51-438C-AEE7-EC1935D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검색 후 추가질문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E0322-BEB0-4F0B-B27E-B7B8259C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71975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2단계 Coverage 90%</a:t>
            </a:r>
          </a:p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불필요 후검사 0건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3ACDA3-F593-44B8-8AF4-FC11B6A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57625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A746CB-2405-45E8-AA62-62E76639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비용·시간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BD3DCC-60D5-4641-886C-F34BEC5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71975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LLM 139 / 270 · 51.48%</a:t>
            </a:r>
          </a:p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평균 0.85초 · P95 1.93초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D39485-0E8E-48CB-9261-2BDAC94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782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225C09-2A74-4017-A850-0269113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4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해석  |  검색을 막지 않는 안전성은 검증됐지만, 애매한 질문마다 LLM을 쓰는 비율이 V1.5보다 높아 실시간 최종안으로는 선택하지 않았습니다.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BC859B-B3C4-4D79-85B6-880FCB4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685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C27047-CB63-484F-88C1-7465FF3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544DC3-65B3-4785-A74E-6090250A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B51CE8-CC13-4CF6-B956-D28F36B6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(V2.2)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161790-91A7-4791-AB68-1AB8434A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V2.2는 규칙 Fast Path와 선택적 LLM 분석을 결합해, 검색 전 안전성을 가장 촘촘하게 검증한 후보입니다.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989AF3-7A38-4C29-9AE3-54FD3E0D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5C1FAB-3363-4A6B-8088-44C049F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A864B9-F3DB-4C1E-8329-EECBE8DA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(V2.2)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181723-6454-422E-951C-6DE2FB6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V2.2는 규칙 Fast Path와 선택적 LLM 분석을 결합해, 검색 전 안전성을 가장 촘촘하게 검증한 후보입니다.</a:t>
            </a:r>
          </a:p>
        </p:txBody>
      </p:sp>
    </p:spTree>
    <p:extLst>
      <p:ext uri="{BB962C8B-B14F-4D97-AF65-F5344CB8AC3E}">
        <p14:creationId xmlns:p14="http://schemas.microsoft.com/office/powerpoint/2010/main" val="21349888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D401B6-16AA-45D6-AA9C-F093A35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7283C-6424-4774-8CD4-A54C835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(V1.5)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655DC-062B-49DC-8B51-60315365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V1.5는 원문을 보존한 뒤, 교차 업무 복합질의에만 선택적으로 구조화 분해를 적용합니다.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801C-24C5-4B4A-B05B-524F69CC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D7C66-CD48-44BE-83F7-DFB16829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B9FB4-0024-41CC-8D04-64BABF1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D2FB4-35A7-4738-A306-3D6E571A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1ED26-843C-4939-977C-DDD50184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V1.5 · 최종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3C81C-1911-4895-802D-219B5492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4E2DA-7BEA-4B80-9676-B89747F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AD15-91D4-4256-B2A8-6FE100B1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24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885CD-8D4D-4BB0-92CB-DAEAAA5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52625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0BD92-0BEC-4CBA-9202-A8AB49F3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원문 보존 · 최소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A00E0-FCA3-4FD6-BAFD-6FF5D9F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24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67D6E-5D76-4914-A4E5-BBAEA6B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59AA8-4A7F-4909-9AC3-1BCB9829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대화 상태·문맥 관계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2E2FD-0DA7-43C6-BFE8-E27D76C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240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8206B-0001-452F-87F6-1A37EAFC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52625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E295D-8EC9-4BCD-A887-3C3DE255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431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경로 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39985-8B6C-453E-ADEB-C08A86A6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C0D5D-469E-42BE-9E98-2190A47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57400"/>
            <a:ext cx="1447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DIRECT · OOS · CLARIFY</a:t>
            </a:r>
          </a:p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 전 종료 / 추가질문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E09E0-2B5C-490B-A978-BFB46FF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262A4-0B5E-4140-B173-B375EF7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916CC-E7E4-4BA9-8598-19928E40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2719A-9BBF-46A6-91E4-E8EB2DB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69C90-6576-4DA9-B393-B78168A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E6DB-A938-40B8-965F-48C7CCB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4133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5D564-2350-42AB-A942-41E4CA8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67175"/>
            <a:ext cx="3829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업무 탐지 + 질의 유형 판정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53CBB-9ECA-4FC2-805F-179B5CF1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3865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5F3F8-F3BF-4636-852E-710C62F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00575"/>
            <a:ext cx="604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2AA9A-3146-4176-B0CB-D8C83E5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005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F19C4-605E-47EB-8841-A4FB54F0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02937-3AF9-40AE-9F44-6E956F43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96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5F244E-B25D-4607-AD8A-251F475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196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450604-F45D-4D9F-8851-1C468889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342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B24D5E-895C-451F-B822-FBEED70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SINGLE · SAME_BUSINESS_MULTI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CD86B4-1C47-4E09-A819-6759948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또는 문맥 결합 독립질의</a:t>
            </a:r>
          </a:p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1.0으로 검색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76E84-6855-4FC8-9B69-A7957B68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42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209F24-3111-4EB1-B69D-442563D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43475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CROSS_BUSINESS 후보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94F02C-C84E-4EC6-93F3-D0006C71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67325"/>
            <a:ext cx="304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업무 2개 이상일 때만 HCX-007 호출</a:t>
            </a:r>
          </a:p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구조화 분해 → 결과 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29A37-2690-4993-90A6-918BEE2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6C1887-A30D-4396-A1D0-D637E644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43475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분해 승인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49184-4B04-4F08-91E3-F105179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67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앵커 0.4 + 분해질의 총합 0.6</a:t>
            </a:r>
          </a:p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가중치 합계 1.0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50B3E5-4B26-495B-B073-103BA73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53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FE5D56-24AF-4ECB-99A5-1D4C15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447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분해 거부·실패·API 오류 → 원문 1.0 fallback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184243-B22F-461F-B769-8E1F202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82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0126A9-90EC-4376-833B-C8EE73D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62675"/>
            <a:ext cx="10325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선정 이유  |  단일·동일 업무 질문은 원문을 보존하고, 교차 업무 질문만 분해해 검색 범위와 지연시간을 함께 관리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79DE18-6C8D-4ABE-BBDF-6EB5E2E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C7304D-3632-4F2D-934F-E11C2A4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 분석 (V1.5)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9F58F7-A536-4F8A-85B5-4F4163C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V1.5는 원문을 보존한 뒤, 교차 업무 복합질의에만 선택적으로 구조화 분해를 적용합니다.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AB2DD8-5429-4D8A-AB87-1F173E73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64713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F81E86-95AA-43ED-B9A7-13634FD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A620C-BA23-47AD-9DD9-68D6BC21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질의분석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39633-05AC-4E0B-A901-A14865C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질의분석은 안전성 Gate를 통과한 뒤, 복합질의 분해가 실제 검색 성과를 높이는지로 검증했습니다.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78DC5-C019-4706-88F0-131397E7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1DDFC-6E9D-4EAB-8370-4F7B60B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48D15-C69B-4FBC-9CB9-4F00832E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D4238-A284-4511-A0F0-6D5DB2A9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47F58-C4E0-4186-8EAE-708C3DC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안전성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33439-31B7-4D97-8163-0B28F060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실행 성공·검색 질의 유효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22A4-657A-4557-AC62-F792C2DF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4AF61-3459-4DBE-9DAC-F6A3623A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C338F-BAC6-4BA9-B03B-E4D737E0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안전성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4CA05-4A5C-48D6-AF24-688EBE2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정상 KDIC 질문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잘못된 OOS·DIRECT 종료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309A1-C1B8-4AEA-B502-0FA6D50E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8F622-CFB2-40EC-BD56-8CE72F9D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9CA77-B1B4-4DA4-8C24-7B626A8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안전성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9C87B-1566-499F-AE6C-6B700522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Hard Filter로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Gold 업무 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137DC-B017-48B4-87ED-0DB3A5D6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EA057-BF3B-42C2-9CDD-095BB70B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57E56-E5AB-43AA-B9D3-82567DC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524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408EE-61C9-411B-9205-3E8BCDF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복합질의 비교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62DE6-9369-4A7C-B5C8-9E324AB6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원문 검색  vs  분해 질의 검색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0C73C-75BC-405C-8C45-CEC4AB4E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동일 검색기·Top-K·Gold 청크 기준으로 비교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복합질의의 운영 경로에는 원문 혼합을 적용하지 않음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3D617-DD11-432F-B071-F4E5C3A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5524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94109-1D52-45E5-8CC3-0B968E3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524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F2D2B-0479-4D42-A1EA-BB721D2C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검색 성과 확인 지표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A70A1-9755-47E9-B586-20F98A52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6242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Hit@3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FD5D3-54D2-49E6-B45B-A6D4A89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8150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상위 근거 진입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87429-57EF-47A8-A224-B3AE557F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6242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Recall@5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8A209-B966-4C4C-8670-99E35F7C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8150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Top-5 근거 회수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59B99F-2E39-4864-BDC6-91630BB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386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nDCG@5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C36B16-E219-43EB-888C-5D81AD5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정답 근거 순위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61C1C-176E-4610-A33D-AD0437AB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386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NeedCoverage@5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B92244-1748-411F-8DA1-48224383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복합 Need 충족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9EA6E4-D1F9-479B-8FA4-3E457059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706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930CAA-D552-4A46-9DE5-54BF972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34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  |  복합질의는 분해 질의 적용 시 검색 성과가 더 높아, V1.5의 복합질의 경로로 반영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B82AA-DDDA-4A24-AE74-BDE9294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808E59-EAE1-4817-B875-69C6698B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세부 지표 수치 정리 후 반영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E88C2B-86FF-4751-BD3B-277C34D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864884-8503-4320-AB9B-660431A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5C7188-A721-4902-8A40-52C94111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질의분석 검증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90377C-FA90-4C0B-AEB3-18281573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질의분석은 안전성 Gate를 통과한 뒤, 복합질의 분해가 실제 검색 성과를 높이는지로 검증했습니다.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66BF9C-A26C-4A85-9395-962CD3AE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30966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154E93-9EDE-44EF-8CCB-082BDF7A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 QUERY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0A761-B47C-4351-930C-9D4385D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V1.5 최종 질의분석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9C856-7088-4E6C-BBDD-3D1B08E0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대화 문맥을 필요한 경우에만 결합하고, 교차 업무 복합질의만 원문 앵커와 분해질의로 검색합니다.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3368-9B3B-4C4C-9C25-9EE69A74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155A7-181D-4869-865B-82EE233E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43B57-89C3-405B-ABD4-8F93C77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67B35-4604-472B-AFB5-C3F9F94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69E12-0217-41DD-B29F-232F527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149A2-1858-4D98-996C-2E22475C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95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3105C-8C6D-4BC6-A20A-72F2537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1695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34B62-9489-4BE2-B2BB-54516CE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859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원문 보존</a:t>
            </a:r>
          </a:p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최소 정규화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4F3A0-EEBB-43B4-87C1-8D32711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0A7AA-75C3-4589-843B-15D4A32A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8246D-BB78-4EF9-B7E8-54745C7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대화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C0E77-D814-41B8-A240-E690BC6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95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22CFB-EEAD-41B5-8164-4D55FC8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A5846-ECAA-4D0D-8E4F-70124790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문맥 관계 판정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D4B50-C78D-44E2-AB4B-2D175C0B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5DBD2-E8FC-4BC7-BB4D-F1C1FAA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ECBEA-4111-4F7B-BB48-F128A0A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경로 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8E635-C785-47CA-9FBC-DFF655D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288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808B9-99E6-4914-8971-546DAFF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52625"/>
            <a:ext cx="1352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DIRECT_RESPONSE</a:t>
            </a:r>
          </a:p>
          <a:p xmlns:a="http://schemas.openxmlformats.org/drawingml/2006/main">
            <a:pPr algn="ctr">
              <a:def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OUT_OF_SCOPE · CLARIFY</a:t>
            </a:r>
          </a:p>
          <a:p xmlns:a="http://schemas.openxmlformats.org/drawingml/2006/main">
            <a:pPr algn="ctr">
              <a:def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 전 종료·추가질문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E31C5-E4A8-4BC2-AD0E-A54B12B5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57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8619E-D7F9-414F-81C4-0B30200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A4EE5-2619-4E2E-8A7B-FA32065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244C4-8866-4AC4-B617-812E1BA4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RETRIEVE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1E7D3-B6C7-42A6-9687-CBCF16AD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63524-EE70-4E72-80A1-D735A33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533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BF019-97C0-4D80-9EF4-44721EC3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48100"/>
            <a:ext cx="422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업무 탐지 + 질의 유형 판정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03E89-B67C-4168-8E90-403650D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B9D95-D8B1-41D4-9FE2-C5E1A1F5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52925"/>
            <a:ext cx="6600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4DB8F-35CE-4908-88DF-236802A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52925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49F7F-461C-42F4-AF66-7F3BB18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52925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C6F8B-3608-4537-B1BD-4B44D4A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37197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08D04-6575-4546-A694-3B07DF14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7197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18D0D-3ADF-4D51-8738-0DE8EB09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533218-D111-4089-961A-F4F0CB2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SINGLE · SAME_BUSINESS_MULTI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B5F697-FF45-4597-BE76-C3D4587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또는 문맥 결합 독립질의 1개</a:t>
            </a:r>
          </a:p>
          <a:p xmlns:a="http://schemas.openxmlformats.org/drawingml/2006/main">
            <a:pPr algn="ctr">
              <a:def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검색계획: ORIGINAL 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315302-C3C5-477B-B842-FCEF239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005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135877-2221-4BE7-9BA1-741A9899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43425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CROSS_BUSINESS 후보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F8EF7B-F640-4A40-B30B-178E1EBA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48225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RETRIEVE + 복합 후보 + 업무 2개 이상일 때만</a:t>
            </a:r>
          </a:p>
          <a:p xmlns:a="http://schemas.openxmlformats.org/drawingml/2006/main">
            <a:pPr algn="ctr">
              <a:def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HCX-007이 검색용 하위질의를 JSON으로 생성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8CDED0-A687-4535-87A5-96F691F5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A89B86-6346-40AF-A82C-4BBCE8C8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43425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분해 결과 검증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A2F1F-8006-4E47-B742-622D7B8C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482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하위질의 수·업무 포함·원문 조건 보존·</a:t>
            </a:r>
          </a:p>
          <a:p xmlns:a="http://schemas.openxmlformats.org/drawingml/2006/main">
            <a:pPr algn="ctr">
              <a:def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용어 공유·confidence를 검사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59E3A0-4731-4AC8-8B8F-7C59E75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333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33B16-E593-4F5A-9C72-F11685D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단일·동일 업무 경로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85EBF3-1059-4795-995D-F80C086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ORIGINAL 1.0 → 검색 시스템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DA7927-B25A-43F1-888B-893A4BF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0200"/>
            <a:ext cx="3333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547FD1-E338-4BC6-9831-738BD50C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5245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분해 승인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D3BBAE-FCEB-4290-84E1-7550093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781675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앵커 0.4 + 분해질의 총합 0.6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363BDA-FCC4-4773-A831-8F84E81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10200"/>
            <a:ext cx="3333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6515C7-8717-4A7A-848E-E021C7C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245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분해 거부·실패·API 오류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366554-8493-4D08-8850-F6A65816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81675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원문 1.0 fallback → 검색 중단 없음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E18EE7-52C6-46F5-ADCE-DBE941F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0F3028-D259-4AC0-A45A-F3C46148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6762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467860-09EF-4C7E-B3EC-25EF960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653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검색 직전 안전장치: 문맥 업무 보존 · 질의 존재 · 가중치 합계 1.0 · 업무 Hard Filter 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10182F-2979-4ADE-AFED-C80D73C9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72200"/>
            <a:ext cx="3714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8B7BDD-2778-4F05-B2B6-CE8D073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229350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유효한 검색계획만 검색 시스템으로 전달</a:t>
            </a:r>
          </a:p>
        </p:txBody>
      </p:sp>
    </p:spTree>
    <p:extLst>
      <p:ext uri="{BB962C8B-B14F-4D97-AF65-F5344CB8AC3E}">
        <p14:creationId xmlns:p14="http://schemas.microsoft.com/office/powerpoint/2010/main" val="20512385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836ED-60EC-4894-88AD-37641AD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 RETRIEVAL &amp;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1C792-805D-4184-B266-53DA446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검색기법 후보와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0874-CFB2-479B-AD15-DE8782F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BM25-Nori부터 Dense·Structured·Hybrid까지 차례로 확장하며, Gold 청크 회수 성과와 운영 비용을 비교했습니다.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52C0D-80B5-4BAA-AB86-AF5A7A6D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F8B7C-13F5-457D-9BA8-E6066A3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98BCD-DE8F-46D0-919B-F0118BE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081FE-895A-406C-83FC-A1622A77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5E257-603D-4BEB-BADF-C7545AD0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19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97CBF-DBDF-46FB-9984-67E0F267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048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D0C6C-FD73-4AAE-8D67-D8D510D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9DDA8-88F4-4B0C-9F8D-066A8DB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70FD4-F227-461D-878F-D6FC85F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D2004-8B60-43D4-AD2D-52656089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BM25-Nori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BGE-M3 Dense·Sparse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일반 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9CBE3-65F3-4BB6-A619-D101458F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433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6DED2-5A70-48DE-B336-182A32AE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19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7F85A-0D20-4054-8B26-B19B728C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57450"/>
            <a:ext cx="3048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B138C-EA6A-4691-86C5-FA1B5A5D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1A49F-A743-4452-B901-F24EE084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구조 개선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C82A7-C8B9-4CE2-B714-9C8D302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147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C1175-CF76-44AC-AED4-A1183AFA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00475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제목·소제목·본문을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함께 임베딩한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Structured Dense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798F1-E0FB-4B5D-B011-F9CD3633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3048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350BA-90C2-48DE-B506-6B9FF035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DE996-6FD8-4A86-96A2-26564242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후보 재정렬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D08A2-5A1E-459E-9B76-3B1661D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147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17B20-9360-4557-9EAA-66BCA10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00475"/>
            <a:ext cx="2333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Structured Hybrid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+ BGE Reranker</a:t>
            </a:r>
          </a:p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+ Parent-Child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0174E-0BFF-4270-BDB6-5869437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1076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99BD2-BA0C-4184-AFAF-D6D3AD77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테스트 기준  |  Gold 청크 기반 Hit·Recall·MRR·MAP·nDCG·Precision·F1  +  질문별 결과  +  검색 지연시간</a:t>
            </a:r>
          </a:p>
        </p:txBody>
      </p:sp>
    </p:spTree>
    <p:extLst>
      <p:ext uri="{BB962C8B-B14F-4D97-AF65-F5344CB8AC3E}">
        <p14:creationId xmlns:p14="http://schemas.microsoft.com/office/powerpoint/2010/main" val="11246346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3AE191-C073-4C13-BB2B-F5F9C37B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 RETRIEVAL &amp;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77F96-C146-4956-AA35-E10734B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베이스라인 비교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813A5-3631-4512-8C10-87623FEE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후보를 단순평균으로 줄 세우지 않고, 실제 답변 근거에 직접 영향을 주는 핵심 지표로 Reranker 효과를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5441-C97E-4409-98F7-11B7B227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47F0C-381F-4335-BB99-64F0EFA3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CC35A-D6CB-4492-B432-A0AAF33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CE0C0-4268-47EE-B7B5-28D1C75B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59065-627B-4005-A0FE-94423C2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선정 지표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7A35-4CFA-4A38-9B5E-03DDE21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3241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F2A5C-B74D-430F-B4BA-ADB5E307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Hit@3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8DFA8-4671-4672-A6B1-1C38AA20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1962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DCBA6-C37A-41EB-AEF7-964A3CA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상위 3개 안에 Gold 근거가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하나라도 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AC457-95B2-4122-B9DF-C3CEF85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3241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252C7-17F0-4FEA-803E-CDEFCDF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62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Recall@5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E706D-D732-4DC0-9A65-CFBA9A1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43225"/>
            <a:ext cx="1962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A77B"/>
          </a:solidFill>
          <a:ln xmlns:a="http://schemas.openxmlformats.org/drawingml/2006/main" w="0">
            <a:solidFill>
              <a:srgbClr val="0AA7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0275D-5D10-4233-AF9C-E39F86C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답변에 전달할 Top-5가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Gold를 얼마나 회수했는가?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CF365-87FE-4522-AFA4-984F06E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3241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F0A64-A33B-4230-9AD8-EEEFEF8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nDCG@5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FCBC5-9DB5-4F70-B3E7-801E7D14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43225"/>
            <a:ext cx="1962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9"/>
          </a:solidFill>
          <a:ln xmlns:a="http://schemas.openxmlformats.org/drawingml/2006/main" w="0">
            <a:solidFill>
              <a:srgbClr val="D58C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7A542-50EB-4CE9-A748-7520A703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정답 근거가 상위 순위에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배치됐는가?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7BB4B-D3F6-4826-98A7-300B93D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23241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53BEC-DBB1-4FF0-BE59-9CC32F2D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62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F1@5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54281-85D0-4ACF-A443-846D52A8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43225"/>
            <a:ext cx="1962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solidFill>
              <a:srgbClr val="D948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E2559-6047-463B-9C33-034BAEB2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근거 회수와 불필요한 청크</a:t>
            </a:r>
          </a:p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사이의 균형은 어떤가?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71019-8845-4DD4-9915-762FF3C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763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C818F-8DFF-497D-92FB-75F0FEC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3000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7BC82-AFEE-4FB1-AF0B-5A97F321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2771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RERANKER 재정렬 효과  |  Structured Hybrid 대비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95E7A-23A0-495E-A5C6-3CFFEBF1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03060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1EEA5-5216-45A8-A54F-2D71B3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238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핵심 지표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11CBF-906B-4CF8-A764-B05F9E7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Structured Hybrid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69B0E-A7E5-4025-A277-A1C47E3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2428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Hybrid + Reranker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6B5FC-86A8-45B2-B2BB-3022C8E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14850"/>
            <a:ext cx="2047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변화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22EC5-3B47-463B-A128-E10ADC2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67CBC-0BC6-4353-9223-616E600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Hit@3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52A3B8-32F4-403E-9D95-1CE4088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72.50%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1961A0-81EA-40AA-A37A-4C53A38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38700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80.83%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3939C7-9D6B-470A-AFD6-F0A25077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838700"/>
            <a:ext cx="2047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+8.33%p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32F141-16CA-4690-BA0A-D071C277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366BF-246F-4CBA-BC2A-AA301336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Recall@5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4EA4FA-C584-459A-9D9A-02373B0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72.64%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227FE3-A78C-49FF-8EFF-17F95F3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958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80.42%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ABA00-6D03-451D-86E8-A1E4BC2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95875"/>
            <a:ext cx="2047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+7.78%p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9C5B0C-D064-4088-9A3B-8AE7C49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4E47BB-10F0-478D-882C-66562A2C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nDCG@5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0D5C8E-3F3D-4E6A-B1EF-F71B43DA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62.99%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F74ECC-61F6-4A1A-BAB7-3B93DF8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53050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68.00%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6527DE-8050-4AB2-83AF-31FECA3D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353050"/>
            <a:ext cx="2047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+5.01%p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5B9824-B856-41C3-977C-2C9C554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763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4F86A4-DA16-476C-BDF4-87CA94FC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959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 |  Structured Hybrid만의 변화는 작았고, Reranker 적용 후 핵심 지표가 함께 개선돼 최종 검색기로 채택</a:t>
            </a:r>
          </a:p>
        </p:txBody>
      </p:sp>
    </p:spTree>
    <p:extLst>
      <p:ext uri="{BB962C8B-B14F-4D97-AF65-F5344CB8AC3E}">
        <p14:creationId xmlns:p14="http://schemas.microsoft.com/office/powerpoint/2010/main" val="4172818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2E70A-7387-4565-911D-23A0CF48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 RETRIEVAL &amp;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E3DF6-F768-45E3-B219-3C0B994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검색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D5975-338F-4B4B-9AC4-5CA288B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베이스라인 비교에서 확인한 Structured 입력·Reranker 효과를 반영해, 최종 검색기를 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A07B2-EED0-4E33-BE62-2352C82C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FAF57-67FE-4CA2-8C39-0C5D6E9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AEF1-BB7E-4E3F-AA11-9259EFF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533C0-DBD1-4F1E-A6C7-7AA5B91D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908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CF0F8-6A01-4D4D-B401-81B71CD9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9082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12F44-21F6-4577-8562-FCFBB97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57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D9CE7-34CB-46C5-A855-37DA836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E29C6-6916-4447-9326-0457B80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9C2EA-98AD-4D6A-BB04-419AAECF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E729B-E2DB-45AA-AFE3-FD23255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8B60C-3A95-427D-A54C-B329582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3896B-03E3-499E-A271-241E81C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E9128-E8C9-4947-97F9-7EBD26E2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81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B4A78-5431-4E41-BB71-3BFE5CB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52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59A40-22FD-43D1-9574-50BC4DD0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762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33E08-E1C2-4FE0-A1A8-AB3856B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495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BGE-M3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Structured Dense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Top-20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4DD87-9E2F-438B-AFBD-C2AED431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F0833-4079-4FE4-A4AE-95CB3B35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BM25 Nori-none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Top-20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D8EC4-1D18-4931-9019-8A0E94F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5BB30-CD67-45C2-B3C8-84664F4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67025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Min-Max 정규화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Dense : BM25 = 0.7 : 0.3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A6857-C34E-414E-A2B1-5F07ABB0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6CC66-3ADE-4225-B0A8-1526A690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복수 질의면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가중 RRF K=10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통합 후보 Top-20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0233E-1562-48B7-9B80-01A621F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1937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48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2F717-1065-43E2-B6E1-761BA7D5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717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BAAI Reranker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입력 20 · 배치 8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최대 512 토큰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0C1F0-33B9-4323-93ED-2BFFF534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D9BA7F-C5EC-4F47-A0ED-56793EA9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86275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Child Top-5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→ Parent 문맥 확장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Parent당 최대 8,192자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4AD16-6EFB-4892-919D-86093DA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25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F2856-3DA4-4273-8C80-CDE311C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07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정책  |  업무 필터 NONE · Hard Filter 미사용 · 매칭 Child는 유지하고 Parent는 답변 근거만 확장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08B374-6113-44A2-98A9-4C4D928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A887F6-BEFE-4AAF-A0C1-A9C5FB7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 RETRIEVAL &amp; EVALUATION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DDBD5-37D7-4A1D-839E-4F86F5E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검색 파이프라인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EA0C1-73FC-40A4-8E61-38315F2F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베이스라인 비교에서 확인한 Structured 입력·Reranker 효과를 반영해, 최종 검색기를 구성했습니다.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11139-C762-4987-A0EC-F2BEEC3F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1E1FE-128E-4341-8DC8-BC6CC62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03 RETRIEVAL &amp; EVALUATION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62496E-BF90-49C8-B45C-6301A5DD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최종 검색 파이프라인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430D2-70E7-4D87-BA24-4A942C2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베이스라인 비교에서 확인한 Structured 입력·Reranker 효과를 반영해, 최종 검색기를 구성했습니다.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211232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46F98B-8D87-4E92-B4A4-E6E5A964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EF20-14D9-45F9-B8B5-8C38B766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E6A25-701A-4D74-8BDC-405214BD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같은 검색 근거를 사용한 상태에서, 답변 전 중간 구조만 바꿔 B·C·D안을 비교했습니다.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476A6-1888-46B7-9584-FE1F08EF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0683F-DEDB-4A86-BC0A-CEFED17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76A06-EB1A-46E7-870B-0211FF0A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9DA6B-69DD-4CB1-9305-72A8335F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15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35838-453E-4FC9-BCFD-F121FB16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0487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공통 비교 조건  |  동일 질문 · 동일 검색 Top-K·순서 · HCX-007 · Temperature 0 · 출력 형식·출처 UI 동일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2438D-9FDE-4EB3-A71C-B8BA626B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0066D-EE47-4532-AECD-41FBF68C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619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50629-3A8A-4090-AD40-1EB1908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390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B안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07D04-87CE-4CAA-99FD-4602ED1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Basic Evidence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FF6FE-3C9D-487B-AED5-85DA2F4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D680B-E728-4938-AD9A-3BC22C95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Top-5를 제목·소제목·본문·URL로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정리한 뒤 기본 답변 1회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DE9BA-8DCB-42FF-B467-0C83534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47CC7-1EF1-4D12-9290-9CA685E4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장점  입력 경계·출처가 명확</a:t>
            </a:r>
          </a:p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한계  혼동 사실을 별도 보강하지 못함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F777E-50BB-4301-919E-887A7A7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비교 기준선</a:t>
            </a:r>
          </a:p>
          <a:p xmlns:a="http://schemas.openxmlformats.org/drawingml/2006/main">
            <a:pPr algn="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단독 운영안 미채택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2E3CC-62CE-4127-B3EC-E4B882E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B086E-9C02-4956-8ADB-4364CCC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619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79735-FC6C-4E1D-BE46-0E160ED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390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C안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DEFE0-C05A-49D3-BA61-57328F8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Fact Index 보강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88438-E8DB-4433-92F0-9DB2224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99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A77B"/>
          </a:solidFill>
          <a:ln xmlns:a="http://schemas.openxmlformats.org/drawingml/2006/main" w="0">
            <a:solidFill>
              <a:srgbClr val="0AA7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C31FB-A2FF-43B7-8669-A2F8998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385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Basic Evidence Pack +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사전 검수 Fact Index → 답변 1회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FB839-FA46-487A-98C0-560F341A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7DD69-9594-4134-91B9-32548EE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장점  역할·조건·예외 혼동을</a:t>
            </a:r>
          </a:p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추가 LLM 호출 없이 보강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B18C1-BAF5-4820-A6A0-8A1DC489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720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최종 기본 답변안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26715-F885-4E79-A08E-CC4D180C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E3AF7-50FD-413A-8571-006D8398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619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34365-A75E-49BE-8B83-735E4A6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390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D안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17512-2EEB-49B9-A04E-F2DF9EA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Answer Skeleton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F47F2D-CD62-493D-A145-EAFB347F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9"/>
          </a:solidFill>
          <a:ln xmlns:a="http://schemas.openxmlformats.org/drawingml/2006/main" w="0">
            <a:solidFill>
              <a:srgbClr val="D58C0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F44F9-8BF1-4A23-AFD3-2990229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LLM이 원본 Top-5에서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Answer Skeleton 생성 → 기본 답변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239E3-148E-49FA-BB54-20AF42F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9BB7D-8698-41D4-BF13-4009CCB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장점  답변 항목·Claim·근거를</a:t>
            </a:r>
          </a:p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동적으로 구조화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6FC4A3-8AB2-4505-AAC9-BB2ADCB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720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선택 적용</a:t>
            </a:r>
          </a:p>
          <a:p xmlns:a="http://schemas.openxmlformats.org/drawingml/2006/main">
            <a:pPr algn="r">
              <a:def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LLM 2회 호출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BAE18-B5C1-4B1E-AEB3-CAAF8188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FB814-FF06-4E0B-850A-EFB7080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2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결정 기준  |  답변 정확성 · 필수 사실 누락 · 근거 충실성 · 위험 오류 · 응답시간 · LLM 호출·검수 부담</a:t>
            </a:r>
          </a:p>
        </p:txBody>
      </p:sp>
    </p:spTree>
    <p:extLst>
      <p:ext uri="{BB962C8B-B14F-4D97-AF65-F5344CB8AC3E}">
        <p14:creationId xmlns:p14="http://schemas.microsoft.com/office/powerpoint/2010/main" val="8311595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5615CA-19D3-40EA-BC4C-5E0D8D8D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D2DF7-C26E-4F8E-95BC-C616DB4D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7CB96-5784-47B6-9F6C-2B70C53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C안은 검색 근거를 대체하지 않고, 사람이 검수한 혼동 방지 정보를 필요한 경우에만 덧붙입니다.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6210D-6A4F-45ED-AE6A-0C02CD52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FB35D-8EDC-4C5A-B6DD-AF14C63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F5458-5528-4EAC-BBC8-C476615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E1337-16CF-46F3-AB1F-EC16829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8FFD1-CBC4-4C7F-A33C-28E815A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Top-5 검색·리랭킹 청크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F6887-21FD-4EAE-9A96-517E45B8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C291B-514F-4C36-A648-FFBDEFDA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575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364F6-31A5-4A6A-8F3C-129A43D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384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75A74-39B9-43E1-9BCC-01233A30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Basic Evidence Pack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제목·본문·URL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9804-F163-4519-B36B-D075AF87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638FB-D57D-42A8-B653-6B703EF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575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0DAD1-B893-40E7-AFFB-FF824E3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38425"/>
            <a:ext cx="1885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4EA6E-E397-45AC-907E-8037A277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Fact Index 연결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chunk_id·업무·혼동유형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45D79-7F3D-4555-904B-C67B873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D17C8-CA64-47C3-84FF-2E1D9168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F67DE-9805-4F5C-ACF7-2221A63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38425"/>
            <a:ext cx="1885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2CE1E-AB68-4A03-81F3-F503492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보강 Evidence Pack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원본 근거 + 검증 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AA627-1B85-4171-BBDA-64DE008C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solidFill>
              <a:srgbClr val="5267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D50E1-E57E-4155-9795-E548C101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57500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CA3B6-922D-4550-BC16-16C00928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3842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DD4B6-F735-47C9-A566-5939F927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기본 답변 생성</a:t>
            </a:r>
          </a:p>
          <a:p xmlns:a="http://schemas.openxmlformats.org/drawingml/2006/main">
            <a:pPr algn="ctr">
              <a:def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LLM 1회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C4F39-0215-4DA6-9AAE-E3A0A6FD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4619625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1499D-E58F-42A6-BBE3-13D62ED9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AB89B-7308-4298-81CE-89F9D95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62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Fact Index 예시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14AF1-9AF9-4439-8ACD-C169CA5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VS-0011 · BI-001_chunk_003 · eligibility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C0ABC-3AA9-4205-868C-155C69F4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“미성년자 예금보험금은 친권자 또는</a:t>
            </a:r>
          </a:p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후견인이 수령할 수 있다.”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F0C83-5CF8-4DF0-8E51-57DBEA6B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Guardrail  |  친권자와 일반 부모를 동일하게 표현하지 않음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7B678-53E9-4B55-8154-26BB6A1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952875"/>
            <a:ext cx="5381625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0379F-ACF1-4191-83BD-77FFA62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95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19041-772F-4798-A57F-55506EE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적용 규칙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8C63E-B420-43E7-A5EB-BF8C3E3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624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73E549-49B6-4096-8C5F-393E776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승인(APPROVED)된 Fact Index만 연결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73007-FBE8-409F-B3F6-4003B5B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244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314C8-582C-4F47-AEBA-5276DAA2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원본 Evidence를 삭제·덮어쓰지 않음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94C0CF-6B68-48B2-A878-B4B4E87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863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5D42C-3542-4CF6-98B0-3D87667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관련 Index가 없으면 Basic Evidence Pack과 동일하게 처리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1EF015-7A19-4AAE-957C-D3BCC7B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013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A557E9-A35E-465D-AB76-20D4076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효과  |  Fact Sheet를 매 질문마다 새로 만들지 않아도, 검수된 사실·금지 주장을 Evidence Pack에서 바로 활용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A0651-1DAD-4169-BF81-2BA1F95C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E547E2-F3DD-4DFB-A089-16DA38AD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928BDC-991C-455F-81C2-63DE70A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C안은 검색 근거를 대체하지 않고, 사람이 검수한 혼동 방지 정보를 필요한 경우에만 덧붙입니다.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F41DA8-C66B-4193-BE7A-118CAE88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89832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119477-7EBB-4E8A-A1B5-358AC34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C715-4BC1-4675-82C2-3685205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3205A-6ADF-472F-8A90-6C82390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한 가지 답변 구조를 모든 질문에 강제하지 않고, 질문의 관계 복잡도에 따라 C와 D를 구분했습니다.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F591C-9E14-47BA-970A-D45913C5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1E190-3CD5-4E7F-ABEE-55CA71A1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B889-D773-4F23-9342-F5D55DE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9BB50-B8A2-4BC4-B97A-CEAB76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B4EDD-2952-4ACF-8DF3-2FDEACD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질문 유형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1C0DB-A0BC-4DB6-8EA4-EF984D4E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운영안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9C61C-8B65-4F04-B593-E9054DD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2781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답변 전 중간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BC8B6-4769-4C50-B830-D1C7654E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95BB-888A-46E3-833C-2A7F76C7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선택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6C41-F4C8-410B-BC77-67B29ED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05BEA-BDB2-4632-8236-36C9D408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기본·단일 사실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60D9B-E031-4E46-938C-5BF2A36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987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5597D-39CD-459D-BE20-C805B09B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6702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C안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2931C-F874-44D0-A351-8B1ABDF5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Fact Index 보강 Evidence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E3A2E-9195-412B-84B3-A51BC33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479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58517-00C1-479F-90EE-C5DD9C40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검수된 혼동 규칙을 적용하면서 빠르게 답변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6D0CB-36F5-4DD9-9E95-284AAA37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0AA7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590D9-B7E2-4CC6-BC03-684ABAB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복합질문 · 같은 업무 안의 조건·절차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10859-907C-4531-A07D-99583E6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052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2F982-818F-4456-AD4F-CCA252A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6237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C안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E20E8-D328-4CA1-8394-11BF3753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Fact Index 보강 Evidence Pack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69F33-029E-44F4-BF17-FA4CDEB7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43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53C8C-E574-475F-9E3B-AD5E1A6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필수 조건·예외를 근거와 함께 유지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7F4BA-C5C3-4F1D-869E-6E21F0D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58C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8FD89-3F51-4C0B-A4AB-B42AE00B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서로 다른 업무를 비교하는 질문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422D7-0A3B-4DDD-B94B-3798F5F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0057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0F047-3D9E-4DF0-B559-26C95A12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5772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D안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8B700-514A-4A54-9D77-3F6D29C0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LLM Answer Skeleton → 기본 답변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D70CF7-8B79-42E4-8611-A994A00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386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2회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FBE1C-C7A5-42AB-8B3C-924F025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LLM이 업무별 Claim·근거를 분리해 비교 구조를 구성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AF580C-18B8-44F4-8DD8-7495230E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0858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A4519-991A-4A97-9024-AD85DD7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선정  |  B안은 비교 기준선으로 유지 · C안은 기본 답변안 · D안은 서로 다른 업무의 조건·절차를 비교하는 질문에만 선택 적용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D11EAE-3ABA-4F50-8FC5-A9CF87FF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rPr>
              <a:t>D안은 Basic Evidence Pack을 선행하지 않고, LLM이 원본 Top-5에서 Skeleton을 생성해 그 효과를 분리 평가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2CD3D8-B7E5-4702-8425-0B7D3A4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7894AE-803B-48DE-A444-8573159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71947F-ADE9-44F5-A4B4-DAA9892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시스템: C·D 적용 기준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7B349B-FF7A-46B4-B39E-19831BE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한 가지 답변 구조를 모든 질문에 강제하지 않고, 질문의 관계 복잡도에 따라 C와 D를 구분했습니다.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9192E3-55A1-4E92-BFDB-8BF7B69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7A8D7-EE56-4076-A48C-6419076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5C2315-0691-4671-B5A1-EAA3437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시스템: C·D 적용 기준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5121FF-4078-4926-A4DB-001B62C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한 가지 답변 구조를 모든 질문에 강제하지 않고, 질문의 관계 복잡도에 따라 C와 D를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8848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F7F2A-FF03-448D-A461-43AA9305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944B-A606-4CAC-BBAD-7734776C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90343-A984-4D17-AD52-D9E1AD1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사용자에게는 결론과 신청 행동을 먼저 보여주고, 판단 근거는 저장된 데이터로 다시 확인할 수 있게 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93B59-37EB-4A93-BB8E-71C2D5E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83B72-38FB-45E3-92A0-9EEA0196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E2544-1925-4279-B89B-DAD9F3F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F063-72B7-4E7D-B120-EF02BC5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4438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FD2D0-246C-4779-9FA2-D53BD9A6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57425"/>
            <a:ext cx="37909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551EC-2D40-4502-B7F0-3677FF0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1285875" cy="34766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F8325-2A98-4EE8-830E-B46DFE92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7170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35A74-A5BE-46DF-98F2-7C300E4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288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근거 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987E5-8E18-4998-A3BB-0034799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새 LLM</a:t>
            </a:r>
          </a:p>
          <a:p xmlns:a="http://schemas.openxmlformats.org/drawingml/2006/main">
            <a:pPr algn="ctr">
              <a:def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호출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7FEAA-9F94-434C-BC2A-17B6C04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97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71299-8EAB-4D71-BAE8-1F3A337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990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사용 청크</a:t>
            </a:r>
          </a:p>
          <a:p xmlns:a="http://schemas.openxmlformats.org/drawingml/2006/main">
            <a:pPr algn="ctr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핵심 판단</a:t>
            </a:r>
          </a:p>
          <a:p xmlns:a="http://schemas.openxmlformats.org/drawingml/2006/main">
            <a:pPr algn="ctr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Fact Index</a:t>
            </a:r>
          </a:p>
          <a:p xmlns:a="http://schemas.openxmlformats.org/drawingml/2006/main">
            <a:pPr algn="ctr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누락 정보</a:t>
            </a:r>
          </a:p>
          <a:p xmlns:a="http://schemas.openxmlformats.org/drawingml/2006/main">
            <a:pPr algn="ctr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공식 출처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A593F-4D44-450C-98F6-111823E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77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50BBE-327C-4432-969A-18DE3A4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67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질의 캐시  |  검증된 정형 질문만 재사용 · Cache HIT는 LLM 토큰 0 · 실제 응답시간과 절감량은 운영 로그로 분리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D05DC-17C0-48A8-BA9E-7D04E7C9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5A143-F4BD-4884-9524-811B8C4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04 ANSWER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DF010-5085-4F46-9EB1-67C1D9F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답변 시스템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7538C-C17E-4C01-88B2-392840B0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사용자에게는 결론과 신청 행동을 먼저 보여주고, 판단 근거는 저장된 데이터로 다시 확인할 수 있게 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D3F70-9C12-4542-B423-92C9525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3b20ee11b46f1"/>
          <a:srcRect xmlns:a="http://schemas.openxmlformats.org/drawingml/2006/main" l="8750" t="0" r="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2295525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93f77e6114b8c"/>
          <a:stretch xmlns:a="http://schemas.openxmlformats.org/drawingml/2006/main"/>
        </p:blipFill>
        <p:spPr>
          <a:xfrm xmlns:a="http://schemas.openxmlformats.org/drawingml/2006/main">
            <a:off x="1297953" y="1952625"/>
            <a:ext cx="3061943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</p:spTree>
    <p:extLst>
      <p:ext uri="{BB962C8B-B14F-4D97-AF65-F5344CB8AC3E}">
        <p14:creationId xmlns:p14="http://schemas.microsoft.com/office/powerpoint/2010/main" val="5371210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54F57-CFAA-4144-8B34-561FE23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7C987-75A6-470C-89D0-DDCEF94E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72F4C-FDBE-4D4C-9DED-A61E979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 현황과 반영 흐름을 한 화면에 배치해 현재 상태와 다음 행동을 함께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A8FBC-FBA4-4D39-B706-C0EFA141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7B511-9924-4634-AD1F-5745707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C91AC-7A7A-4DEB-8FBF-91F747A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3931B-5E4F-47CB-93F1-E743997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DA11F-95B8-466F-A4A8-F0D775E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초안 → 비교 → 승인 → Rollback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03c600f2d423b"/>
          <a:stretch xmlns:a="http://schemas.openxmlformats.org/drawingml/2006/main"/>
        </p:blipFill>
        <p:spPr>
          <a:xfrm xmlns:a="http://schemas.openxmlformats.org/drawingml/2006/main">
            <a:off x="647700" y="1954755"/>
            <a:ext cx="10896600" cy="3843840"/>
          </a:xfrm>
          <a:prstGeom xmlns:a="http://schemas.openxmlformats.org/drawingml/2006/main" prst="roundRect">
            <a:avLst>
              <a:gd name="adj" fmla="val 1826"/>
            </a:avLst>
          </a:prstGeom>
        </p:spPr>
      </p:pic>
    </p:spTree>
    <p:extLst>
      <p:ext uri="{BB962C8B-B14F-4D97-AF65-F5344CB8AC3E}">
        <p14:creationId xmlns:p14="http://schemas.microsoft.com/office/powerpoint/2010/main" val="8569016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3256A-4DDF-40E3-AEBE-49CC258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5143F-331D-4A26-AF73-BBA461AB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4D3ED-ACAD-4C0D-8E93-85B0512D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운영자가 코드 없이도 변경을 이해하고, 검증하고, 되돌릴 수 있어야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A702B-2F79-46D3-8E70-85D770C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CB28-F820-432E-9DC0-429541D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C6AA8-228D-407B-B87E-CCE52AF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2F6A4-BAD4-48AC-942F-5D3E52E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40F68-CFE1-4FF0-9D42-5BED876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DADD3-653B-4394-A4E5-F542B1EF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운영 서버에서 코드 직접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AFC40-773B-439D-A032-F516EE47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배포 위험과 책임 범위 확대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0D939-8295-4862-A33B-4C765F5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190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solidFill>
              <a:srgbClr val="D948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9EBDC-233E-40D7-B4A3-9466EFB5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설계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BE8D0-460C-4AEE-955B-4101D150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717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코드는 로컬·Git에서 관리</a:t>
            </a:r>
          </a:p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관리자 화면에는 검증된 조정 항목만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CD7D6-373B-411E-8BC7-D6638615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482EE-92E4-4ADC-80FB-64B949FA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A5978-1262-47A4-AB62-E8ECA4B5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BEEAE-3026-43C0-9F8B-0CC1CD5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여러 화면에서 값 각각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DD384-CDE6-4D71-A148-0713D11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설정 불일치와 재현성 저하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B87A8-7960-4D24-86C7-2B1E0229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190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7772F-DCD0-4B6F-8178-7D345BBA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설계 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CCBE1-1B4F-420B-A467-2217B1A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이름 붙인 파라미터 설정 저장</a:t>
            </a:r>
          </a:p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모든 비교 화면에서 같은 설정 호출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B6AE8-5809-40BD-AC0D-0BB846C8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775C1-B2AD-46F6-AC02-BC7282D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74B7E-C673-4E8F-B077-D00DA76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1D62E-8E6F-4AE6-B518-F6757D5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실험값 즉시 반영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06A1C-B8F0-43CC-BB35-ADC40981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9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사용자 답변 품질 변동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0F106-5711-4FC9-9D67-258D031E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90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A77B"/>
          </a:solidFill>
          <a:ln xmlns:a="http://schemas.openxmlformats.org/drawingml/2006/main" w="0">
            <a:solidFill>
              <a:srgbClr val="0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4B35B4-36A4-4767-B5FD-442E56A0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설계 결정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5185E-66F3-4298-8BFA-B93E27F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529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초안 → 평가 → 답변 비교 → 승인 → 롤백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86515-5FE0-4CE5-A728-5FE887A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71E296-0F0A-4F92-B52C-1B042A9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E485DC-A75B-463E-AA74-40FC8E34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B68C12-CBF4-40A5-84DE-FE709CC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871B2-5FBE-4EBE-AD43-E43D8190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운영자가 코드 없이도 변경을 이해하고, 검증하고, 되돌릴 수 있어야 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2097BF-4F3D-4472-9F5D-83539A9D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969696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CA272-465C-4318-9238-A2A6276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D0101-9785-4BA1-B279-AB813A0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1C51B-861C-41E8-9A2D-FDCAEBC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파라미터 변경은 초안에서 시작해 평가와 답변 비교를 거친 뒤에만 반영합니다.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47DC4-D625-4959-9955-0662E57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CA618-23B3-4EC3-A501-489D400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3F0C-97B6-4F0A-9096-B295A9D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8DFD3-18DE-481E-B38C-EB140B2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FF18-1121-4D6C-A97B-A4818DD1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7D0D6-B57C-4BCC-A389-A8B6CB3F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C18D6-2936-4064-B742-C1CEF51A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변경 가능한 블록에서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파라미터 초안 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508AE-9DEF-4477-BA34-788558B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04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32F77-066B-4F8B-8DD3-E712078D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40FC2-F726-48DA-99DC-533E8B9E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241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C027B-F7EC-429E-A95F-DDECB8E1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43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설정 창고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85BD8-A57B-45E3-A9F6-795B9A2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004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이름을 붙여 저장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같은 설정 재사용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22C89-9BCA-4A1D-9E82-D11EC856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04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1D00D-7960-4CB1-A4C6-18BFB2C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14625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4DD13-0B56-4AD0-8545-636F2D91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0D8EC-39CC-46DE-9B7E-BCDD7019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검색·답변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18DAF-B8B8-4075-8D34-8EB776C1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테스트셋과 실제 질문으로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현재안·개선안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5FEE3-4486-4AF7-BF75-A904E4A9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04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C095C-AAC7-4108-8243-53986D2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133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26062-4026-43CF-8EF6-8881368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DFF5C-14E1-411D-9C52-21FE3B21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43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반영 센터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FCC42-B8D4-4A0F-927A-4A07282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004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승인 후 적용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이력 보관·롤백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5C9D5-6E52-4F62-81F5-0D8A2A4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CF17A-5AE2-4199-AD9D-93B792F8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43525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화면에서는 코드 자체를 수정하지 않는다. 검증 가능한 값만 초안으로 관리한다.</a:t>
            </a:r>
          </a:p>
        </p:txBody>
      </p:sp>
    </p:spTree>
    <p:extLst>
      <p:ext uri="{BB962C8B-B14F-4D97-AF65-F5344CB8AC3E}">
        <p14:creationId xmlns:p14="http://schemas.microsoft.com/office/powerpoint/2010/main" val="181159918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69CBB-CC16-48DD-AB34-B82C6E97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B4AA-4EAC-4F91-BE60-56EB2A1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64700-32D6-4C4F-8253-0949DFEE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캐시 응답과 LLM 생성 응답을 나눠 기록해, 속도와 비용을 정확히 해석합니다.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F7F3-310A-401E-9B61-358EC24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014EE-DAE8-4A0F-97A3-36002C39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FCC2-7845-4329-8930-17D7C3E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31CDF-4125-4B79-BBCB-C4F5C45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4E284-D3F9-4CAD-B0FE-A5DB4D8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E137E-BFD0-4FD1-A1F8-01ED5D8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CACHE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B7FF7-96A6-45D8-A99C-C679F196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LLM 토큰 0</a:t>
            </a:r>
          </a:p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캐시 조회 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CEC86-B62D-4852-9B53-D68423F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CE08F-4BBA-4342-B74C-6D58750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최초 생성 대비 절감 시간·토큰은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별도 정보로 보관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9F10C-41E4-4BD7-9939-3FDD6647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812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30B5D-1B1F-4A5D-9021-66F7877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289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C54CD-824A-454D-9A82-93A22E5B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CACHE MISS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6D16E-85ED-4450-88AC-9D57EE9A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실제 LLM 토큰</a:t>
            </a:r>
          </a:p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실제 생성 응답시간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402E1-1BC2-483C-A4D7-4C6D071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24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F9E45-A55B-4525-8172-E1FFA57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비용·성능 원인 분석의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기준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F20F7-D1C0-410B-8CC4-9D173D3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D922C-B3B6-4DF7-BF5E-823D302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B408F-B49D-4325-BE2D-8A1E59E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모니터링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78F8A-085F-4691-BA9B-F1262057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P95 응답시간</a:t>
            </a:r>
          </a:p>
          <a:p xmlns:a="http://schemas.openxmlformats.org/drawingml/2006/main">
            <a:pPr algn="l">
              <a:def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질의량·업무 분포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E18C1-DADF-4BD9-A955-D2878EE0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8BFAC-64B3-491F-B677-2210859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시간대·업무별 병목을</a:t>
            </a:r>
          </a:p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 개선 대상으로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83556-4195-4325-AAF6-97A41CC3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트러블슈팅  |  캐시 HIT에도 최초 생성 시간이 표시되던 문제를 요청별 실제 응답시간 기준으로 바로잡았습니다.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0053E-6F9A-45C8-A055-874E3506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EF891-FAF8-43AC-A345-D2255684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6ED3F-B029-4D57-BB46-577A9034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EC7F9-1D7E-48B3-9452-E02974D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캐시 응답과 LLM 생성 응답을 나눠 기록해, 속도와 비용을 정확히 해석합니다.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AE697-5691-43A2-BB4A-F2D3BF2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973061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E9986-5BD6-4EE1-9F62-DCC3714A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03131-83FB-4D8D-9470-37F6778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7225F-6477-4144-A21B-B01B1B6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운영 현황에서는 추세를 보고, 챗봇 로그에서는 개별 요청의 실행 기록을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F6266-107B-4173-B21E-E22BF838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0FCD-0F12-4DD3-8E06-F73E372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FE339-6DEA-4233-A258-C6B2E623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F5F68-E56B-4D89-8D3D-95748DE1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2266950" cy="240982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EFE56-847B-48BE-A2FA-148C80DA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24050"/>
            <a:ext cx="7886700" cy="3933825"/>
          </a:xfrm>
          <a:prstGeom xmlns:a="http://schemas.openxmlformats.org/drawingml/2006/main" prst="roundRect">
            <a:avLst>
              <a:gd name="adj" fmla="val 19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E0AF7-31D9-4CB3-8050-8EFB85B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6B480-BA77-4803-92AD-7840756B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운영 현황 · 챗봇 로그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4474B-8AB3-49C7-BBA5-745A064C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왼쪽 메뉴에서 전체 현황과 요청별 로그를 오가며 확인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877230f94665"/>
          <a:stretch xmlns:a="http://schemas.openxmlformats.org/drawingml/2006/main"/>
        </p:blipFill>
        <p:spPr>
          <a:xfrm xmlns:a="http://schemas.openxmlformats.org/drawingml/2006/main">
            <a:off x="685800" y="2670073"/>
            <a:ext cx="2190750" cy="166073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1beadc4024320"/>
          <a:stretch xmlns:a="http://schemas.openxmlformats.org/drawingml/2006/main"/>
        </p:blipFill>
        <p:spPr>
          <a:xfrm xmlns:a="http://schemas.openxmlformats.org/drawingml/2006/main">
            <a:off x="3564280" y="1962150"/>
            <a:ext cx="7349441" cy="3857625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</p:spTree>
    <p:extLst>
      <p:ext uri="{BB962C8B-B14F-4D97-AF65-F5344CB8AC3E}">
        <p14:creationId xmlns:p14="http://schemas.microsoft.com/office/powerpoint/2010/main" val="103199491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D3DCF-8BEB-4B43-BF93-5F49CB0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EA4A5-CA40-407A-AFB8-0496B3D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8A771-4FC7-4F18-8C24-9E875C0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요청 단위의 캐시 HIT/MISS·토큰·응답시간을 기록해 운영 지표의 근거를 남깁니다.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4F12D-96C0-4131-9043-3148894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1D3BD-31ED-4A59-A685-5012934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11B5F-AB1E-4A89-A67B-319F2A3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7E4D8-2FBC-46B4-B995-F66E255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71650"/>
            <a:ext cx="112395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596B9-7A94-42A8-B646-9D7838EB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4572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5A077-43DD-451C-B781-BABF85D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434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CACHE HIT: 이번 요청에서 LLM 토큰 0 · 캐시 조회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0DC38-95F4-4117-8FDF-C999615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81700"/>
            <a:ext cx="3905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0D658-BC80-4931-A091-B2509EE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38850"/>
            <a:ext cx="3676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CACHE MISS: 실제 LLM 토큰 · 실제 응답시간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9D291-86E6-4C9A-A019-0DE87B93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A5E59-C598-4B6B-A492-310E3DAF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01BBE-46BF-4023-B093-98DE545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45D4C-1B4E-4EDC-9729-98DD02D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요청 단위의 캐시 HIT/MISS·토큰·응답시간을 기록해 운영 지표의 근거를 남깁니다.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98BEC-3EB3-4A8E-904B-E50E7D6E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CB299-FA6C-42C5-B592-31D0C051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3C649-A25B-48D7-8A74-64D8D57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C9E05-BBCF-49F0-B30E-242B8C1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요청 단위의 캐시 HIT/MISS·토큰·응답시간을 기록해 운영 지표의 근거를 남깁니다.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34a63259d435f"/>
          <a:stretch xmlns:a="http://schemas.openxmlformats.org/drawingml/2006/main"/>
        </p:blipFill>
        <p:spPr>
          <a:xfrm xmlns:a="http://schemas.openxmlformats.org/drawingml/2006/main">
            <a:off x="1861539" y="1809750"/>
            <a:ext cx="8468922" cy="3981450"/>
          </a:xfrm>
          <a:prstGeom xmlns:a="http://schemas.openxmlformats.org/drawingml/2006/main" prst="roundRect">
            <a:avLst>
              <a:gd name="adj" fmla="val 1914"/>
            </a:avLst>
          </a:prstGeom>
        </p:spPr>
      </p:pic>
    </p:spTree>
    <p:extLst>
      <p:ext uri="{BB962C8B-B14F-4D97-AF65-F5344CB8AC3E}">
        <p14:creationId xmlns:p14="http://schemas.microsoft.com/office/powerpoint/2010/main" val="190263630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A722D-74F4-407C-87F4-954A2F4D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D4A00-3AB8-466A-A600-D5D70EE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29870-4F10-4572-ACA8-BC85B35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 비중·후보 깊이·최소 관련성 점수·Parent-Child를 하나의 이름 있는 설정으로 관리합니다.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A1031-4D98-42F4-9EF1-286BFAB3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289C4-E9FA-433A-A3A8-7FB53DE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58C26-461A-4E50-910E-202E33D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09F99-32FC-4F38-88D1-2180D99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14525"/>
            <a:ext cx="693420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60CEC-C77E-4756-8BDB-EFED854F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238500" cy="3524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04886-8CF1-41C9-B60F-BB101FE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00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54265-6277-47D5-969A-C67B4D5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771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빠른 수정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296B8-865C-4A8B-8F1A-6A034DC9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저장 전, 한 번에</a:t>
            </a:r>
          </a:p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값을 조정합니다.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CF97E-48E4-4432-AA4F-1E378EDA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E9732-B986-4A4B-A624-63DD3E02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747F5-F2EF-4FE2-9DFD-6D989D8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9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키보드 이동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4498C-A875-434D-B339-E62BFD8B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숫자를 연속 입력해 빠르게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30E29-B760-4839-9CFB-A6FF076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F8E67-A43F-4735-BD17-54BFB5A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가중치 자동 보정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741C4-DBE3-471D-9A2D-052F0AB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Dense·BM25 비중 합계는 1로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D24BC-DED9-4E69-A7EE-34D05646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58C0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142CD-EACE-4B05-9D58-4575320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이름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CECAE-A00D-47BE-A420-A210142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054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비교·답변 테스트·반영에서 같은 설정 재사용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73F9D-88A6-45EB-B089-731AFF0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553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584D7-E449-419C-A185-32A39F0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86475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 흐름  |  이름 있는 파라미터 저장 → 테스트셋 검색 평가 → 최종 답변 비교 → 반영 센터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80A7A-1ABC-4CDF-8D72-C7163600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8DDC9-1AD6-4C07-BF9A-F34621D0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8398D-54BC-412C-9114-D6BA9B24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D4D64-6A06-4D2A-8245-FAF4799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검색 비중·후보 깊이·최소 관련성 점수·Parent-Child를 하나의 이름 있는 설정으로 관리합니다.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E820D-BC8C-4EEF-BCC4-6330165A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0ad9dc1e24fea"/>
          <a:stretch xmlns:a="http://schemas.openxmlformats.org/drawingml/2006/main"/>
        </p:blipFill>
        <p:spPr>
          <a:xfrm xmlns:a="http://schemas.openxmlformats.org/drawingml/2006/main">
            <a:off x="734456" y="1952625"/>
            <a:ext cx="6455887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</p:spTree>
    <p:extLst>
      <p:ext uri="{BB962C8B-B14F-4D97-AF65-F5344CB8AC3E}">
        <p14:creationId xmlns:p14="http://schemas.microsoft.com/office/powerpoint/2010/main" val="21069228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8822-32C3-44A0-AB49-CE3172F5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833A4-B7C4-4CA5-B53A-B67371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13519-5A86-4933-A443-D6610492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같은 질문을 현재안과 개선안으로 실행해 최종 사용자 답변까지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3C4A-E48C-4631-A1F8-C953B510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69C47-021C-4CAB-A0AD-3990F070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30B73-448F-4DF5-8E7E-49733B3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515B7-A403-4C16-B663-01F4D07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11430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fcbca31b945ff"/>
          <a:stretch xmlns:a="http://schemas.openxmlformats.org/drawingml/2006/main"/>
        </p:blipFill>
        <p:spPr>
          <a:xfrm xmlns:a="http://schemas.openxmlformats.org/drawingml/2006/main">
            <a:off x="2342444" y="1762125"/>
            <a:ext cx="7507111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176728186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593CE-2DB3-4B69-BB68-921AAF7F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05 ADMIN UI &amp;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A06E1-30A8-4480-A727-20C9DE7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4243A"/>
                </a:solidFill>
                <a:latin typeface="Malgun Gothic"/>
                <a:ea typeface="Malgun Gothic"/>
                <a:cs typeface="Malgun Gothic"/>
              </a:rPr>
              <a:t>관리자 UI 및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1452D-F431-49D0-98A8-FEF600EF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144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프롬프트·파라미터·청크 변경은 반영 전 검토하고, 승인 이후 이력과 함께 운영합니다.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3397A-AA93-4D05-B749-353544A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C2190-CBA6-41B0-8970-4C1A1F4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KDIC 금융정보 RAG 챗봇 · 6조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727D9-9A54-4196-94B0-CBE4D8C4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2677D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8CD88-8733-4B6F-8B57-99AC0C3D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04975"/>
            <a:ext cx="56007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245EB-52D1-4D95-9AFA-0E67A3C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04975"/>
            <a:ext cx="56007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71A9-90F7-49E1-819E-4FF2D681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29325"/>
            <a:ext cx="3333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BC399-8276-40FB-BCB0-F73B5592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485F"/>
                </a:solidFill>
                <a:latin typeface="Malgun Gothic"/>
                <a:ea typeface="Malgun Gothic"/>
                <a:cs typeface="Malgun Gothic"/>
              </a:rPr>
              <a:t>가드레일: 개인정보·민감정보·금칙어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471B4-37F5-4E7E-8238-C63FF21B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29325"/>
            <a:ext cx="4762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C4382-1BE4-4953-B100-5CF85A3C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086475"/>
            <a:ext cx="453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API 키: 서버 비밀로 관리, 관리자 화면에는 노출하지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6B1C2-9C4F-4902-B05F-E1465113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029325"/>
            <a:ext cx="276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585FC-2A75-4145-8071-3501741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086475"/>
            <a:ext cx="2533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AA77B"/>
                </a:solidFill>
                <a:latin typeface="Malgun Gothic"/>
                <a:ea typeface="Malgun Gothic"/>
                <a:cs typeface="Malgun Gothic"/>
              </a:rPr>
              <a:t>청크 관리: JSON/JSONL 초안 추가 → 승인 후 반영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246b41dd84781"/>
          <a:stretch xmlns:a="http://schemas.openxmlformats.org/drawingml/2006/main"/>
        </p:blipFill>
        <p:spPr>
          <a:xfrm xmlns:a="http://schemas.openxmlformats.org/drawingml/2006/main">
            <a:off x="381000" y="2376673"/>
            <a:ext cx="5524500" cy="2733304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a82f8757a41f3"/>
          <a:stretch xmlns:a="http://schemas.openxmlformats.org/drawingml/2006/main"/>
        </p:blipFill>
        <p:spPr>
          <a:xfrm xmlns:a="http://schemas.openxmlformats.org/drawingml/2006/main">
            <a:off x="6286500" y="2034234"/>
            <a:ext cx="5524500" cy="3418183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1290908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11D79-129E-4A1D-919E-D3B6C72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D8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A7D8F5"/>
                </a:solidFill>
                <a:latin typeface="Malgun Gothic"/>
                <a:ea typeface="Malgun Gothic"/>
                <a:cs typeface="Malgun Gothic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D0D6C-2FCC-4CCB-AE51-C8A77327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04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많은 시도를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가능한 원칙으로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08A8E-FDB8-463B-9821-27B8703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9E9"/>
          </a:solidFill>
          <a:ln xmlns:a="http://schemas.openxmlformats.org/drawingml/2006/main" w="0">
            <a:solidFill>
              <a:srgbClr val="5DA9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7B14C-1DCA-474B-9DD1-40AFBEB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rPr>
              <a:t>정확한 검색과 답변을 넘어</a:t>
            </a:r>
          </a:p>
          <a:p xmlns:a="http://schemas.openxmlformats.org/drawingml/2006/main">
            <a:pPr algn="l">
              <a:defRPr sz="172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6E5F2"/>
                </a:solidFill>
                <a:latin typeface="Malgun Gothic"/>
                <a:ea typeface="Malgun Gothic"/>
                <a:cs typeface="Malgun Gothic"/>
              </a:rPr>
              <a:t>검증·관찰·안전한 변경까지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996FA-01DF-4CC0-99C6-D145FBB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C3D5D"/>
          </a:solidFill>
          <a:ln xmlns:a="http://schemas.openxmlformats.org/drawingml/2006/main" w="0">
            <a:solidFill>
              <a:srgbClr val="1C3D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C990C-1EC3-4A01-B26C-BEF82971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24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315CE-1E49-4895-B23B-36F40331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8D9E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8D9E8"/>
                </a:solidFill>
                <a:latin typeface="Malgun Gothic"/>
                <a:ea typeface="Malgun Gothic"/>
                <a:cs typeface="Malgun Gothic"/>
              </a:rPr>
              <a:t>질문과 기법을 실험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F0F3B-A994-4B1A-B6B3-49A4727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05250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5DA9E9"/>
          </a:solidFill>
          <a:ln xmlns:a="http://schemas.openxmlformats.org/drawingml/2006/main" w="0">
            <a:solidFill>
              <a:srgbClr val="1C3D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4D88A-EBCD-4D1D-999C-D31D49B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24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DE4FC-46E7-4879-8634-562AAEA0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14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근거·답변을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C7505-F440-47A7-A864-16AA51C9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C3D5D"/>
          </a:solidFill>
          <a:ln xmlns:a="http://schemas.openxmlformats.org/drawingml/2006/main" w="0">
            <a:solidFill>
              <a:srgbClr val="1C3D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9DDB6-9083-4C04-98F4-B030E75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24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529FA-5F64-4F4E-AE02-96B1860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14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8D9E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8D9E8"/>
                </a:solidFill>
                <a:latin typeface="Malgun Gothic"/>
                <a:ea typeface="Malgun Gothic"/>
                <a:cs typeface="Malgun Gothic"/>
              </a:rPr>
              <a:t>승인·로그·롤백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1A803-284D-4604-A9C2-7068A051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D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7D8F5"/>
                </a:solidFill>
                <a:latin typeface="Malgun Gothic"/>
                <a:ea typeface="Malgun Gothic"/>
                <a:cs typeface="Malgun Gothic"/>
              </a:rPr>
              <a:t>6조 · 유민규(팀장) · 임도균 · 박주영</a:t>
            </a:r>
          </a:p>
        </p:txBody>
      </p:sp>
    </p:spTree>
    <p:extLst>
      <p:ext uri="{BB962C8B-B14F-4D97-AF65-F5344CB8AC3E}">
        <p14:creationId xmlns:p14="http://schemas.microsoft.com/office/powerpoint/2010/main" val="438140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2026-08-27T07:43:44.9810000Z</dcterms:created>
  <dcterms:modified xsi:type="dcterms:W3CDTF">2026-08-27T07:43:44.9810000Z</dcterms:modified>
</coreProperties>
</file>